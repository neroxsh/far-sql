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3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  <p:sldId id="260" r:id="rId9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D2F"/>
    <a:srgbClr val="F0DDD4"/>
    <a:srgbClr val="A4CF78"/>
    <a:srgbClr val="7A4DC6"/>
    <a:srgbClr val="D58336"/>
    <a:srgbClr val="666666"/>
    <a:srgbClr val="EDC49A"/>
    <a:srgbClr val="99BDE9"/>
    <a:srgbClr val="4C7BC1"/>
    <a:srgbClr val="6E98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8"/>
    <p:restoredTop sz="94664"/>
  </p:normalViewPr>
  <p:slideViewPr>
    <p:cSldViewPr snapToGrid="0">
      <p:cViewPr>
        <p:scale>
          <a:sx n="136" d="100"/>
          <a:sy n="136" d="100"/>
        </p:scale>
        <p:origin x="14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FDEA5-9AB3-F547-88DD-69C01D15791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2CB75-1F44-D84F-BDD6-39BC6D3387D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2CB75-1F44-D84F-BDD6-39BC6D3387D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2CB75-1F44-D84F-BDD6-39BC6D3387D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829215-B1ED-5549-AD1B-D0B080BA0F2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9664D-E06E-2A46-B6A4-FFC16BD452E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32.svg"/><Relationship Id="rId31" Type="http://schemas.openxmlformats.org/officeDocument/2006/relationships/image" Target="../media/image31.png"/><Relationship Id="rId30" Type="http://schemas.openxmlformats.org/officeDocument/2006/relationships/image" Target="../media/image30.sv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32.svg"/><Relationship Id="rId31" Type="http://schemas.openxmlformats.org/officeDocument/2006/relationships/image" Target="../media/image31.png"/><Relationship Id="rId30" Type="http://schemas.openxmlformats.org/officeDocument/2006/relationships/image" Target="../media/image30.sv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4" Type="http://schemas.openxmlformats.org/officeDocument/2006/relationships/notesSlide" Target="../notesSlides/notesSlide1.xml"/><Relationship Id="rId33" Type="http://schemas.openxmlformats.org/officeDocument/2006/relationships/slideLayout" Target="../slideLayouts/slideLayout13.xml"/><Relationship Id="rId32" Type="http://schemas.openxmlformats.org/officeDocument/2006/relationships/image" Target="../media/image59.svg"/><Relationship Id="rId31" Type="http://schemas.openxmlformats.org/officeDocument/2006/relationships/image" Target="../media/image58.png"/><Relationship Id="rId30" Type="http://schemas.openxmlformats.org/officeDocument/2006/relationships/image" Target="../media/image57.svg"/><Relationship Id="rId3" Type="http://schemas.openxmlformats.org/officeDocument/2006/relationships/image" Target="../media/image3.png"/><Relationship Id="rId29" Type="http://schemas.openxmlformats.org/officeDocument/2006/relationships/image" Target="../media/image56.png"/><Relationship Id="rId28" Type="http://schemas.openxmlformats.org/officeDocument/2006/relationships/image" Target="../media/image55.svg"/><Relationship Id="rId27" Type="http://schemas.openxmlformats.org/officeDocument/2006/relationships/image" Target="../media/image54.png"/><Relationship Id="rId26" Type="http://schemas.openxmlformats.org/officeDocument/2006/relationships/image" Target="../media/image53.svg"/><Relationship Id="rId25" Type="http://schemas.openxmlformats.org/officeDocument/2006/relationships/image" Target="../media/image52.png"/><Relationship Id="rId24" Type="http://schemas.openxmlformats.org/officeDocument/2006/relationships/image" Target="../media/image51.svg"/><Relationship Id="rId23" Type="http://schemas.openxmlformats.org/officeDocument/2006/relationships/image" Target="../media/image25.png"/><Relationship Id="rId22" Type="http://schemas.openxmlformats.org/officeDocument/2006/relationships/image" Target="../media/image50.svg"/><Relationship Id="rId21" Type="http://schemas.openxmlformats.org/officeDocument/2006/relationships/image" Target="../media/image23.png"/><Relationship Id="rId20" Type="http://schemas.openxmlformats.org/officeDocument/2006/relationships/image" Target="../media/image49.svg"/><Relationship Id="rId2" Type="http://schemas.openxmlformats.org/officeDocument/2006/relationships/image" Target="../media/image33.svg"/><Relationship Id="rId19" Type="http://schemas.openxmlformats.org/officeDocument/2006/relationships/image" Target="../media/image48.png"/><Relationship Id="rId18" Type="http://schemas.openxmlformats.org/officeDocument/2006/relationships/image" Target="../media/image47.svg"/><Relationship Id="rId17" Type="http://schemas.openxmlformats.org/officeDocument/2006/relationships/image" Target="../media/image46.png"/><Relationship Id="rId16" Type="http://schemas.openxmlformats.org/officeDocument/2006/relationships/image" Target="../media/image45.svg"/><Relationship Id="rId15" Type="http://schemas.openxmlformats.org/officeDocument/2006/relationships/image" Target="../media/image44.png"/><Relationship Id="rId14" Type="http://schemas.openxmlformats.org/officeDocument/2006/relationships/image" Target="../media/image43.svg"/><Relationship Id="rId13" Type="http://schemas.openxmlformats.org/officeDocument/2006/relationships/image" Target="../media/image13.png"/><Relationship Id="rId12" Type="http://schemas.openxmlformats.org/officeDocument/2006/relationships/image" Target="../media/image42.svg"/><Relationship Id="rId11" Type="http://schemas.openxmlformats.org/officeDocument/2006/relationships/image" Target="../media/image41.png"/><Relationship Id="rId10" Type="http://schemas.openxmlformats.org/officeDocument/2006/relationships/image" Target="../media/image40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65.svg"/><Relationship Id="rId7" Type="http://schemas.openxmlformats.org/officeDocument/2006/relationships/image" Target="../media/image64.png"/><Relationship Id="rId6" Type="http://schemas.openxmlformats.org/officeDocument/2006/relationships/image" Target="../media/image63.svg"/><Relationship Id="rId5" Type="http://schemas.openxmlformats.org/officeDocument/2006/relationships/image" Target="../media/image35.png"/><Relationship Id="rId4" Type="http://schemas.openxmlformats.org/officeDocument/2006/relationships/image" Target="../media/image62.svg"/><Relationship Id="rId34" Type="http://schemas.openxmlformats.org/officeDocument/2006/relationships/notesSlide" Target="../notesSlides/notesSlide2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78.svg"/><Relationship Id="rId31" Type="http://schemas.openxmlformats.org/officeDocument/2006/relationships/image" Target="../media/image58.png"/><Relationship Id="rId30" Type="http://schemas.openxmlformats.org/officeDocument/2006/relationships/image" Target="../media/image77.svg"/><Relationship Id="rId3" Type="http://schemas.openxmlformats.org/officeDocument/2006/relationships/image" Target="../media/image61.png"/><Relationship Id="rId29" Type="http://schemas.openxmlformats.org/officeDocument/2006/relationships/image" Target="../media/image56.png"/><Relationship Id="rId28" Type="http://schemas.openxmlformats.org/officeDocument/2006/relationships/image" Target="../media/image76.svg"/><Relationship Id="rId27" Type="http://schemas.openxmlformats.org/officeDocument/2006/relationships/image" Target="../media/image75.png"/><Relationship Id="rId26" Type="http://schemas.openxmlformats.org/officeDocument/2006/relationships/image" Target="../media/image74.svg"/><Relationship Id="rId25" Type="http://schemas.openxmlformats.org/officeDocument/2006/relationships/image" Target="../media/image52.png"/><Relationship Id="rId24" Type="http://schemas.openxmlformats.org/officeDocument/2006/relationships/image" Target="../media/image73.svg"/><Relationship Id="rId23" Type="http://schemas.openxmlformats.org/officeDocument/2006/relationships/image" Target="../media/image25.png"/><Relationship Id="rId22" Type="http://schemas.openxmlformats.org/officeDocument/2006/relationships/image" Target="../media/image72.svg"/><Relationship Id="rId21" Type="http://schemas.openxmlformats.org/officeDocument/2006/relationships/image" Target="../media/image23.png"/><Relationship Id="rId20" Type="http://schemas.openxmlformats.org/officeDocument/2006/relationships/image" Target="../media/image71.svg"/><Relationship Id="rId2" Type="http://schemas.openxmlformats.org/officeDocument/2006/relationships/image" Target="../media/image60.svg"/><Relationship Id="rId19" Type="http://schemas.openxmlformats.org/officeDocument/2006/relationships/image" Target="../media/image48.png"/><Relationship Id="rId18" Type="http://schemas.openxmlformats.org/officeDocument/2006/relationships/image" Target="../media/image70.svg"/><Relationship Id="rId17" Type="http://schemas.openxmlformats.org/officeDocument/2006/relationships/image" Target="../media/image46.png"/><Relationship Id="rId16" Type="http://schemas.openxmlformats.org/officeDocument/2006/relationships/image" Target="../media/image69.svg"/><Relationship Id="rId15" Type="http://schemas.openxmlformats.org/officeDocument/2006/relationships/image" Target="../media/image44.png"/><Relationship Id="rId14" Type="http://schemas.openxmlformats.org/officeDocument/2006/relationships/image" Target="../media/image68.svg"/><Relationship Id="rId13" Type="http://schemas.openxmlformats.org/officeDocument/2006/relationships/image" Target="../media/image13.png"/><Relationship Id="rId12" Type="http://schemas.openxmlformats.org/officeDocument/2006/relationships/image" Target="../media/image67.svg"/><Relationship Id="rId11" Type="http://schemas.openxmlformats.org/officeDocument/2006/relationships/image" Target="../media/image41.png"/><Relationship Id="rId10" Type="http://schemas.openxmlformats.org/officeDocument/2006/relationships/image" Target="../media/image66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图形 4"/>
          <p:cNvGrpSpPr/>
          <p:nvPr/>
        </p:nvGrpSpPr>
        <p:grpSpPr>
          <a:xfrm>
            <a:off x="465194" y="458820"/>
            <a:ext cx="11298604" cy="2455070"/>
            <a:chOff x="557793" y="712762"/>
            <a:chExt cx="11298604" cy="2455070"/>
          </a:xfrm>
        </p:grpSpPr>
        <p:sp>
          <p:nvSpPr>
            <p:cNvPr id="12" name="圆角矩形 11"/>
            <p:cNvSpPr/>
            <p:nvPr/>
          </p:nvSpPr>
          <p:spPr>
            <a:xfrm>
              <a:off x="557793" y="712762"/>
              <a:ext cx="11298604" cy="2455070"/>
            </a:xfrm>
            <a:prstGeom prst="roundRect">
              <a:avLst>
                <a:gd name="adj" fmla="val 3763"/>
              </a:avLst>
            </a:prstGeom>
            <a:solidFill>
              <a:srgbClr val="FFFFFF"/>
            </a:solidFill>
            <a:ln w="13194" cap="flat">
              <a:solidFill>
                <a:srgbClr val="BCA6EF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29517" y="755347"/>
              <a:ext cx="3332964" cy="246221"/>
            </a:xfrm>
            <a:prstGeom prst="rect">
              <a:avLst/>
            </a:prstGeom>
            <a:noFill/>
            <a:ln w="13194">
              <a:noFill/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Stage I. Offline Construction, Profiling and SFT Training</a:t>
              </a:r>
              <a:endParaRPr lang="zh-CN" altLang="en-US" sz="1000" b="1" spc="0" baseline="0" dirty="0">
                <a:solidFill>
                  <a:srgbClr val="6F35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16" name="图形 4"/>
          <p:cNvGrpSpPr/>
          <p:nvPr/>
        </p:nvGrpSpPr>
        <p:grpSpPr>
          <a:xfrm>
            <a:off x="583987" y="778148"/>
            <a:ext cx="8302362" cy="1979895"/>
            <a:chOff x="676587" y="1055944"/>
            <a:chExt cx="8302362" cy="1979895"/>
          </a:xfrm>
        </p:grpSpPr>
        <p:sp>
          <p:nvSpPr>
            <p:cNvPr id="17" name="圆角矩形 16"/>
            <p:cNvSpPr/>
            <p:nvPr/>
          </p:nvSpPr>
          <p:spPr>
            <a:xfrm>
              <a:off x="676587" y="1055944"/>
              <a:ext cx="8302362" cy="1979895"/>
            </a:xfrm>
            <a:prstGeom prst="roundRect">
              <a:avLst>
                <a:gd name="adj" fmla="val 4666"/>
              </a:avLst>
            </a:prstGeom>
            <a:solidFill>
              <a:srgbClr val="FCF8FF"/>
            </a:solidFill>
            <a:ln w="13194" cap="flat">
              <a:solidFill>
                <a:srgbClr val="C9B1F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782181" y="1115341"/>
              <a:ext cx="8052717" cy="250786"/>
            </a:xfrm>
            <a:prstGeom prst="roundRect">
              <a:avLst>
                <a:gd name="adj" fmla="val 26315"/>
              </a:avLst>
            </a:prstGeom>
            <a:solidFill>
              <a:srgbClr val="E9DBFF"/>
            </a:solidFill>
            <a:ln w="13194" cap="flat">
              <a:solidFill>
                <a:srgbClr val="C9B1F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9" name="椭圆 18"/>
            <p:cNvSpPr/>
            <p:nvPr/>
          </p:nvSpPr>
          <p:spPr>
            <a:xfrm>
              <a:off x="840849" y="1125735"/>
              <a:ext cx="224388" cy="224388"/>
            </a:xfrm>
            <a:prstGeom prst="ellipse">
              <a:avLst/>
            </a:prstGeom>
            <a:solidFill>
              <a:srgbClr val="7A4CC6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18782" y="1106234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A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57826" y="1117647"/>
              <a:ext cx="77615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Training Data Construction and Distillation</a:t>
              </a:r>
              <a:endParaRPr lang="zh-CN" altLang="en-US" sz="1000" b="1" spc="0" baseline="0" dirty="0">
                <a:solidFill>
                  <a:srgbClr val="6F35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grpSp>
          <p:nvGrpSpPr>
            <p:cNvPr id="22" name="图形 4"/>
            <p:cNvGrpSpPr/>
            <p:nvPr/>
          </p:nvGrpSpPr>
          <p:grpSpPr>
            <a:xfrm>
              <a:off x="795381" y="1418924"/>
              <a:ext cx="1403925" cy="1418924"/>
              <a:chOff x="795381" y="1418924"/>
              <a:chExt cx="1403925" cy="1418924"/>
            </a:xfrm>
          </p:grpSpPr>
          <p:sp>
            <p:nvSpPr>
              <p:cNvPr id="23" name="圆角矩形 22"/>
              <p:cNvSpPr/>
              <p:nvPr/>
            </p:nvSpPr>
            <p:spPr>
              <a:xfrm>
                <a:off x="795381" y="1418924"/>
                <a:ext cx="1385926" cy="1418924"/>
              </a:xfrm>
              <a:prstGeom prst="roundRect">
                <a:avLst>
                  <a:gd name="adj" fmla="val 6666"/>
                </a:avLst>
              </a:prstGeom>
              <a:solidFill>
                <a:srgbClr val="FFFFFF"/>
              </a:solidFill>
              <a:ln w="13194" cap="flat">
                <a:solidFill>
                  <a:srgbClr val="DCCAF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946189" y="1425047"/>
                <a:ext cx="12531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1. Training</a:t>
                </a:r>
                <a:r>
                  <a:rPr lang="zh-CN" altLang="en-US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Pair</a:t>
                </a:r>
                <a:r>
                  <a:rPr lang="zh-CN" altLang="en-US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endParaRPr lang="en-US" altLang="zh-CN" sz="900" b="1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Construction</a:t>
                </a:r>
                <a:endParaRPr lang="zh-CN" altLang="en-US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900975" y="1821503"/>
                <a:ext cx="1174738" cy="343181"/>
              </a:xfrm>
              <a:prstGeom prst="roundRect">
                <a:avLst>
                  <a:gd name="adj" fmla="val 19230"/>
                </a:avLst>
              </a:prstGeom>
              <a:solidFill>
                <a:srgbClr val="FBF7FF"/>
              </a:solidFill>
              <a:ln w="10555" cap="flat">
                <a:solidFill>
                  <a:srgbClr val="DCCAF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/>
              </a:p>
            </p:txBody>
          </p:sp>
          <p:grpSp>
            <p:nvGrpSpPr>
              <p:cNvPr id="26" name="图形 4"/>
              <p:cNvGrpSpPr/>
              <p:nvPr/>
            </p:nvGrpSpPr>
            <p:grpSpPr>
              <a:xfrm>
                <a:off x="979115" y="1906243"/>
                <a:ext cx="294060" cy="194406"/>
                <a:chOff x="979115" y="1906243"/>
                <a:chExt cx="294060" cy="194406"/>
              </a:xfrm>
              <a:solidFill>
                <a:srgbClr val="000000"/>
              </a:solidFill>
            </p:grpSpPr>
            <p:sp>
              <p:nvSpPr>
                <p:cNvPr id="27" name="任意形状 26"/>
                <p:cNvSpPr/>
                <p:nvPr/>
              </p:nvSpPr>
              <p:spPr>
                <a:xfrm>
                  <a:off x="979115" y="1906243"/>
                  <a:ext cx="126713" cy="152055"/>
                </a:xfrm>
                <a:custGeom>
                  <a:avLst/>
                  <a:gdLst>
                    <a:gd name="csX0" fmla="*/ 19076 w 126713"/>
                    <a:gd name="csY0" fmla="*/ 268 h 152055"/>
                    <a:gd name="csX1" fmla="*/ 91937 w 126713"/>
                    <a:gd name="csY1" fmla="*/ 268 h 152055"/>
                    <a:gd name="csX2" fmla="*/ 126783 w 126713"/>
                    <a:gd name="csY2" fmla="*/ 35115 h 152055"/>
                    <a:gd name="csX3" fmla="*/ 126783 w 126713"/>
                    <a:gd name="csY3" fmla="*/ 133317 h 152055"/>
                    <a:gd name="csX4" fmla="*/ 107776 w 126713"/>
                    <a:gd name="csY4" fmla="*/ 152324 h 152055"/>
                    <a:gd name="csX5" fmla="*/ 19076 w 126713"/>
                    <a:gd name="csY5" fmla="*/ 152324 h 152055"/>
                    <a:gd name="csX6" fmla="*/ 69 w 126713"/>
                    <a:gd name="csY6" fmla="*/ 133317 h 152055"/>
                    <a:gd name="csX7" fmla="*/ 69 w 126713"/>
                    <a:gd name="csY7" fmla="*/ 19275 h 152055"/>
                    <a:gd name="csX8" fmla="*/ 19076 w 126713"/>
                    <a:gd name="csY8" fmla="*/ 268 h 1520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26713" h="152055">
                      <a:moveTo>
                        <a:pt x="19076" y="268"/>
                      </a:moveTo>
                      <a:lnTo>
                        <a:pt x="91937" y="268"/>
                      </a:lnTo>
                      <a:lnTo>
                        <a:pt x="126783" y="35115"/>
                      </a:lnTo>
                      <a:lnTo>
                        <a:pt x="126783" y="133317"/>
                      </a:lnTo>
                      <a:cubicBezTo>
                        <a:pt x="126783" y="143815"/>
                        <a:pt x="118273" y="152324"/>
                        <a:pt x="107776" y="152324"/>
                      </a:cubicBezTo>
                      <a:lnTo>
                        <a:pt x="19076" y="152324"/>
                      </a:lnTo>
                      <a:cubicBezTo>
                        <a:pt x="8579" y="152324"/>
                        <a:pt x="69" y="143815"/>
                        <a:pt x="69" y="133317"/>
                      </a:cubicBezTo>
                      <a:lnTo>
                        <a:pt x="69" y="19275"/>
                      </a:lnTo>
                      <a:cubicBezTo>
                        <a:pt x="69" y="8778"/>
                        <a:pt x="8579" y="268"/>
                        <a:pt x="19076" y="268"/>
                      </a:cubicBezTo>
                      <a:close/>
                    </a:path>
                  </a:pathLst>
                </a:custGeom>
                <a:noFill/>
                <a:ln w="9500" cap="flat">
                  <a:solidFill>
                    <a:srgbClr val="6E33C7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28" name="任意形状 27"/>
                <p:cNvSpPr/>
                <p:nvPr/>
              </p:nvSpPr>
              <p:spPr>
                <a:xfrm>
                  <a:off x="1070982" y="1906243"/>
                  <a:ext cx="34846" cy="34846"/>
                </a:xfrm>
                <a:custGeom>
                  <a:avLst/>
                  <a:gdLst>
                    <a:gd name="csX0" fmla="*/ 62 w 34846"/>
                    <a:gd name="csY0" fmla="*/ 278 h 34846"/>
                    <a:gd name="csX1" fmla="*/ 62 w 34846"/>
                    <a:gd name="csY1" fmla="*/ 35124 h 34846"/>
                    <a:gd name="csX2" fmla="*/ 34908 w 34846"/>
                    <a:gd name="csY2" fmla="*/ 35124 h 348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4846" h="34846">
                      <a:moveTo>
                        <a:pt x="62" y="278"/>
                      </a:moveTo>
                      <a:lnTo>
                        <a:pt x="62" y="35124"/>
                      </a:lnTo>
                      <a:lnTo>
                        <a:pt x="34908" y="35124"/>
                      </a:lnTo>
                    </a:path>
                  </a:pathLst>
                </a:custGeom>
                <a:noFill/>
                <a:ln w="9500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29" name="任意形状 28"/>
                <p:cNvSpPr/>
                <p:nvPr/>
              </p:nvSpPr>
              <p:spPr>
                <a:xfrm>
                  <a:off x="1010793" y="1960096"/>
                  <a:ext cx="50685" cy="44349"/>
                </a:xfrm>
                <a:custGeom>
                  <a:avLst/>
                  <a:gdLst>
                    <a:gd name="csX0" fmla="*/ 70 w 50685"/>
                    <a:gd name="csY0" fmla="*/ 268 h 44349"/>
                    <a:gd name="csX1" fmla="*/ 50756 w 50685"/>
                    <a:gd name="csY1" fmla="*/ 268 h 44349"/>
                    <a:gd name="csX2" fmla="*/ 70 w 50685"/>
                    <a:gd name="csY2" fmla="*/ 22443 h 44349"/>
                    <a:gd name="csX3" fmla="*/ 50756 w 50685"/>
                    <a:gd name="csY3" fmla="*/ 22443 h 44349"/>
                    <a:gd name="csX4" fmla="*/ 70 w 50685"/>
                    <a:gd name="csY4" fmla="*/ 44618 h 44349"/>
                    <a:gd name="csX5" fmla="*/ 38084 w 50685"/>
                    <a:gd name="csY5" fmla="*/ 44618 h 443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50685" h="44349">
                      <a:moveTo>
                        <a:pt x="70" y="268"/>
                      </a:moveTo>
                      <a:lnTo>
                        <a:pt x="50756" y="268"/>
                      </a:lnTo>
                      <a:moveTo>
                        <a:pt x="70" y="22443"/>
                      </a:moveTo>
                      <a:lnTo>
                        <a:pt x="50756" y="22443"/>
                      </a:lnTo>
                      <a:moveTo>
                        <a:pt x="70" y="44618"/>
                      </a:moveTo>
                      <a:lnTo>
                        <a:pt x="38084" y="44618"/>
                      </a:lnTo>
                    </a:path>
                  </a:pathLst>
                </a:custGeom>
                <a:noFill/>
                <a:ln w="9500" cap="rnd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30" name="圆角矩形 29"/>
                <p:cNvSpPr/>
                <p:nvPr/>
              </p:nvSpPr>
              <p:spPr>
                <a:xfrm>
                  <a:off x="1045639" y="1988606"/>
                  <a:ext cx="144986" cy="84669"/>
                </a:xfrm>
                <a:prstGeom prst="roundRect">
                  <a:avLst>
                    <a:gd name="adj" fmla="val 28571"/>
                  </a:avLst>
                </a:prstGeom>
                <a:solidFill>
                  <a:srgbClr val="6EA8FF"/>
                </a:solidFill>
                <a:ln w="4750" cap="flat">
                  <a:solidFill>
                    <a:srgbClr val="2B6FE3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991565" y="1962150"/>
                  <a:ext cx="281610" cy="138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300" b="1" spc="0" baseline="0" dirty="0">
                      <a:solidFill>
                        <a:srgbClr val="FFFFFF"/>
                      </a:solidFill>
                      <a:latin typeface="Arial" panose="020B0704020202020204"/>
                      <a:cs typeface="Arial" panose="020B0704020202020204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b="1" spc="0" baseline="0" dirty="0">
                    <a:solidFill>
                      <a:srgbClr val="FFFFFF"/>
                    </a:solidFill>
                    <a:latin typeface="Arial" panose="020B0704020202020204"/>
                    <a:cs typeface="Arial" panose="020B0704020202020204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32" name="文本框 31"/>
              <p:cNvSpPr txBox="1"/>
              <p:nvPr/>
            </p:nvSpPr>
            <p:spPr>
              <a:xfrm>
                <a:off x="1128788" y="1799741"/>
                <a:ext cx="9188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LeetCode SQL</a:t>
                </a:r>
                <a:endParaRPr lang="zh-CN" altLang="en-US" sz="9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211709" y="1938682"/>
                <a:ext cx="71686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human-written</a:t>
                </a:r>
                <a:endPara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900975" y="2283479"/>
                <a:ext cx="1174738" cy="343181"/>
              </a:xfrm>
              <a:prstGeom prst="roundRect">
                <a:avLst>
                  <a:gd name="adj" fmla="val 19230"/>
                </a:avLst>
              </a:prstGeom>
              <a:solidFill>
                <a:srgbClr val="F7FBFF"/>
              </a:solidFill>
              <a:ln w="10555" cap="flat">
                <a:solidFill>
                  <a:srgbClr val="CFE1F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grpSp>
            <p:nvGrpSpPr>
              <p:cNvPr id="35" name="图形 4"/>
              <p:cNvGrpSpPr/>
              <p:nvPr/>
            </p:nvGrpSpPr>
            <p:grpSpPr>
              <a:xfrm>
                <a:off x="991786" y="2365050"/>
                <a:ext cx="274092" cy="193419"/>
                <a:chOff x="991786" y="2365050"/>
                <a:chExt cx="274092" cy="193419"/>
              </a:xfrm>
              <a:solidFill>
                <a:srgbClr val="000000"/>
              </a:solidFill>
            </p:grpSpPr>
            <p:sp>
              <p:nvSpPr>
                <p:cNvPr id="36" name="椭圆 35"/>
                <p:cNvSpPr/>
                <p:nvPr/>
              </p:nvSpPr>
              <p:spPr>
                <a:xfrm>
                  <a:off x="991786" y="2365050"/>
                  <a:ext cx="101370" cy="44349"/>
                </a:xfrm>
                <a:prstGeom prst="ellipse">
                  <a:avLst/>
                </a:prstGeom>
                <a:noFill/>
                <a:ln w="9500" cap="flat">
                  <a:solidFill>
                    <a:srgbClr val="2B78E4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37" name="任意形状 36"/>
                <p:cNvSpPr/>
                <p:nvPr/>
              </p:nvSpPr>
              <p:spPr>
                <a:xfrm>
                  <a:off x="991786" y="2387225"/>
                  <a:ext cx="101370" cy="107706"/>
                </a:xfrm>
                <a:custGeom>
                  <a:avLst/>
                  <a:gdLst>
                    <a:gd name="csX0" fmla="*/ 69 w 101370"/>
                    <a:gd name="csY0" fmla="*/ 339 h 107706"/>
                    <a:gd name="csX1" fmla="*/ 69 w 101370"/>
                    <a:gd name="csY1" fmla="*/ 82703 h 107706"/>
                    <a:gd name="csX2" fmla="*/ 50755 w 101370"/>
                    <a:gd name="csY2" fmla="*/ 108045 h 107706"/>
                    <a:gd name="csX3" fmla="*/ 101440 w 101370"/>
                    <a:gd name="csY3" fmla="*/ 82703 h 107706"/>
                    <a:gd name="csX4" fmla="*/ 101440 w 101370"/>
                    <a:gd name="csY4" fmla="*/ 339 h 1077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01370" h="107706">
                      <a:moveTo>
                        <a:pt x="69" y="339"/>
                      </a:moveTo>
                      <a:lnTo>
                        <a:pt x="69" y="82703"/>
                      </a:lnTo>
                      <a:cubicBezTo>
                        <a:pt x="69" y="95374"/>
                        <a:pt x="22244" y="108045"/>
                        <a:pt x="50755" y="108045"/>
                      </a:cubicBezTo>
                      <a:cubicBezTo>
                        <a:pt x="79265" y="108045"/>
                        <a:pt x="101440" y="95374"/>
                        <a:pt x="101440" y="82703"/>
                      </a:cubicBezTo>
                      <a:lnTo>
                        <a:pt x="101440" y="339"/>
                      </a:lnTo>
                    </a:path>
                  </a:pathLst>
                </a:custGeom>
                <a:noFill/>
                <a:ln w="9500" cap="flat">
                  <a:solidFill>
                    <a:srgbClr val="2B78E4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991786" y="2406232"/>
                  <a:ext cx="101370" cy="44349"/>
                </a:xfrm>
                <a:prstGeom prst="ellipse">
                  <a:avLst/>
                </a:prstGeom>
                <a:noFill/>
                <a:ln w="9500" cap="flat">
                  <a:solidFill>
                    <a:srgbClr val="2B78E4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>
                  <a:off x="991786" y="2447414"/>
                  <a:ext cx="101370" cy="44349"/>
                </a:xfrm>
                <a:prstGeom prst="ellipse">
                  <a:avLst/>
                </a:prstGeom>
                <a:noFill/>
                <a:ln w="9500" cap="flat">
                  <a:solidFill>
                    <a:srgbClr val="2B78E4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40" name="圆角矩形 39"/>
                <p:cNvSpPr/>
                <p:nvPr/>
              </p:nvSpPr>
              <p:spPr>
                <a:xfrm>
                  <a:off x="1055128" y="2450603"/>
                  <a:ext cx="141847" cy="79872"/>
                </a:xfrm>
                <a:prstGeom prst="roundRect">
                  <a:avLst>
                    <a:gd name="adj" fmla="val 28571"/>
                  </a:avLst>
                </a:prstGeom>
                <a:solidFill>
                  <a:srgbClr val="FFFFFF"/>
                </a:solidFill>
                <a:ln w="4750" cap="flat">
                  <a:solidFill>
                    <a:srgbClr val="2B6FE3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1001062" y="2419970"/>
                  <a:ext cx="264816" cy="1384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b="1" spc="0" baseline="0" dirty="0">
                      <a:solidFill>
                        <a:srgbClr val="2B6FE3"/>
                      </a:solidFill>
                      <a:latin typeface="Arial" panose="020B0704020202020204"/>
                      <a:cs typeface="Arial" panose="020B0704020202020204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b="1" spc="0" baseline="0" dirty="0">
                    <a:solidFill>
                      <a:srgbClr val="2B6FE3"/>
                    </a:solidFill>
                    <a:latin typeface="Arial" panose="020B0704020202020204"/>
                    <a:cs typeface="Arial" panose="020B0704020202020204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42" name="文本框 41"/>
              <p:cNvSpPr txBox="1"/>
              <p:nvPr/>
            </p:nvSpPr>
            <p:spPr>
              <a:xfrm>
                <a:off x="1263409" y="2242667"/>
                <a:ext cx="6014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SynSQL</a:t>
                </a:r>
                <a:endParaRPr lang="zh-CN" altLang="en-US" sz="9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180216" y="2395979"/>
                <a:ext cx="81464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candidate queries</a:t>
                </a:r>
                <a:endPara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44" name="任意形状 43"/>
            <p:cNvSpPr/>
            <p:nvPr/>
          </p:nvSpPr>
          <p:spPr>
            <a:xfrm>
              <a:off x="2181308" y="2125087"/>
              <a:ext cx="164991" cy="6599"/>
            </a:xfrm>
            <a:custGeom>
              <a:avLst/>
              <a:gdLst>
                <a:gd name="csX0" fmla="*/ 0 w 164991"/>
                <a:gd name="csY0" fmla="*/ 0 h 6599"/>
                <a:gd name="csX1" fmla="*/ 164991 w 164991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991" h="6599">
                  <a:moveTo>
                    <a:pt x="0" y="0"/>
                  </a:moveTo>
                  <a:lnTo>
                    <a:pt x="164991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45" name="图形 4"/>
            <p:cNvGrpSpPr/>
            <p:nvPr/>
          </p:nvGrpSpPr>
          <p:grpSpPr>
            <a:xfrm>
              <a:off x="2346299" y="1418924"/>
              <a:ext cx="1137541" cy="1418924"/>
              <a:chOff x="2346299" y="1418924"/>
              <a:chExt cx="1137541" cy="1418924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2346299" y="1418924"/>
                <a:ext cx="1121940" cy="1418924"/>
              </a:xfrm>
              <a:prstGeom prst="roundRect">
                <a:avLst>
                  <a:gd name="adj" fmla="val 8235"/>
                </a:avLst>
              </a:prstGeom>
              <a:solidFill>
                <a:srgbClr val="FFFFFF"/>
              </a:solidFill>
              <a:ln w="13194" cap="flat">
                <a:solidFill>
                  <a:srgbClr val="DCCAF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353402" y="1428612"/>
                <a:ext cx="1130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2. Formal</a:t>
                </a:r>
                <a:r>
                  <a:rPr lang="zh-CN" altLang="en-US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Labeling</a:t>
                </a:r>
                <a:endParaRPr lang="en-US" altLang="zh-CN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By</a:t>
                </a:r>
                <a:r>
                  <a:rPr lang="zh-CN" altLang="en-US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dirty="0" err="1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VeriEQL</a:t>
                </a:r>
                <a:endParaRPr lang="zh-CN" altLang="en-US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48" name="图形 4"/>
              <p:cNvGrpSpPr/>
              <p:nvPr/>
            </p:nvGrpSpPr>
            <p:grpSpPr>
              <a:xfrm>
                <a:off x="2806321" y="1827839"/>
                <a:ext cx="147304" cy="196405"/>
                <a:chOff x="2806321" y="1827839"/>
                <a:chExt cx="147304" cy="196405"/>
              </a:xfrm>
              <a:solidFill>
                <a:srgbClr val="000000"/>
              </a:solidFill>
            </p:grpSpPr>
            <p:sp>
              <p:nvSpPr>
                <p:cNvPr id="49" name="任意形状 48"/>
                <p:cNvSpPr/>
                <p:nvPr/>
              </p:nvSpPr>
              <p:spPr>
                <a:xfrm>
                  <a:off x="2806321" y="1827839"/>
                  <a:ext cx="147304" cy="196405"/>
                </a:xfrm>
                <a:custGeom>
                  <a:avLst/>
                  <a:gdLst>
                    <a:gd name="csX0" fmla="*/ 73990 w 147304"/>
                    <a:gd name="csY0" fmla="*/ 260 h 196405"/>
                    <a:gd name="csX1" fmla="*/ 147642 w 147304"/>
                    <a:gd name="csY1" fmla="*/ 28902 h 196405"/>
                    <a:gd name="csX2" fmla="*/ 147642 w 147304"/>
                    <a:gd name="csY2" fmla="*/ 86187 h 196405"/>
                    <a:gd name="csX3" fmla="*/ 73990 w 147304"/>
                    <a:gd name="csY3" fmla="*/ 196665 h 196405"/>
                    <a:gd name="csX4" fmla="*/ 338 w 147304"/>
                    <a:gd name="csY4" fmla="*/ 86187 h 196405"/>
                    <a:gd name="csX5" fmla="*/ 338 w 147304"/>
                    <a:gd name="csY5" fmla="*/ 28902 h 196405"/>
                    <a:gd name="csX6" fmla="*/ 73990 w 147304"/>
                    <a:gd name="csY6" fmla="*/ 260 h 1964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147304" h="196405">
                      <a:moveTo>
                        <a:pt x="73990" y="260"/>
                      </a:moveTo>
                      <a:lnTo>
                        <a:pt x="147642" y="28902"/>
                      </a:lnTo>
                      <a:lnTo>
                        <a:pt x="147642" y="86187"/>
                      </a:lnTo>
                      <a:cubicBezTo>
                        <a:pt x="147642" y="143472"/>
                        <a:pt x="110816" y="180298"/>
                        <a:pt x="73990" y="196665"/>
                      </a:cubicBezTo>
                      <a:cubicBezTo>
                        <a:pt x="37164" y="180298"/>
                        <a:pt x="338" y="143472"/>
                        <a:pt x="338" y="86187"/>
                      </a:cubicBezTo>
                      <a:lnTo>
                        <a:pt x="338" y="28902"/>
                      </a:lnTo>
                      <a:lnTo>
                        <a:pt x="73990" y="260"/>
                      </a:lnTo>
                      <a:close/>
                    </a:path>
                  </a:pathLst>
                </a:custGeom>
                <a:solidFill>
                  <a:srgbClr val="6E33C7"/>
                </a:solidFill>
                <a:ln w="409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 dirty="0"/>
                </a:p>
              </p:txBody>
            </p:sp>
            <p:sp>
              <p:nvSpPr>
                <p:cNvPr id="50" name="任意形状 49"/>
                <p:cNvSpPr/>
                <p:nvPr/>
              </p:nvSpPr>
              <p:spPr>
                <a:xfrm>
                  <a:off x="2847239" y="1889216"/>
                  <a:ext cx="69560" cy="61376"/>
                </a:xfrm>
                <a:custGeom>
                  <a:avLst/>
                  <a:gdLst>
                    <a:gd name="csX0" fmla="*/ 338 w 69560"/>
                    <a:gd name="csY0" fmla="*/ 32995 h 61376"/>
                    <a:gd name="csX1" fmla="*/ 24888 w 69560"/>
                    <a:gd name="csY1" fmla="*/ 61637 h 61376"/>
                    <a:gd name="csX2" fmla="*/ 69898 w 69560"/>
                    <a:gd name="csY2" fmla="*/ 260 h 613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560" h="61376">
                      <a:moveTo>
                        <a:pt x="338" y="32995"/>
                      </a:moveTo>
                      <a:lnTo>
                        <a:pt x="24888" y="61637"/>
                      </a:lnTo>
                      <a:lnTo>
                        <a:pt x="69898" y="260"/>
                      </a:lnTo>
                    </a:path>
                  </a:pathLst>
                </a:custGeom>
                <a:noFill/>
                <a:ln w="16361" cap="rnd">
                  <a:solidFill>
                    <a:srgbClr val="FFFFF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</p:grpSp>
          <p:sp>
            <p:nvSpPr>
              <p:cNvPr id="51" name="文本框 50"/>
              <p:cNvSpPr txBox="1"/>
              <p:nvPr/>
            </p:nvSpPr>
            <p:spPr>
              <a:xfrm>
                <a:off x="2485405" y="2105501"/>
                <a:ext cx="90281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offline formal</a:t>
                </a:r>
                <a:endParaRPr lang="zh-CN" altLang="en-US" sz="10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2677285" y="2257293"/>
                <a:ext cx="48442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labels</a:t>
                </a:r>
                <a:endParaRPr lang="zh-CN" altLang="en-US" sz="10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55" name="任意形状 54"/>
            <p:cNvSpPr/>
            <p:nvPr/>
          </p:nvSpPr>
          <p:spPr>
            <a:xfrm>
              <a:off x="3468240" y="2125087"/>
              <a:ext cx="164991" cy="6599"/>
            </a:xfrm>
            <a:custGeom>
              <a:avLst/>
              <a:gdLst>
                <a:gd name="csX0" fmla="*/ 0 w 164991"/>
                <a:gd name="csY0" fmla="*/ 0 h 6599"/>
                <a:gd name="csX1" fmla="*/ 164991 w 164991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991" h="6599">
                  <a:moveTo>
                    <a:pt x="0" y="0"/>
                  </a:moveTo>
                  <a:lnTo>
                    <a:pt x="164991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56" name="图形 4"/>
            <p:cNvGrpSpPr/>
            <p:nvPr/>
          </p:nvGrpSpPr>
          <p:grpSpPr>
            <a:xfrm>
              <a:off x="3629401" y="1418924"/>
              <a:ext cx="1031051" cy="1418924"/>
              <a:chOff x="3629401" y="1418924"/>
              <a:chExt cx="1031051" cy="1418924"/>
            </a:xfrm>
          </p:grpSpPr>
          <p:sp>
            <p:nvSpPr>
              <p:cNvPr id="57" name="圆角矩形 56"/>
              <p:cNvSpPr/>
              <p:nvPr/>
            </p:nvSpPr>
            <p:spPr>
              <a:xfrm>
                <a:off x="3633231" y="1418924"/>
                <a:ext cx="956949" cy="1418924"/>
              </a:xfrm>
              <a:prstGeom prst="roundRect">
                <a:avLst>
                  <a:gd name="adj" fmla="val 9655"/>
                </a:avLst>
              </a:prstGeom>
              <a:solidFill>
                <a:srgbClr val="FFFFFF"/>
              </a:solidFill>
              <a:ln w="13194" cap="flat">
                <a:solidFill>
                  <a:srgbClr val="DCCAF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3650143" y="1428612"/>
                <a:ext cx="9573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3.</a:t>
                </a:r>
                <a:r>
                  <a:rPr lang="zh-CN" altLang="en-US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Labeled</a:t>
                </a:r>
                <a:r>
                  <a:rPr lang="zh-CN" altLang="en-US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</a:t>
                </a:r>
                <a:endParaRPr lang="en-US" altLang="zh-CN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Pairs</a:t>
                </a:r>
                <a:endParaRPr lang="zh-CN" altLang="en-US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59" name="图形 4"/>
              <p:cNvGrpSpPr/>
              <p:nvPr/>
            </p:nvGrpSpPr>
            <p:grpSpPr>
              <a:xfrm>
                <a:off x="3986972" y="1869021"/>
                <a:ext cx="213828" cy="285104"/>
                <a:chOff x="3986972" y="1869021"/>
                <a:chExt cx="213828" cy="285104"/>
              </a:xfrm>
              <a:solidFill>
                <a:srgbClr val="000000"/>
              </a:solidFill>
            </p:grpSpPr>
            <p:sp>
              <p:nvSpPr>
                <p:cNvPr id="60" name="圆角矩形 59"/>
                <p:cNvSpPr/>
                <p:nvPr/>
              </p:nvSpPr>
              <p:spPr>
                <a:xfrm>
                  <a:off x="3986972" y="1869021"/>
                  <a:ext cx="213828" cy="285104"/>
                </a:xfrm>
                <a:prstGeom prst="roundRect">
                  <a:avLst>
                    <a:gd name="adj" fmla="val 5555"/>
                  </a:avLst>
                </a:prstGeom>
                <a:noFill/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61" name="任意形状 60"/>
                <p:cNvSpPr/>
                <p:nvPr/>
              </p:nvSpPr>
              <p:spPr>
                <a:xfrm>
                  <a:off x="3986972" y="1940297"/>
                  <a:ext cx="213828" cy="6599"/>
                </a:xfrm>
                <a:custGeom>
                  <a:avLst/>
                  <a:gdLst>
                    <a:gd name="csX0" fmla="*/ 528 w 213828"/>
                    <a:gd name="csY0" fmla="*/ 274 h 6599"/>
                    <a:gd name="csX1" fmla="*/ 214357 w 213828"/>
                    <a:gd name="csY1" fmla="*/ 274 h 6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828" h="6599">
                      <a:moveTo>
                        <a:pt x="528" y="274"/>
                      </a:moveTo>
                      <a:lnTo>
                        <a:pt x="214357" y="274"/>
                      </a:lnTo>
                    </a:path>
                  </a:pathLst>
                </a:custGeom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62" name="任意形状 61"/>
                <p:cNvSpPr/>
                <p:nvPr/>
              </p:nvSpPr>
              <p:spPr>
                <a:xfrm>
                  <a:off x="3986972" y="2011573"/>
                  <a:ext cx="213828" cy="6599"/>
                </a:xfrm>
                <a:custGeom>
                  <a:avLst/>
                  <a:gdLst>
                    <a:gd name="csX0" fmla="*/ 528 w 213828"/>
                    <a:gd name="csY0" fmla="*/ 273 h 6599"/>
                    <a:gd name="csX1" fmla="*/ 214357 w 213828"/>
                    <a:gd name="csY1" fmla="*/ 273 h 6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828" h="6599">
                      <a:moveTo>
                        <a:pt x="528" y="273"/>
                      </a:moveTo>
                      <a:lnTo>
                        <a:pt x="214357" y="273"/>
                      </a:lnTo>
                    </a:path>
                  </a:pathLst>
                </a:custGeom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63" name="任意形状 62"/>
                <p:cNvSpPr/>
                <p:nvPr/>
              </p:nvSpPr>
              <p:spPr>
                <a:xfrm>
                  <a:off x="3986972" y="2082849"/>
                  <a:ext cx="213828" cy="6599"/>
                </a:xfrm>
                <a:custGeom>
                  <a:avLst/>
                  <a:gdLst>
                    <a:gd name="csX0" fmla="*/ 528 w 213828"/>
                    <a:gd name="csY0" fmla="*/ 272 h 6599"/>
                    <a:gd name="csX1" fmla="*/ 214357 w 213828"/>
                    <a:gd name="csY1" fmla="*/ 272 h 6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828" h="6599">
                      <a:moveTo>
                        <a:pt x="528" y="272"/>
                      </a:moveTo>
                      <a:lnTo>
                        <a:pt x="214357" y="272"/>
                      </a:lnTo>
                    </a:path>
                  </a:pathLst>
                </a:custGeom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64" name="椭圆 63"/>
                <p:cNvSpPr/>
                <p:nvPr/>
              </p:nvSpPr>
              <p:spPr>
                <a:xfrm>
                  <a:off x="4019641" y="1889810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4019641" y="1961086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4019641" y="2032362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4019641" y="2103638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</p:grpSp>
          <p:sp>
            <p:nvSpPr>
              <p:cNvPr id="68" name="文本框 67"/>
              <p:cNvSpPr txBox="1"/>
              <p:nvPr/>
            </p:nvSpPr>
            <p:spPr>
              <a:xfrm>
                <a:off x="3629401" y="2237494"/>
                <a:ext cx="103105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formally labeled</a:t>
                </a:r>
                <a:endParaRPr lang="zh-CN" altLang="en-US" sz="1000" spc="0" baseline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3754720" y="2389286"/>
                <a:ext cx="7601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query pairs</a:t>
                </a:r>
                <a:endParaRPr lang="zh-CN" altLang="en-US" sz="1000" spc="0" baseline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70" name="任意形状 69"/>
            <p:cNvSpPr/>
            <p:nvPr/>
          </p:nvSpPr>
          <p:spPr>
            <a:xfrm>
              <a:off x="4590181" y="2125087"/>
              <a:ext cx="164991" cy="6599"/>
            </a:xfrm>
            <a:custGeom>
              <a:avLst/>
              <a:gdLst>
                <a:gd name="csX0" fmla="*/ 0 w 164991"/>
                <a:gd name="csY0" fmla="*/ 0 h 6599"/>
                <a:gd name="csX1" fmla="*/ 164991 w 164991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991" h="6599">
                  <a:moveTo>
                    <a:pt x="0" y="0"/>
                  </a:moveTo>
                  <a:lnTo>
                    <a:pt x="164991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71" name="图形 4"/>
            <p:cNvGrpSpPr/>
            <p:nvPr/>
          </p:nvGrpSpPr>
          <p:grpSpPr>
            <a:xfrm>
              <a:off x="4755172" y="1418924"/>
              <a:ext cx="1200674" cy="1418924"/>
              <a:chOff x="4755172" y="1418924"/>
              <a:chExt cx="1200674" cy="1418924"/>
            </a:xfrm>
          </p:grpSpPr>
          <p:sp>
            <p:nvSpPr>
              <p:cNvPr id="72" name="圆角矩形 71"/>
              <p:cNvSpPr/>
              <p:nvPr/>
            </p:nvSpPr>
            <p:spPr>
              <a:xfrm>
                <a:off x="4755172" y="1418924"/>
                <a:ext cx="1121940" cy="1418924"/>
              </a:xfrm>
              <a:prstGeom prst="roundRect">
                <a:avLst>
                  <a:gd name="adj" fmla="val 8235"/>
                </a:avLst>
              </a:prstGeom>
              <a:solidFill>
                <a:srgbClr val="FFFFFF"/>
              </a:solidFill>
              <a:ln w="13194" cap="flat">
                <a:solidFill>
                  <a:srgbClr val="DCCAF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4825408" y="1428612"/>
                <a:ext cx="1130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4. Reasoning</a:t>
                </a:r>
                <a:r>
                  <a:rPr lang="zh-CN" altLang="en-US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Trace</a:t>
                </a:r>
                <a:endParaRPr lang="en-US" altLang="zh-CN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Generation</a:t>
                </a:r>
                <a:endParaRPr lang="zh-CN" altLang="en-US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74" name="图形 4"/>
              <p:cNvGrpSpPr/>
              <p:nvPr/>
            </p:nvGrpSpPr>
            <p:grpSpPr>
              <a:xfrm>
                <a:off x="5129751" y="1827717"/>
                <a:ext cx="242374" cy="220286"/>
                <a:chOff x="5129751" y="1827717"/>
                <a:chExt cx="242374" cy="220286"/>
              </a:xfrm>
              <a:solidFill>
                <a:srgbClr val="000000"/>
              </a:solidFill>
            </p:grpSpPr>
            <p:sp>
              <p:nvSpPr>
                <p:cNvPr id="75" name="任意形状 74"/>
                <p:cNvSpPr/>
                <p:nvPr/>
              </p:nvSpPr>
              <p:spPr>
                <a:xfrm>
                  <a:off x="5129751" y="1827717"/>
                  <a:ext cx="242374" cy="220286"/>
                </a:xfrm>
                <a:custGeom>
                  <a:avLst/>
                  <a:gdLst>
                    <a:gd name="csX0" fmla="*/ 76747 w 242374"/>
                    <a:gd name="csY0" fmla="*/ 1966 h 220286"/>
                    <a:gd name="csX1" fmla="*/ 24478 w 242374"/>
                    <a:gd name="csY1" fmla="*/ 54236 h 220286"/>
                    <a:gd name="csX2" fmla="*/ 25903 w 242374"/>
                    <a:gd name="csY2" fmla="*/ 68016 h 220286"/>
                    <a:gd name="csX3" fmla="*/ 719 w 242374"/>
                    <a:gd name="csY3" fmla="*/ 111257 h 220286"/>
                    <a:gd name="csX4" fmla="*/ 38733 w 242374"/>
                    <a:gd name="csY4" fmla="*/ 160675 h 220286"/>
                    <a:gd name="csX5" fmla="*/ 37308 w 242374"/>
                    <a:gd name="csY5" fmla="*/ 173029 h 220286"/>
                    <a:gd name="csX6" fmla="*/ 84825 w 242374"/>
                    <a:gd name="csY6" fmla="*/ 220547 h 220286"/>
                    <a:gd name="csX7" fmla="*/ 122364 w 242374"/>
                    <a:gd name="csY7" fmla="*/ 202490 h 220286"/>
                    <a:gd name="csX8" fmla="*/ 160853 w 242374"/>
                    <a:gd name="csY8" fmla="*/ 220547 h 220286"/>
                    <a:gd name="csX9" fmla="*/ 208371 w 242374"/>
                    <a:gd name="csY9" fmla="*/ 173029 h 220286"/>
                    <a:gd name="csX10" fmla="*/ 206945 w 242374"/>
                    <a:gd name="csY10" fmla="*/ 160675 h 220286"/>
                    <a:gd name="csX11" fmla="*/ 243058 w 242374"/>
                    <a:gd name="csY11" fmla="*/ 111257 h 220286"/>
                    <a:gd name="csX12" fmla="*/ 217874 w 242374"/>
                    <a:gd name="csY12" fmla="*/ 68016 h 220286"/>
                    <a:gd name="csX13" fmla="*/ 219300 w 242374"/>
                    <a:gd name="csY13" fmla="*/ 54236 h 220286"/>
                    <a:gd name="csX14" fmla="*/ 167030 w 242374"/>
                    <a:gd name="csY14" fmla="*/ 1966 h 220286"/>
                    <a:gd name="csX15" fmla="*/ 129016 w 242374"/>
                    <a:gd name="csY15" fmla="*/ 17172 h 220286"/>
                    <a:gd name="csX16" fmla="*/ 76747 w 242374"/>
                    <a:gd name="csY16" fmla="*/ 1966 h 2202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42374" h="220286">
                      <a:moveTo>
                        <a:pt x="76747" y="1966"/>
                      </a:moveTo>
                      <a:cubicBezTo>
                        <a:pt x="48237" y="1966"/>
                        <a:pt x="24478" y="25725"/>
                        <a:pt x="24478" y="54236"/>
                      </a:cubicBezTo>
                      <a:cubicBezTo>
                        <a:pt x="24478" y="58987"/>
                        <a:pt x="24478" y="63739"/>
                        <a:pt x="25903" y="68016"/>
                      </a:cubicBezTo>
                      <a:cubicBezTo>
                        <a:pt x="9985" y="76484"/>
                        <a:pt x="230" y="93232"/>
                        <a:pt x="719" y="111257"/>
                      </a:cubicBezTo>
                      <a:cubicBezTo>
                        <a:pt x="719" y="135015"/>
                        <a:pt x="14974" y="154022"/>
                        <a:pt x="38733" y="160675"/>
                      </a:cubicBezTo>
                      <a:cubicBezTo>
                        <a:pt x="37783" y="164476"/>
                        <a:pt x="37308" y="168753"/>
                        <a:pt x="37308" y="173029"/>
                      </a:cubicBezTo>
                      <a:cubicBezTo>
                        <a:pt x="37308" y="199164"/>
                        <a:pt x="58691" y="220547"/>
                        <a:pt x="84825" y="220547"/>
                      </a:cubicBezTo>
                      <a:cubicBezTo>
                        <a:pt x="99556" y="220547"/>
                        <a:pt x="113336" y="213894"/>
                        <a:pt x="122364" y="202490"/>
                      </a:cubicBezTo>
                      <a:cubicBezTo>
                        <a:pt x="131867" y="213894"/>
                        <a:pt x="145648" y="220547"/>
                        <a:pt x="160853" y="220547"/>
                      </a:cubicBezTo>
                      <a:cubicBezTo>
                        <a:pt x="186988" y="220547"/>
                        <a:pt x="208371" y="199164"/>
                        <a:pt x="208371" y="173029"/>
                      </a:cubicBezTo>
                      <a:cubicBezTo>
                        <a:pt x="208371" y="168753"/>
                        <a:pt x="207895" y="164476"/>
                        <a:pt x="206945" y="160675"/>
                      </a:cubicBezTo>
                      <a:cubicBezTo>
                        <a:pt x="228803" y="154022"/>
                        <a:pt x="243058" y="135015"/>
                        <a:pt x="243058" y="111257"/>
                      </a:cubicBezTo>
                      <a:cubicBezTo>
                        <a:pt x="243548" y="93232"/>
                        <a:pt x="233793" y="76484"/>
                        <a:pt x="217874" y="68016"/>
                      </a:cubicBezTo>
                      <a:cubicBezTo>
                        <a:pt x="218825" y="63739"/>
                        <a:pt x="219300" y="58987"/>
                        <a:pt x="219300" y="54236"/>
                      </a:cubicBezTo>
                      <a:cubicBezTo>
                        <a:pt x="219300" y="25725"/>
                        <a:pt x="195541" y="1966"/>
                        <a:pt x="167030" y="1966"/>
                      </a:cubicBezTo>
                      <a:cubicBezTo>
                        <a:pt x="152300" y="1966"/>
                        <a:pt x="138995" y="7669"/>
                        <a:pt x="129016" y="17172"/>
                      </a:cubicBezTo>
                      <a:cubicBezTo>
                        <a:pt x="115700" y="2902"/>
                        <a:pt x="95640" y="-2933"/>
                        <a:pt x="76747" y="1966"/>
                      </a:cubicBezTo>
                      <a:close/>
                    </a:path>
                  </a:pathLst>
                </a:custGeom>
                <a:noFill/>
                <a:ln w="12350" cap="rnd">
                  <a:solidFill>
                    <a:srgbClr val="111111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76" name="任意形状 75"/>
                <p:cNvSpPr/>
                <p:nvPr/>
              </p:nvSpPr>
              <p:spPr>
                <a:xfrm>
                  <a:off x="5243810" y="1843678"/>
                  <a:ext cx="6599" cy="180566"/>
                </a:xfrm>
                <a:custGeom>
                  <a:avLst/>
                  <a:gdLst>
                    <a:gd name="csX0" fmla="*/ 702 w 6599"/>
                    <a:gd name="csY0" fmla="*/ 261 h 180566"/>
                    <a:gd name="csX1" fmla="*/ 702 w 6599"/>
                    <a:gd name="csY1" fmla="*/ 180827 h 1805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599" h="180566">
                      <a:moveTo>
                        <a:pt x="702" y="261"/>
                      </a:moveTo>
                      <a:lnTo>
                        <a:pt x="702" y="180827"/>
                      </a:lnTo>
                    </a:path>
                  </a:pathLst>
                </a:custGeom>
                <a:ln w="9500" cap="flat">
                  <a:solidFill>
                    <a:srgbClr val="111111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77" name="任意形状 76"/>
                <p:cNvSpPr/>
                <p:nvPr/>
              </p:nvSpPr>
              <p:spPr>
                <a:xfrm>
                  <a:off x="5177286" y="1886444"/>
                  <a:ext cx="133048" cy="85531"/>
                </a:xfrm>
                <a:custGeom>
                  <a:avLst/>
                  <a:gdLst>
                    <a:gd name="csX0" fmla="*/ 19709 w 133048"/>
                    <a:gd name="csY0" fmla="*/ 261 h 85531"/>
                    <a:gd name="csX1" fmla="*/ 67227 w 133048"/>
                    <a:gd name="csY1" fmla="*/ 261 h 85531"/>
                    <a:gd name="csX2" fmla="*/ 67227 w 133048"/>
                    <a:gd name="csY2" fmla="*/ 261 h 85531"/>
                    <a:gd name="csX3" fmla="*/ 114744 w 133048"/>
                    <a:gd name="csY3" fmla="*/ 261 h 85531"/>
                    <a:gd name="csX4" fmla="*/ 702 w 133048"/>
                    <a:gd name="csY4" fmla="*/ 43027 h 85531"/>
                    <a:gd name="csX5" fmla="*/ 67227 w 133048"/>
                    <a:gd name="csY5" fmla="*/ 43027 h 85531"/>
                    <a:gd name="csX6" fmla="*/ 67227 w 133048"/>
                    <a:gd name="csY6" fmla="*/ 43027 h 85531"/>
                    <a:gd name="csX7" fmla="*/ 133751 w 133048"/>
                    <a:gd name="csY7" fmla="*/ 43027 h 85531"/>
                    <a:gd name="csX8" fmla="*/ 19709 w 133048"/>
                    <a:gd name="csY8" fmla="*/ 85793 h 85531"/>
                    <a:gd name="csX9" fmla="*/ 67227 w 133048"/>
                    <a:gd name="csY9" fmla="*/ 85793 h 85531"/>
                    <a:gd name="csX10" fmla="*/ 67227 w 133048"/>
                    <a:gd name="csY10" fmla="*/ 85793 h 85531"/>
                    <a:gd name="csX11" fmla="*/ 114744 w 133048"/>
                    <a:gd name="csY11" fmla="*/ 85793 h 855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33048" h="85531">
                      <a:moveTo>
                        <a:pt x="19709" y="261"/>
                      </a:moveTo>
                      <a:lnTo>
                        <a:pt x="67227" y="261"/>
                      </a:lnTo>
                      <a:moveTo>
                        <a:pt x="67227" y="261"/>
                      </a:moveTo>
                      <a:lnTo>
                        <a:pt x="114744" y="261"/>
                      </a:lnTo>
                      <a:moveTo>
                        <a:pt x="702" y="43027"/>
                      </a:moveTo>
                      <a:lnTo>
                        <a:pt x="67227" y="43027"/>
                      </a:lnTo>
                      <a:moveTo>
                        <a:pt x="67227" y="43027"/>
                      </a:moveTo>
                      <a:lnTo>
                        <a:pt x="133751" y="43027"/>
                      </a:lnTo>
                      <a:moveTo>
                        <a:pt x="19709" y="85793"/>
                      </a:moveTo>
                      <a:lnTo>
                        <a:pt x="67227" y="85793"/>
                      </a:lnTo>
                      <a:moveTo>
                        <a:pt x="67227" y="85793"/>
                      </a:moveTo>
                      <a:lnTo>
                        <a:pt x="114744" y="85793"/>
                      </a:lnTo>
                    </a:path>
                  </a:pathLst>
                </a:custGeom>
                <a:noFill/>
                <a:ln w="8550" cap="rnd">
                  <a:solidFill>
                    <a:srgbClr val="111111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</p:grpSp>
          <p:sp>
            <p:nvSpPr>
              <p:cNvPr id="78" name="文本框 77"/>
              <p:cNvSpPr txBox="1"/>
              <p:nvPr/>
            </p:nvSpPr>
            <p:spPr>
              <a:xfrm>
                <a:off x="4873281" y="2105501"/>
                <a:ext cx="99418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Teacher LLM</a:t>
                </a:r>
                <a:endParaRPr lang="zh-CN" altLang="en-US" sz="1000" b="1" spc="0" baseline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5032272" y="2288136"/>
                <a:ext cx="68480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reasoning</a:t>
                </a:r>
                <a:endParaRPr lang="zh-CN" altLang="en-US" sz="1000" spc="0" baseline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5012961" y="2426729"/>
                <a:ext cx="73129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distillation</a:t>
                </a:r>
                <a:endParaRPr lang="zh-CN" altLang="en-US" sz="1000" spc="0" baseline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81" name="任意形状 80"/>
            <p:cNvSpPr/>
            <p:nvPr/>
          </p:nvSpPr>
          <p:spPr>
            <a:xfrm>
              <a:off x="5877113" y="2125087"/>
              <a:ext cx="164991" cy="6599"/>
            </a:xfrm>
            <a:custGeom>
              <a:avLst/>
              <a:gdLst>
                <a:gd name="csX0" fmla="*/ 0 w 164991"/>
                <a:gd name="csY0" fmla="*/ 0 h 6599"/>
                <a:gd name="csX1" fmla="*/ 164991 w 164991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991" h="6599">
                  <a:moveTo>
                    <a:pt x="0" y="0"/>
                  </a:moveTo>
                  <a:lnTo>
                    <a:pt x="164991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82" name="图形 4"/>
            <p:cNvGrpSpPr/>
            <p:nvPr/>
          </p:nvGrpSpPr>
          <p:grpSpPr>
            <a:xfrm>
              <a:off x="6042104" y="1418924"/>
              <a:ext cx="1076474" cy="1418924"/>
              <a:chOff x="6042104" y="1418924"/>
              <a:chExt cx="1076474" cy="1418924"/>
            </a:xfrm>
          </p:grpSpPr>
          <p:sp>
            <p:nvSpPr>
              <p:cNvPr id="83" name="圆角矩形 82"/>
              <p:cNvSpPr/>
              <p:nvPr/>
            </p:nvSpPr>
            <p:spPr>
              <a:xfrm>
                <a:off x="6042104" y="1418924"/>
                <a:ext cx="956949" cy="1418924"/>
              </a:xfrm>
              <a:prstGeom prst="roundRect">
                <a:avLst>
                  <a:gd name="adj" fmla="val 9655"/>
                </a:avLst>
              </a:prstGeom>
              <a:solidFill>
                <a:srgbClr val="FFFFFF"/>
              </a:solidFill>
              <a:ln w="13194" cap="flat">
                <a:solidFill>
                  <a:srgbClr val="DCCB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6142029" y="1452136"/>
                <a:ext cx="976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900" b="1" spc="0" baseline="0" dirty="0">
                    <a:solidFill>
                      <a:srgbClr val="7035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5.</a:t>
                </a:r>
                <a:r>
                  <a:rPr lang="zh-CN" altLang="en-US" sz="900" b="1" spc="0" baseline="0" dirty="0">
                    <a:solidFill>
                      <a:srgbClr val="7035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spc="0" baseline="0" dirty="0">
                    <a:solidFill>
                      <a:srgbClr val="7035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SFT</a:t>
                </a:r>
                <a:r>
                  <a:rPr lang="zh-CN" altLang="en-US" sz="900" b="1" spc="0" baseline="0" dirty="0">
                    <a:solidFill>
                      <a:srgbClr val="7035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spc="0" baseline="0" dirty="0">
                    <a:solidFill>
                      <a:srgbClr val="7035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Training</a:t>
                </a:r>
                <a:endParaRPr lang="en-US" altLang="zh-CN" sz="900" b="1" spc="0" baseline="0" dirty="0">
                  <a:solidFill>
                    <a:srgbClr val="7035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900" b="1" dirty="0">
                    <a:solidFill>
                      <a:srgbClr val="7035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Data</a:t>
                </a:r>
                <a:endParaRPr lang="en-US" altLang="zh-CN" sz="900" b="1" spc="0" baseline="0" dirty="0">
                  <a:solidFill>
                    <a:srgbClr val="7035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85" name="图形 4"/>
              <p:cNvGrpSpPr/>
              <p:nvPr/>
            </p:nvGrpSpPr>
            <p:grpSpPr>
              <a:xfrm>
                <a:off x="6395846" y="1869021"/>
                <a:ext cx="213828" cy="285104"/>
                <a:chOff x="6395846" y="1869021"/>
                <a:chExt cx="213828" cy="285104"/>
              </a:xfrm>
              <a:solidFill>
                <a:srgbClr val="000000"/>
              </a:solidFill>
            </p:grpSpPr>
            <p:sp>
              <p:nvSpPr>
                <p:cNvPr id="86" name="圆角矩形 85"/>
                <p:cNvSpPr/>
                <p:nvPr/>
              </p:nvSpPr>
              <p:spPr>
                <a:xfrm>
                  <a:off x="6395846" y="1869021"/>
                  <a:ext cx="213828" cy="285104"/>
                </a:xfrm>
                <a:prstGeom prst="roundRect">
                  <a:avLst>
                    <a:gd name="adj" fmla="val 5555"/>
                  </a:avLst>
                </a:prstGeom>
                <a:noFill/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87" name="任意形状 86"/>
                <p:cNvSpPr/>
                <p:nvPr/>
              </p:nvSpPr>
              <p:spPr>
                <a:xfrm>
                  <a:off x="6395846" y="1940297"/>
                  <a:ext cx="213828" cy="6599"/>
                </a:xfrm>
                <a:custGeom>
                  <a:avLst/>
                  <a:gdLst>
                    <a:gd name="csX0" fmla="*/ 893 w 213828"/>
                    <a:gd name="csY0" fmla="*/ 274 h 6599"/>
                    <a:gd name="csX1" fmla="*/ 214722 w 213828"/>
                    <a:gd name="csY1" fmla="*/ 274 h 6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828" h="6599">
                      <a:moveTo>
                        <a:pt x="893" y="274"/>
                      </a:moveTo>
                      <a:lnTo>
                        <a:pt x="214722" y="274"/>
                      </a:lnTo>
                    </a:path>
                  </a:pathLst>
                </a:custGeom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88" name="任意形状 87"/>
                <p:cNvSpPr/>
                <p:nvPr/>
              </p:nvSpPr>
              <p:spPr>
                <a:xfrm>
                  <a:off x="6395846" y="2011573"/>
                  <a:ext cx="213828" cy="6599"/>
                </a:xfrm>
                <a:custGeom>
                  <a:avLst/>
                  <a:gdLst>
                    <a:gd name="csX0" fmla="*/ 893 w 213828"/>
                    <a:gd name="csY0" fmla="*/ 273 h 6599"/>
                    <a:gd name="csX1" fmla="*/ 214722 w 213828"/>
                    <a:gd name="csY1" fmla="*/ 273 h 6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828" h="6599">
                      <a:moveTo>
                        <a:pt x="893" y="273"/>
                      </a:moveTo>
                      <a:lnTo>
                        <a:pt x="214722" y="273"/>
                      </a:lnTo>
                    </a:path>
                  </a:pathLst>
                </a:custGeom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89" name="任意形状 88"/>
                <p:cNvSpPr/>
                <p:nvPr/>
              </p:nvSpPr>
              <p:spPr>
                <a:xfrm>
                  <a:off x="6395846" y="2082849"/>
                  <a:ext cx="213828" cy="6599"/>
                </a:xfrm>
                <a:custGeom>
                  <a:avLst/>
                  <a:gdLst>
                    <a:gd name="csX0" fmla="*/ 893 w 213828"/>
                    <a:gd name="csY0" fmla="*/ 272 h 6599"/>
                    <a:gd name="csX1" fmla="*/ 214722 w 213828"/>
                    <a:gd name="csY1" fmla="*/ 272 h 65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13828" h="6599">
                      <a:moveTo>
                        <a:pt x="893" y="272"/>
                      </a:moveTo>
                      <a:lnTo>
                        <a:pt x="214722" y="272"/>
                      </a:lnTo>
                    </a:path>
                  </a:pathLst>
                </a:custGeom>
                <a:ln w="17812" cap="flat">
                  <a:solidFill>
                    <a:srgbClr val="6E33C7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90" name="椭圆 89"/>
                <p:cNvSpPr/>
                <p:nvPr/>
              </p:nvSpPr>
              <p:spPr>
                <a:xfrm>
                  <a:off x="6428514" y="1889810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91" name="椭圆 90"/>
                <p:cNvSpPr/>
                <p:nvPr/>
              </p:nvSpPr>
              <p:spPr>
                <a:xfrm>
                  <a:off x="6428514" y="1961086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92" name="椭圆 91"/>
                <p:cNvSpPr/>
                <p:nvPr/>
              </p:nvSpPr>
              <p:spPr>
                <a:xfrm>
                  <a:off x="6428514" y="2032362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93" name="椭圆 92"/>
                <p:cNvSpPr/>
                <p:nvPr/>
              </p:nvSpPr>
              <p:spPr>
                <a:xfrm>
                  <a:off x="6428514" y="2103638"/>
                  <a:ext cx="29698" cy="29698"/>
                </a:xfrm>
                <a:prstGeom prst="ellipse">
                  <a:avLst/>
                </a:prstGeom>
                <a:solidFill>
                  <a:srgbClr val="6E33C7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</p:grpSp>
          <p:sp>
            <p:nvSpPr>
              <p:cNvPr id="94" name="文本框 93"/>
              <p:cNvSpPr txBox="1"/>
              <p:nvPr/>
            </p:nvSpPr>
            <p:spPr>
              <a:xfrm>
                <a:off x="6220225" y="2255138"/>
                <a:ext cx="72808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reasoning-</a:t>
                </a:r>
                <a:endParaRPr lang="zh-CN" altLang="en-US" sz="1000" spc="0" baseline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6211984" y="2387131"/>
                <a:ext cx="74892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augmented</a:t>
                </a:r>
                <a:endParaRPr lang="zh-CN" altLang="en-US" sz="10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6249928" y="2519124"/>
                <a:ext cx="65114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SFT data</a:t>
                </a:r>
                <a:endParaRPr lang="zh-CN" altLang="en-US" sz="1000" spc="0" baseline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97" name="任意形状 96"/>
            <p:cNvSpPr/>
            <p:nvPr/>
          </p:nvSpPr>
          <p:spPr>
            <a:xfrm>
              <a:off x="6999054" y="2125087"/>
              <a:ext cx="164991" cy="6599"/>
            </a:xfrm>
            <a:custGeom>
              <a:avLst/>
              <a:gdLst>
                <a:gd name="csX0" fmla="*/ 0 w 164991"/>
                <a:gd name="csY0" fmla="*/ 0 h 6599"/>
                <a:gd name="csX1" fmla="*/ 164991 w 164991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991" h="6599">
                  <a:moveTo>
                    <a:pt x="0" y="0"/>
                  </a:moveTo>
                  <a:lnTo>
                    <a:pt x="164991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98" name="图形 4"/>
            <p:cNvGrpSpPr/>
            <p:nvPr/>
          </p:nvGrpSpPr>
          <p:grpSpPr>
            <a:xfrm>
              <a:off x="7093529" y="1418924"/>
              <a:ext cx="864860" cy="1418924"/>
              <a:chOff x="7093529" y="1418924"/>
              <a:chExt cx="864860" cy="1418924"/>
            </a:xfrm>
          </p:grpSpPr>
          <p:sp>
            <p:nvSpPr>
              <p:cNvPr id="99" name="圆角矩形 98"/>
              <p:cNvSpPr/>
              <p:nvPr/>
            </p:nvSpPr>
            <p:spPr>
              <a:xfrm>
                <a:off x="7164045" y="1418924"/>
                <a:ext cx="725961" cy="1418924"/>
              </a:xfrm>
              <a:prstGeom prst="roundRect">
                <a:avLst>
                  <a:gd name="adj" fmla="val 12727"/>
                </a:avLst>
              </a:prstGeom>
              <a:solidFill>
                <a:srgbClr val="FFFFFF"/>
              </a:solidFill>
              <a:ln w="13194" cap="flat">
                <a:solidFill>
                  <a:srgbClr val="DCCAF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7093529" y="1428612"/>
                <a:ext cx="845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6.</a:t>
                </a:r>
                <a:r>
                  <a:rPr lang="zh-CN" altLang="en-US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Supervised</a:t>
                </a:r>
                <a:endParaRPr lang="en-US" altLang="zh-CN" sz="900" b="1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en-US" altLang="zh-CN" sz="900" b="1" dirty="0">
                    <a:solidFill>
                      <a:srgbClr val="7035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Fine-tuning</a:t>
                </a:r>
                <a:endParaRPr lang="zh-CN" altLang="en-US" sz="900" b="1" dirty="0">
                  <a:solidFill>
                    <a:srgbClr val="7035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101" name="图形 4"/>
              <p:cNvGrpSpPr/>
              <p:nvPr/>
            </p:nvGrpSpPr>
            <p:grpSpPr>
              <a:xfrm>
                <a:off x="7387113" y="1905979"/>
                <a:ext cx="246497" cy="166311"/>
                <a:chOff x="7387113" y="1905979"/>
                <a:chExt cx="246497" cy="166311"/>
              </a:xfrm>
              <a:solidFill>
                <a:srgbClr val="000000"/>
              </a:solidFill>
            </p:grpSpPr>
            <p:sp>
              <p:nvSpPr>
                <p:cNvPr id="102" name="任意形状 101"/>
                <p:cNvSpPr/>
                <p:nvPr/>
              </p:nvSpPr>
              <p:spPr>
                <a:xfrm>
                  <a:off x="7387113" y="1905979"/>
                  <a:ext cx="237587" cy="118793"/>
                </a:xfrm>
                <a:custGeom>
                  <a:avLst/>
                  <a:gdLst>
                    <a:gd name="csX0" fmla="*/ 119839 w 237587"/>
                    <a:gd name="csY0" fmla="*/ 276 h 118793"/>
                    <a:gd name="csX1" fmla="*/ 238632 w 237587"/>
                    <a:gd name="csY1" fmla="*/ 59673 h 118793"/>
                    <a:gd name="csX2" fmla="*/ 119839 w 237587"/>
                    <a:gd name="csY2" fmla="*/ 119070 h 118793"/>
                    <a:gd name="csX3" fmla="*/ 1045 w 237587"/>
                    <a:gd name="csY3" fmla="*/ 59673 h 1187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7587" h="118793">
                      <a:moveTo>
                        <a:pt x="119839" y="276"/>
                      </a:moveTo>
                      <a:lnTo>
                        <a:pt x="238632" y="59673"/>
                      </a:lnTo>
                      <a:lnTo>
                        <a:pt x="119839" y="119070"/>
                      </a:lnTo>
                      <a:lnTo>
                        <a:pt x="1045" y="59673"/>
                      </a:lnTo>
                      <a:close/>
                    </a:path>
                  </a:pathLst>
                </a:custGeom>
                <a:solidFill>
                  <a:srgbClr val="38508F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03" name="圆角矩形 102"/>
                <p:cNvSpPr/>
                <p:nvPr/>
              </p:nvSpPr>
              <p:spPr>
                <a:xfrm>
                  <a:off x="7482148" y="2012893"/>
                  <a:ext cx="47517" cy="59396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38508F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04" name="任意形状 103"/>
                <p:cNvSpPr/>
                <p:nvPr/>
              </p:nvSpPr>
              <p:spPr>
                <a:xfrm>
                  <a:off x="7553425" y="1983195"/>
                  <a:ext cx="59396" cy="59396"/>
                </a:xfrm>
                <a:custGeom>
                  <a:avLst/>
                  <a:gdLst>
                    <a:gd name="csX0" fmla="*/ 1044 w 59396"/>
                    <a:gd name="csY0" fmla="*/ 275 h 59396"/>
                    <a:gd name="csX1" fmla="*/ 60440 w 59396"/>
                    <a:gd name="csY1" fmla="*/ 59672 h 593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9396" h="59396">
                      <a:moveTo>
                        <a:pt x="1044" y="275"/>
                      </a:moveTo>
                      <a:lnTo>
                        <a:pt x="60440" y="59672"/>
                      </a:lnTo>
                    </a:path>
                  </a:pathLst>
                </a:custGeom>
                <a:noFill/>
                <a:ln w="11875" cap="flat">
                  <a:solidFill>
                    <a:srgbClr val="38508F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05" name="椭圆 104"/>
                <p:cNvSpPr/>
                <p:nvPr/>
              </p:nvSpPr>
              <p:spPr>
                <a:xfrm>
                  <a:off x="7603912" y="2033682"/>
                  <a:ext cx="29698" cy="29698"/>
                </a:xfrm>
                <a:prstGeom prst="ellipse">
                  <a:avLst/>
                </a:prstGeom>
                <a:solidFill>
                  <a:srgbClr val="38508F"/>
                </a:solidFill>
                <a:ln w="5937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</p:grpSp>
          <p:sp>
            <p:nvSpPr>
              <p:cNvPr id="106" name="文本框 105"/>
              <p:cNvSpPr txBox="1"/>
              <p:nvPr/>
            </p:nvSpPr>
            <p:spPr>
              <a:xfrm>
                <a:off x="7215545" y="2224295"/>
                <a:ext cx="66717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Training</a:t>
                </a:r>
                <a:endParaRPr lang="zh-CN" altLang="en-US" sz="1000" b="1" spc="0" baseline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7223893" y="2413529"/>
                <a:ext cx="7344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supervised</a:t>
                </a:r>
                <a:endParaRPr lang="zh-CN" altLang="en-US" sz="1000" spc="0" baseline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7309087" y="2545522"/>
                <a:ext cx="51167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tuning</a:t>
                </a:r>
                <a:endParaRPr lang="zh-CN" altLang="en-US" sz="1000" spc="0" baseline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109" name="任意形状 108"/>
            <p:cNvSpPr/>
            <p:nvPr/>
          </p:nvSpPr>
          <p:spPr>
            <a:xfrm>
              <a:off x="7890007" y="2125087"/>
              <a:ext cx="164991" cy="6599"/>
            </a:xfrm>
            <a:custGeom>
              <a:avLst/>
              <a:gdLst>
                <a:gd name="csX0" fmla="*/ 0 w 164991"/>
                <a:gd name="csY0" fmla="*/ 0 h 6599"/>
                <a:gd name="csX1" fmla="*/ 164991 w 164991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4991" h="6599">
                  <a:moveTo>
                    <a:pt x="0" y="0"/>
                  </a:moveTo>
                  <a:lnTo>
                    <a:pt x="164991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110" name="图形 4"/>
            <p:cNvGrpSpPr/>
            <p:nvPr/>
          </p:nvGrpSpPr>
          <p:grpSpPr>
            <a:xfrm>
              <a:off x="8054998" y="1418924"/>
              <a:ext cx="857645" cy="1418924"/>
              <a:chOff x="8054998" y="1418924"/>
              <a:chExt cx="857645" cy="1418924"/>
            </a:xfrm>
          </p:grpSpPr>
          <p:sp>
            <p:nvSpPr>
              <p:cNvPr id="111" name="圆角矩形 110"/>
              <p:cNvSpPr/>
              <p:nvPr/>
            </p:nvSpPr>
            <p:spPr>
              <a:xfrm>
                <a:off x="8054998" y="1418924"/>
                <a:ext cx="791958" cy="1418924"/>
              </a:xfrm>
              <a:prstGeom prst="roundRect">
                <a:avLst>
                  <a:gd name="adj" fmla="val 11666"/>
                </a:avLst>
              </a:prstGeom>
              <a:solidFill>
                <a:srgbClr val="FFFFFF"/>
              </a:solidFill>
              <a:ln w="13194" cap="flat">
                <a:solidFill>
                  <a:srgbClr val="DCCAF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8087848" y="1428612"/>
                <a:ext cx="816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7.</a:t>
                </a:r>
                <a:r>
                  <a:rPr lang="zh-CN" altLang="en-US" sz="900" b="1" spc="0" baseline="0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Local SFT</a:t>
                </a:r>
                <a:endParaRPr lang="en-US" altLang="zh-CN" sz="900" b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900" b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Model </a:t>
                </a:r>
                <a:r>
                  <a:rPr lang="en-US" altLang="zh-CN" sz="900" b="1" i="1" dirty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</a:t>
                </a:r>
                <a:endParaRPr lang="zh-CN" altLang="en-US" sz="900" b="1" i="1" spc="0" baseline="0" dirty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113" name="图形 4"/>
              <p:cNvGrpSpPr/>
              <p:nvPr/>
            </p:nvGrpSpPr>
            <p:grpSpPr>
              <a:xfrm>
                <a:off x="8302221" y="1902811"/>
                <a:ext cx="289460" cy="238379"/>
                <a:chOff x="8302221" y="1902811"/>
                <a:chExt cx="289460" cy="238379"/>
              </a:xfrm>
              <a:solidFill>
                <a:srgbClr val="000000"/>
              </a:solidFill>
            </p:grpSpPr>
            <p:sp>
              <p:nvSpPr>
                <p:cNvPr id="114" name="圆角矩形 113"/>
                <p:cNvSpPr/>
                <p:nvPr/>
              </p:nvSpPr>
              <p:spPr>
                <a:xfrm>
                  <a:off x="8353302" y="1948216"/>
                  <a:ext cx="181622" cy="147568"/>
                </a:xfrm>
                <a:prstGeom prst="roundRect">
                  <a:avLst>
                    <a:gd name="adj" fmla="val 26923"/>
                  </a:avLst>
                </a:prstGeom>
                <a:noFill/>
                <a:ln w="17020" cap="flat">
                  <a:solidFill>
                    <a:srgbClr val="1F3F8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15" name="椭圆 114"/>
                <p:cNvSpPr/>
                <p:nvPr/>
              </p:nvSpPr>
              <p:spPr>
                <a:xfrm>
                  <a:off x="8396438" y="2008379"/>
                  <a:ext cx="27243" cy="27243"/>
                </a:xfrm>
                <a:prstGeom prst="ellipse">
                  <a:avLst/>
                </a:prstGeom>
                <a:solidFill>
                  <a:srgbClr val="1F3F8B"/>
                </a:solidFill>
                <a:ln w="567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16" name="椭圆 115"/>
                <p:cNvSpPr/>
                <p:nvPr/>
              </p:nvSpPr>
              <p:spPr>
                <a:xfrm>
                  <a:off x="8464546" y="2008379"/>
                  <a:ext cx="27243" cy="27243"/>
                </a:xfrm>
                <a:prstGeom prst="ellipse">
                  <a:avLst/>
                </a:prstGeom>
                <a:solidFill>
                  <a:srgbClr val="1F3F8B"/>
                </a:solidFill>
                <a:ln w="567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17" name="任意形状 116"/>
                <p:cNvSpPr/>
                <p:nvPr/>
              </p:nvSpPr>
              <p:spPr>
                <a:xfrm>
                  <a:off x="8387357" y="1902811"/>
                  <a:ext cx="192973" cy="238379"/>
                </a:xfrm>
                <a:custGeom>
                  <a:avLst/>
                  <a:gdLst>
                    <a:gd name="csX0" fmla="*/ 29560 w 192973"/>
                    <a:gd name="csY0" fmla="*/ 159193 h 238379"/>
                    <a:gd name="csX1" fmla="*/ 86317 w 192973"/>
                    <a:gd name="csY1" fmla="*/ 159193 h 238379"/>
                    <a:gd name="csX2" fmla="*/ 57939 w 192973"/>
                    <a:gd name="csY2" fmla="*/ 273 h 238379"/>
                    <a:gd name="csX3" fmla="*/ 57939 w 192973"/>
                    <a:gd name="csY3" fmla="*/ 45679 h 238379"/>
                    <a:gd name="csX4" fmla="*/ 1182 w 192973"/>
                    <a:gd name="csY4" fmla="*/ 193247 h 238379"/>
                    <a:gd name="csX5" fmla="*/ 1182 w 192973"/>
                    <a:gd name="csY5" fmla="*/ 238653 h 238379"/>
                    <a:gd name="csX6" fmla="*/ 114696 w 192973"/>
                    <a:gd name="csY6" fmla="*/ 193247 h 238379"/>
                    <a:gd name="csX7" fmla="*/ 114696 w 192973"/>
                    <a:gd name="csY7" fmla="*/ 238653 h 238379"/>
                    <a:gd name="csX8" fmla="*/ 148750 w 192973"/>
                    <a:gd name="csY8" fmla="*/ 91085 h 238379"/>
                    <a:gd name="csX9" fmla="*/ 194156 w 192973"/>
                    <a:gd name="csY9" fmla="*/ 91085 h 2383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92973" h="238379">
                      <a:moveTo>
                        <a:pt x="29560" y="159193"/>
                      </a:moveTo>
                      <a:lnTo>
                        <a:pt x="86317" y="159193"/>
                      </a:lnTo>
                      <a:moveTo>
                        <a:pt x="57939" y="273"/>
                      </a:moveTo>
                      <a:lnTo>
                        <a:pt x="57939" y="45679"/>
                      </a:lnTo>
                      <a:moveTo>
                        <a:pt x="1182" y="193247"/>
                      </a:moveTo>
                      <a:lnTo>
                        <a:pt x="1182" y="238653"/>
                      </a:lnTo>
                      <a:moveTo>
                        <a:pt x="114696" y="193247"/>
                      </a:moveTo>
                      <a:lnTo>
                        <a:pt x="114696" y="238653"/>
                      </a:lnTo>
                      <a:moveTo>
                        <a:pt x="148750" y="91085"/>
                      </a:moveTo>
                      <a:lnTo>
                        <a:pt x="194156" y="91085"/>
                      </a:lnTo>
                    </a:path>
                  </a:pathLst>
                </a:custGeom>
                <a:noFill/>
                <a:ln w="17020" cap="rnd">
                  <a:solidFill>
                    <a:srgbClr val="1F3F8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18" name="椭圆 117"/>
                <p:cNvSpPr/>
                <p:nvPr/>
              </p:nvSpPr>
              <p:spPr>
                <a:xfrm>
                  <a:off x="8319248" y="1936865"/>
                  <a:ext cx="22702" cy="22702"/>
                </a:xfrm>
                <a:prstGeom prst="ellipse">
                  <a:avLst/>
                </a:prstGeom>
                <a:solidFill>
                  <a:srgbClr val="6E33C7"/>
                </a:solidFill>
                <a:ln w="567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19" name="椭圆 118"/>
                <p:cNvSpPr/>
                <p:nvPr/>
              </p:nvSpPr>
              <p:spPr>
                <a:xfrm>
                  <a:off x="8551952" y="1925514"/>
                  <a:ext cx="22702" cy="22702"/>
                </a:xfrm>
                <a:prstGeom prst="ellipse">
                  <a:avLst/>
                </a:prstGeom>
                <a:solidFill>
                  <a:srgbClr val="6E33C7"/>
                </a:solidFill>
                <a:ln w="567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20" name="椭圆 119"/>
                <p:cNvSpPr/>
                <p:nvPr/>
              </p:nvSpPr>
              <p:spPr>
                <a:xfrm>
                  <a:off x="8568979" y="2073082"/>
                  <a:ext cx="22702" cy="22702"/>
                </a:xfrm>
                <a:prstGeom prst="ellipse">
                  <a:avLst/>
                </a:prstGeom>
                <a:solidFill>
                  <a:srgbClr val="6E33C7"/>
                </a:solidFill>
                <a:ln w="567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  <p:sp>
              <p:nvSpPr>
                <p:cNvPr id="121" name="椭圆 120"/>
                <p:cNvSpPr/>
                <p:nvPr/>
              </p:nvSpPr>
              <p:spPr>
                <a:xfrm>
                  <a:off x="8302221" y="2061730"/>
                  <a:ext cx="22702" cy="22702"/>
                </a:xfrm>
                <a:prstGeom prst="ellipse">
                  <a:avLst/>
                </a:prstGeom>
                <a:solidFill>
                  <a:srgbClr val="6E33C7"/>
                </a:solidFill>
                <a:ln w="5673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/>
                </a:p>
              </p:txBody>
            </p:sp>
          </p:grpSp>
          <p:sp>
            <p:nvSpPr>
              <p:cNvPr id="122" name="文本框 121"/>
              <p:cNvSpPr txBox="1"/>
              <p:nvPr/>
            </p:nvSpPr>
            <p:spPr>
              <a:xfrm>
                <a:off x="8161954" y="2266768"/>
                <a:ext cx="53412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>
                    <a:solidFill>
                      <a:srgbClr val="6F35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Model</a:t>
                </a:r>
                <a:endParaRPr lang="zh-CN" altLang="en-US" sz="1000" b="1" spc="0" baseline="0">
                  <a:solidFill>
                    <a:srgbClr val="6F35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8130056" y="2492725"/>
                <a:ext cx="78258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solidFill>
                      <a:srgbClr val="333333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for fallback</a:t>
                </a:r>
                <a:endParaRPr lang="zh-CN" altLang="en-US" sz="1000" spc="0" baseline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</p:grpSp>
      <p:grpSp>
        <p:nvGrpSpPr>
          <p:cNvPr id="124" name="图形 4"/>
          <p:cNvGrpSpPr/>
          <p:nvPr/>
        </p:nvGrpSpPr>
        <p:grpSpPr>
          <a:xfrm>
            <a:off x="9018343" y="778148"/>
            <a:ext cx="2738157" cy="1979895"/>
            <a:chOff x="9110943" y="1055944"/>
            <a:chExt cx="2738157" cy="1979895"/>
          </a:xfrm>
        </p:grpSpPr>
        <p:sp>
          <p:nvSpPr>
            <p:cNvPr id="125" name="圆角矩形 124"/>
            <p:cNvSpPr/>
            <p:nvPr/>
          </p:nvSpPr>
          <p:spPr>
            <a:xfrm>
              <a:off x="9110943" y="1055944"/>
              <a:ext cx="2613462" cy="1979895"/>
            </a:xfrm>
            <a:prstGeom prst="roundRect">
              <a:avLst>
                <a:gd name="adj" fmla="val 4666"/>
              </a:avLst>
            </a:prstGeom>
            <a:solidFill>
              <a:srgbClr val="F7FBF3"/>
            </a:solidFill>
            <a:ln w="13194" cap="flat">
              <a:solidFill>
                <a:srgbClr val="B8D495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26" name="圆角矩形 125"/>
            <p:cNvSpPr/>
            <p:nvPr/>
          </p:nvSpPr>
          <p:spPr>
            <a:xfrm>
              <a:off x="9216537" y="1115341"/>
              <a:ext cx="2309878" cy="250786"/>
            </a:xfrm>
            <a:prstGeom prst="roundRect">
              <a:avLst>
                <a:gd name="adj" fmla="val 26315"/>
              </a:avLst>
            </a:prstGeom>
            <a:solidFill>
              <a:srgbClr val="E5F2D8"/>
            </a:solidFill>
            <a:ln w="13194" cap="flat">
              <a:solidFill>
                <a:srgbClr val="B8D495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127" name="椭圆 126"/>
            <p:cNvSpPr/>
            <p:nvPr/>
          </p:nvSpPr>
          <p:spPr>
            <a:xfrm>
              <a:off x="9276889" y="1127546"/>
              <a:ext cx="224388" cy="224388"/>
            </a:xfrm>
            <a:prstGeom prst="ellipse">
              <a:avLst/>
            </a:prstGeom>
            <a:solidFill>
              <a:srgbClr val="6E9B34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9258196" y="1111425"/>
              <a:ext cx="26962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B</a:t>
              </a:r>
              <a:endParaRPr lang="zh-CN" altLang="en-US" sz="1000" b="1" spc="0" baseline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9502931" y="1119420"/>
              <a:ext cx="200635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spc="0" baseline="0" dirty="0">
                  <a:solidFill>
                    <a:srgbClr val="6E9B3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Offline Runtime Profiling</a:t>
              </a:r>
              <a:endParaRPr lang="zh-CN" altLang="en-US" sz="1000" b="1" spc="0" baseline="0" dirty="0">
                <a:solidFill>
                  <a:srgbClr val="6E9B34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30" name="圆角矩形 129"/>
            <p:cNvSpPr/>
            <p:nvPr/>
          </p:nvSpPr>
          <p:spPr>
            <a:xfrm>
              <a:off x="9275934" y="1465122"/>
              <a:ext cx="989947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9FC0F3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grpSp>
          <p:nvGrpSpPr>
            <p:cNvPr id="131" name="图形 4"/>
            <p:cNvGrpSpPr/>
            <p:nvPr/>
          </p:nvGrpSpPr>
          <p:grpSpPr>
            <a:xfrm>
              <a:off x="9389712" y="1602395"/>
              <a:ext cx="195613" cy="144136"/>
              <a:chOff x="9389712" y="1602395"/>
              <a:chExt cx="195613" cy="144136"/>
            </a:xfrm>
            <a:solidFill>
              <a:srgbClr val="000000"/>
            </a:solidFill>
          </p:grpSpPr>
          <p:sp>
            <p:nvSpPr>
              <p:cNvPr id="132" name="任意形状 131"/>
              <p:cNvSpPr/>
              <p:nvPr/>
            </p:nvSpPr>
            <p:spPr>
              <a:xfrm>
                <a:off x="9389712" y="1746531"/>
                <a:ext cx="195613" cy="6599"/>
              </a:xfrm>
              <a:custGeom>
                <a:avLst/>
                <a:gdLst>
                  <a:gd name="csX0" fmla="*/ 1350 w 195613"/>
                  <a:gd name="csY0" fmla="*/ 227 h 6599"/>
                  <a:gd name="csX1" fmla="*/ 196964 w 195613"/>
                  <a:gd name="csY1" fmla="*/ 227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95613" h="6599">
                    <a:moveTo>
                      <a:pt x="1350" y="227"/>
                    </a:moveTo>
                    <a:lnTo>
                      <a:pt x="196964" y="227"/>
                    </a:lnTo>
                  </a:path>
                </a:pathLst>
              </a:custGeom>
              <a:ln w="1337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33" name="任意形状 132"/>
              <p:cNvSpPr/>
              <p:nvPr/>
            </p:nvSpPr>
            <p:spPr>
              <a:xfrm>
                <a:off x="9389712" y="1602395"/>
                <a:ext cx="6599" cy="144136"/>
              </a:xfrm>
              <a:custGeom>
                <a:avLst/>
                <a:gdLst>
                  <a:gd name="csX0" fmla="*/ 1354 w 6599"/>
                  <a:gd name="csY0" fmla="*/ 230 h 144136"/>
                  <a:gd name="csX1" fmla="*/ 1354 w 6599"/>
                  <a:gd name="csY1" fmla="*/ 144366 h 1441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144136">
                    <a:moveTo>
                      <a:pt x="1354" y="230"/>
                    </a:moveTo>
                    <a:lnTo>
                      <a:pt x="1354" y="144366"/>
                    </a:lnTo>
                  </a:path>
                </a:pathLst>
              </a:custGeom>
              <a:ln w="1337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34" name="矩形 133"/>
              <p:cNvSpPr/>
              <p:nvPr/>
            </p:nvSpPr>
            <p:spPr>
              <a:xfrm>
                <a:off x="9415450" y="1695054"/>
                <a:ext cx="30886" cy="51477"/>
              </a:xfrm>
              <a:prstGeom prst="rect">
                <a:avLst/>
              </a:prstGeom>
              <a:solidFill>
                <a:srgbClr val="2D3369"/>
              </a:solidFill>
              <a:ln w="514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35" name="矩形 134"/>
              <p:cNvSpPr/>
              <p:nvPr/>
            </p:nvSpPr>
            <p:spPr>
              <a:xfrm>
                <a:off x="9466928" y="1653872"/>
                <a:ext cx="30886" cy="92659"/>
              </a:xfrm>
              <a:prstGeom prst="rect">
                <a:avLst/>
              </a:prstGeom>
              <a:solidFill>
                <a:srgbClr val="2D3369"/>
              </a:solidFill>
              <a:ln w="514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9518405" y="1612690"/>
                <a:ext cx="30886" cy="133840"/>
              </a:xfrm>
              <a:prstGeom prst="rect">
                <a:avLst/>
              </a:prstGeom>
              <a:solidFill>
                <a:srgbClr val="2D3369"/>
              </a:solidFill>
              <a:ln w="514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137" name="文本框 136"/>
            <p:cNvSpPr txBox="1"/>
            <p:nvPr/>
          </p:nvSpPr>
          <p:spPr>
            <a:xfrm>
              <a:off x="9512449" y="1580705"/>
              <a:ext cx="76655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Verifier Logs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377957" y="1803366"/>
              <a:ext cx="8210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traces / runtime</a:t>
              </a:r>
              <a:endParaRPr lang="zh-CN" altLang="en-US" sz="8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39" name="任意形状 138"/>
            <p:cNvSpPr/>
            <p:nvPr/>
          </p:nvSpPr>
          <p:spPr>
            <a:xfrm>
              <a:off x="10265882" y="1735708"/>
              <a:ext cx="204589" cy="6599"/>
            </a:xfrm>
            <a:custGeom>
              <a:avLst/>
              <a:gdLst>
                <a:gd name="csX0" fmla="*/ 0 w 204589"/>
                <a:gd name="csY0" fmla="*/ 0 h 6599"/>
                <a:gd name="csX1" fmla="*/ 204589 w 204589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04589" h="6599">
                  <a:moveTo>
                    <a:pt x="0" y="0"/>
                  </a:moveTo>
                  <a:lnTo>
                    <a:pt x="204589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40" name="圆角矩形 139"/>
            <p:cNvSpPr/>
            <p:nvPr/>
          </p:nvSpPr>
          <p:spPr>
            <a:xfrm>
              <a:off x="10483670" y="1465122"/>
              <a:ext cx="1088942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9FC0F3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141" name="图形 4"/>
            <p:cNvGrpSpPr/>
            <p:nvPr/>
          </p:nvGrpSpPr>
          <p:grpSpPr>
            <a:xfrm>
              <a:off x="10583193" y="1577844"/>
              <a:ext cx="230723" cy="210660"/>
              <a:chOff x="10583193" y="1577844"/>
              <a:chExt cx="230723" cy="210660"/>
            </a:xfrm>
            <a:solidFill>
              <a:srgbClr val="000000"/>
            </a:solidFill>
          </p:grpSpPr>
          <p:sp>
            <p:nvSpPr>
              <p:cNvPr id="142" name="圆角矩形 141"/>
              <p:cNvSpPr/>
              <p:nvPr/>
            </p:nvSpPr>
            <p:spPr>
              <a:xfrm>
                <a:off x="10583193" y="1577844"/>
                <a:ext cx="120377" cy="160503"/>
              </a:xfrm>
              <a:prstGeom prst="roundRect">
                <a:avLst>
                  <a:gd name="adj" fmla="val 12500"/>
                </a:avLst>
              </a:prstGeom>
              <a:noFill/>
              <a:ln w="1253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43" name="任意形状 142"/>
              <p:cNvSpPr/>
              <p:nvPr/>
            </p:nvSpPr>
            <p:spPr>
              <a:xfrm>
                <a:off x="10613287" y="1628001"/>
                <a:ext cx="60188" cy="6599"/>
              </a:xfrm>
              <a:custGeom>
                <a:avLst/>
                <a:gdLst>
                  <a:gd name="csX0" fmla="*/ 1532 w 60188"/>
                  <a:gd name="csY0" fmla="*/ 229 h 6599"/>
                  <a:gd name="csX1" fmla="*/ 61721 w 60188"/>
                  <a:gd name="csY1" fmla="*/ 229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0188" h="6599">
                    <a:moveTo>
                      <a:pt x="1532" y="229"/>
                    </a:moveTo>
                    <a:lnTo>
                      <a:pt x="61721" y="229"/>
                    </a:lnTo>
                  </a:path>
                </a:pathLst>
              </a:custGeom>
              <a:ln w="10027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44" name="任意形状 143"/>
              <p:cNvSpPr/>
              <p:nvPr/>
            </p:nvSpPr>
            <p:spPr>
              <a:xfrm>
                <a:off x="10613287" y="1663112"/>
                <a:ext cx="50157" cy="6599"/>
              </a:xfrm>
              <a:custGeom>
                <a:avLst/>
                <a:gdLst>
                  <a:gd name="csX0" fmla="*/ 1532 w 50157"/>
                  <a:gd name="csY0" fmla="*/ 227 h 6599"/>
                  <a:gd name="csX1" fmla="*/ 51690 w 50157"/>
                  <a:gd name="csY1" fmla="*/ 227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157" h="6599">
                    <a:moveTo>
                      <a:pt x="1532" y="227"/>
                    </a:moveTo>
                    <a:lnTo>
                      <a:pt x="51690" y="227"/>
                    </a:lnTo>
                  </a:path>
                </a:pathLst>
              </a:custGeom>
              <a:ln w="10027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45" name="椭圆 144"/>
              <p:cNvSpPr/>
              <p:nvPr/>
            </p:nvSpPr>
            <p:spPr>
              <a:xfrm>
                <a:off x="10688523" y="1663112"/>
                <a:ext cx="100314" cy="100314"/>
              </a:xfrm>
              <a:prstGeom prst="ellipse">
                <a:avLst/>
              </a:prstGeom>
              <a:noFill/>
              <a:ln w="1253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46" name="任意形状 145"/>
              <p:cNvSpPr/>
              <p:nvPr/>
            </p:nvSpPr>
            <p:spPr>
              <a:xfrm>
                <a:off x="10773791" y="1748379"/>
                <a:ext cx="40125" cy="40125"/>
              </a:xfrm>
              <a:custGeom>
                <a:avLst/>
                <a:gdLst>
                  <a:gd name="csX0" fmla="*/ 1525 w 40125"/>
                  <a:gd name="csY0" fmla="*/ 222 h 40125"/>
                  <a:gd name="csX1" fmla="*/ 41651 w 40125"/>
                  <a:gd name="csY1" fmla="*/ 40348 h 40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125" h="40125">
                    <a:moveTo>
                      <a:pt x="1525" y="222"/>
                    </a:moveTo>
                    <a:lnTo>
                      <a:pt x="41651" y="40348"/>
                    </a:lnTo>
                  </a:path>
                </a:pathLst>
              </a:custGeom>
              <a:ln w="1253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147" name="文本框 146"/>
            <p:cNvSpPr txBox="1"/>
            <p:nvPr/>
          </p:nvSpPr>
          <p:spPr>
            <a:xfrm>
              <a:off x="10805092" y="1522056"/>
              <a:ext cx="1044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SQL-state </a:t>
              </a:r>
              <a:endParaRPr lang="en-US" altLang="zh-CN" sz="9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  <a:p>
              <a:pPr algn="l"/>
              <a:r>
                <a:rPr lang="zh-CN" altLang="en-US" sz="9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Profile</a:t>
              </a:r>
              <a:endParaRPr lang="zh-CN" altLang="en-US" sz="9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10526665" y="1793841"/>
              <a:ext cx="10054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cost / coverage stats</a:t>
              </a:r>
              <a:endParaRPr lang="zh-CN" altLang="en-US" sz="8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49" name="任意形状 148"/>
            <p:cNvSpPr/>
            <p:nvPr/>
          </p:nvSpPr>
          <p:spPr>
            <a:xfrm>
              <a:off x="10417674" y="2006293"/>
              <a:ext cx="6599" cy="211188"/>
            </a:xfrm>
            <a:custGeom>
              <a:avLst/>
              <a:gdLst>
                <a:gd name="csX0" fmla="*/ 0 w 6599"/>
                <a:gd name="csY0" fmla="*/ 0 h 211188"/>
                <a:gd name="csX1" fmla="*/ 0 w 6599"/>
                <a:gd name="csY1" fmla="*/ 211189 h 211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211188">
                  <a:moveTo>
                    <a:pt x="0" y="0"/>
                  </a:moveTo>
                  <a:lnTo>
                    <a:pt x="0" y="211189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150" name="圆角矩形 149"/>
            <p:cNvSpPr/>
            <p:nvPr/>
          </p:nvSpPr>
          <p:spPr>
            <a:xfrm>
              <a:off x="9757708" y="2230682"/>
              <a:ext cx="1352928" cy="646765"/>
            </a:xfrm>
            <a:prstGeom prst="roundRect">
              <a:avLst>
                <a:gd name="adj" fmla="val 12244"/>
              </a:avLst>
            </a:prstGeom>
            <a:solidFill>
              <a:srgbClr val="FFFFFF"/>
            </a:solidFill>
            <a:ln w="13194" cap="flat">
              <a:solidFill>
                <a:srgbClr val="D3E6BC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151" name="图形 4"/>
            <p:cNvGrpSpPr/>
            <p:nvPr/>
          </p:nvGrpSpPr>
          <p:grpSpPr>
            <a:xfrm>
              <a:off x="9894717" y="2368218"/>
              <a:ext cx="211452" cy="144928"/>
              <a:chOff x="9894717" y="2368218"/>
              <a:chExt cx="211452" cy="144928"/>
            </a:xfrm>
            <a:solidFill>
              <a:srgbClr val="000000"/>
            </a:solidFill>
          </p:grpSpPr>
          <p:sp>
            <p:nvSpPr>
              <p:cNvPr id="152" name="任意形状 151"/>
              <p:cNvSpPr/>
              <p:nvPr/>
            </p:nvSpPr>
            <p:spPr>
              <a:xfrm>
                <a:off x="9894717" y="2513147"/>
                <a:ext cx="209076" cy="6599"/>
              </a:xfrm>
              <a:custGeom>
                <a:avLst/>
                <a:gdLst>
                  <a:gd name="csX0" fmla="*/ 1425 w 209076"/>
                  <a:gd name="csY0" fmla="*/ 341 h 6599"/>
                  <a:gd name="csX1" fmla="*/ 210502 w 209076"/>
                  <a:gd name="csY1" fmla="*/ 341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9076" h="6599">
                    <a:moveTo>
                      <a:pt x="1425" y="341"/>
                    </a:moveTo>
                    <a:lnTo>
                      <a:pt x="210502" y="341"/>
                    </a:lnTo>
                  </a:path>
                </a:pathLst>
              </a:custGeom>
              <a:ln w="114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53" name="任意形状 152"/>
              <p:cNvSpPr/>
              <p:nvPr/>
            </p:nvSpPr>
            <p:spPr>
              <a:xfrm>
                <a:off x="9894717" y="2370594"/>
                <a:ext cx="6599" cy="142552"/>
              </a:xfrm>
              <a:custGeom>
                <a:avLst/>
                <a:gdLst>
                  <a:gd name="csX0" fmla="*/ 1431 w 6599"/>
                  <a:gd name="csY0" fmla="*/ 142897 h 142552"/>
                  <a:gd name="csX1" fmla="*/ 1431 w 6599"/>
                  <a:gd name="csY1" fmla="*/ 345 h 1425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142552">
                    <a:moveTo>
                      <a:pt x="1431" y="142897"/>
                    </a:moveTo>
                    <a:lnTo>
                      <a:pt x="1431" y="345"/>
                    </a:lnTo>
                  </a:path>
                </a:pathLst>
              </a:custGeom>
              <a:ln w="114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54" name="任意形状 153"/>
              <p:cNvSpPr/>
              <p:nvPr/>
            </p:nvSpPr>
            <p:spPr>
              <a:xfrm>
                <a:off x="9904221" y="2380098"/>
                <a:ext cx="190069" cy="114041"/>
              </a:xfrm>
              <a:custGeom>
                <a:avLst/>
                <a:gdLst>
                  <a:gd name="csX0" fmla="*/ 1425 w 190069"/>
                  <a:gd name="csY0" fmla="*/ 114387 h 114041"/>
                  <a:gd name="csX1" fmla="*/ 48942 w 190069"/>
                  <a:gd name="csY1" fmla="*/ 85877 h 114041"/>
                  <a:gd name="csX2" fmla="*/ 96460 w 190069"/>
                  <a:gd name="csY2" fmla="*/ 66870 h 114041"/>
                  <a:gd name="csX3" fmla="*/ 143977 w 190069"/>
                  <a:gd name="csY3" fmla="*/ 28856 h 114041"/>
                  <a:gd name="csX4" fmla="*/ 191495 w 190069"/>
                  <a:gd name="csY4" fmla="*/ 345 h 1140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90069" h="114041">
                    <a:moveTo>
                      <a:pt x="1425" y="114387"/>
                    </a:moveTo>
                    <a:lnTo>
                      <a:pt x="48942" y="85877"/>
                    </a:lnTo>
                    <a:lnTo>
                      <a:pt x="96460" y="66870"/>
                    </a:lnTo>
                    <a:lnTo>
                      <a:pt x="143977" y="28856"/>
                    </a:lnTo>
                    <a:lnTo>
                      <a:pt x="191495" y="345"/>
                    </a:lnTo>
                  </a:path>
                </a:pathLst>
              </a:custGeom>
              <a:noFill/>
              <a:ln w="12350" cap="rnd">
                <a:solidFill>
                  <a:srgbClr val="2D336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55" name="椭圆 154"/>
              <p:cNvSpPr/>
              <p:nvPr/>
            </p:nvSpPr>
            <p:spPr>
              <a:xfrm>
                <a:off x="9939859" y="2453750"/>
                <a:ext cx="23758" cy="23758"/>
              </a:xfrm>
              <a:prstGeom prst="ellipse">
                <a:avLst/>
              </a:prstGeom>
              <a:solidFill>
                <a:srgbClr val="2D3369"/>
              </a:solidFill>
              <a:ln w="47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56" name="椭圆 155"/>
              <p:cNvSpPr/>
              <p:nvPr/>
            </p:nvSpPr>
            <p:spPr>
              <a:xfrm>
                <a:off x="9987376" y="2434743"/>
                <a:ext cx="23758" cy="23758"/>
              </a:xfrm>
              <a:prstGeom prst="ellipse">
                <a:avLst/>
              </a:prstGeom>
              <a:solidFill>
                <a:srgbClr val="2D3369"/>
              </a:solidFill>
              <a:ln w="47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10034894" y="2396729"/>
                <a:ext cx="23758" cy="23758"/>
              </a:xfrm>
              <a:prstGeom prst="ellipse">
                <a:avLst/>
              </a:prstGeom>
              <a:solidFill>
                <a:srgbClr val="2D3369"/>
              </a:solidFill>
              <a:ln w="47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58" name="椭圆 157"/>
              <p:cNvSpPr/>
              <p:nvPr/>
            </p:nvSpPr>
            <p:spPr>
              <a:xfrm>
                <a:off x="10082411" y="2368218"/>
                <a:ext cx="23758" cy="23758"/>
              </a:xfrm>
              <a:prstGeom prst="ellipse">
                <a:avLst/>
              </a:prstGeom>
              <a:solidFill>
                <a:srgbClr val="2D3369"/>
              </a:solidFill>
              <a:ln w="47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159" name="文本框 158"/>
            <p:cNvSpPr txBox="1"/>
            <p:nvPr/>
          </p:nvSpPr>
          <p:spPr>
            <a:xfrm>
              <a:off x="10044756" y="2323040"/>
              <a:ext cx="100380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Routing Policy π</a:t>
              </a:r>
              <a:endParaRPr lang="zh-CN" altLang="en-US" sz="9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60" name="文本框 159"/>
            <p:cNvSpPr txBox="1"/>
            <p:nvPr/>
          </p:nvSpPr>
          <p:spPr>
            <a:xfrm>
              <a:off x="10203921" y="2505924"/>
              <a:ext cx="4780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π(b | x)</a:t>
              </a:r>
              <a:endParaRPr lang="zh-CN" altLang="en-US" sz="8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9907130" y="2637917"/>
              <a:ext cx="109356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offline routing artifact</a:t>
              </a:r>
              <a:endParaRPr lang="zh-CN" altLang="en-US" sz="8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162" name="图形 4"/>
          <p:cNvGrpSpPr/>
          <p:nvPr/>
        </p:nvGrpSpPr>
        <p:grpSpPr>
          <a:xfrm>
            <a:off x="446698" y="3000707"/>
            <a:ext cx="11298604" cy="3299825"/>
            <a:chOff x="557793" y="3379021"/>
            <a:chExt cx="11298604" cy="3299825"/>
          </a:xfrm>
        </p:grpSpPr>
        <p:sp>
          <p:nvSpPr>
            <p:cNvPr id="163" name="圆角矩形 162"/>
            <p:cNvSpPr/>
            <p:nvPr/>
          </p:nvSpPr>
          <p:spPr>
            <a:xfrm>
              <a:off x="557793" y="3379021"/>
              <a:ext cx="11298604" cy="3299825"/>
            </a:xfrm>
            <a:prstGeom prst="roundRect">
              <a:avLst>
                <a:gd name="adj" fmla="val 2800"/>
              </a:avLst>
            </a:prstGeom>
            <a:solidFill>
              <a:srgbClr val="FFFFFF"/>
            </a:solidFill>
            <a:ln w="13194" cap="flat">
              <a:solidFill>
                <a:srgbClr val="9FD3AE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4364975" y="3406219"/>
              <a:ext cx="261642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1E8E3E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Stage II. Online SQL Equivalence Judgment</a:t>
              </a:r>
              <a:endParaRPr lang="zh-CN" altLang="en-US" sz="1000" b="1" spc="0" baseline="0" dirty="0">
                <a:solidFill>
                  <a:srgbClr val="1E8E3E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167" name="图形 4"/>
          <p:cNvGrpSpPr/>
          <p:nvPr/>
        </p:nvGrpSpPr>
        <p:grpSpPr>
          <a:xfrm>
            <a:off x="583987" y="3330846"/>
            <a:ext cx="2771853" cy="2783083"/>
            <a:chOff x="676587" y="3709003"/>
            <a:chExt cx="2771853" cy="2692657"/>
          </a:xfrm>
        </p:grpSpPr>
        <p:sp>
          <p:nvSpPr>
            <p:cNvPr id="168" name="圆角矩形 167"/>
            <p:cNvSpPr/>
            <p:nvPr/>
          </p:nvSpPr>
          <p:spPr>
            <a:xfrm>
              <a:off x="676587" y="3709003"/>
              <a:ext cx="2771853" cy="2692657"/>
            </a:xfrm>
            <a:prstGeom prst="roundRect">
              <a:avLst>
                <a:gd name="adj" fmla="val 3431"/>
              </a:avLst>
            </a:prstGeom>
            <a:solidFill>
              <a:srgbClr val="F7FAFF"/>
            </a:solidFill>
            <a:ln w="13194" cap="flat">
              <a:solidFill>
                <a:srgbClr val="AFC4E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69" name="圆角矩形 168"/>
            <p:cNvSpPr/>
            <p:nvPr/>
          </p:nvSpPr>
          <p:spPr>
            <a:xfrm>
              <a:off x="782181" y="3768400"/>
              <a:ext cx="2559646" cy="250786"/>
            </a:xfrm>
            <a:prstGeom prst="roundRect">
              <a:avLst>
                <a:gd name="adj" fmla="val 26315"/>
              </a:avLst>
            </a:prstGeom>
            <a:solidFill>
              <a:srgbClr val="E2ECFA"/>
            </a:solidFill>
            <a:ln w="13194" cap="flat">
              <a:solidFill>
                <a:srgbClr val="AFC4E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170" name="椭圆 169"/>
            <p:cNvSpPr/>
            <p:nvPr/>
          </p:nvSpPr>
          <p:spPr>
            <a:xfrm>
              <a:off x="861257" y="3781065"/>
              <a:ext cx="224388" cy="224388"/>
            </a:xfrm>
            <a:prstGeom prst="ellipse">
              <a:avLst/>
            </a:prstGeom>
            <a:solidFill>
              <a:srgbClr val="4F79BD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849012" y="376741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1</a:t>
              </a:r>
              <a:endParaRPr lang="zh-CN" altLang="en-US" sz="1000" b="1" spc="0" baseline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1095776" y="3764354"/>
              <a:ext cx="22371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spc="0" baseline="0" dirty="0">
                  <a:solidFill>
                    <a:srgbClr val="4E79BD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Input Analysis and Routing</a:t>
              </a:r>
              <a:endParaRPr lang="zh-CN" altLang="en-US" sz="1000" b="1" spc="0" baseline="0" dirty="0">
                <a:solidFill>
                  <a:srgbClr val="4E79BD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73" name="圆角矩形 172"/>
            <p:cNvSpPr/>
            <p:nvPr/>
          </p:nvSpPr>
          <p:spPr>
            <a:xfrm>
              <a:off x="808580" y="4091783"/>
              <a:ext cx="607168" cy="382779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174" name="图形 4"/>
            <p:cNvGrpSpPr/>
            <p:nvPr/>
          </p:nvGrpSpPr>
          <p:grpSpPr>
            <a:xfrm>
              <a:off x="918398" y="4182594"/>
              <a:ext cx="95034" cy="133048"/>
              <a:chOff x="918398" y="4182594"/>
              <a:chExt cx="95034" cy="133048"/>
            </a:xfrm>
            <a:solidFill>
              <a:srgbClr val="000000"/>
            </a:solidFill>
          </p:grpSpPr>
          <p:sp>
            <p:nvSpPr>
              <p:cNvPr id="175" name="圆角矩形 174"/>
              <p:cNvSpPr/>
              <p:nvPr/>
            </p:nvSpPr>
            <p:spPr>
              <a:xfrm>
                <a:off x="918398" y="4182594"/>
                <a:ext cx="95034" cy="133048"/>
              </a:xfrm>
              <a:prstGeom prst="roundRect">
                <a:avLst>
                  <a:gd name="adj" fmla="val 20000"/>
                </a:avLst>
              </a:prstGeom>
              <a:noFill/>
              <a:ln w="133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76" name="任意形状 175"/>
              <p:cNvSpPr/>
              <p:nvPr/>
            </p:nvSpPr>
            <p:spPr>
              <a:xfrm>
                <a:off x="942157" y="4220608"/>
                <a:ext cx="47517" cy="6599"/>
              </a:xfrm>
              <a:custGeom>
                <a:avLst/>
                <a:gdLst>
                  <a:gd name="csX0" fmla="*/ 64 w 47517"/>
                  <a:gd name="csY0" fmla="*/ 624 h 6599"/>
                  <a:gd name="csX1" fmla="*/ 47581 w 47517"/>
                  <a:gd name="csY1" fmla="*/ 624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17" h="6599">
                    <a:moveTo>
                      <a:pt x="64" y="624"/>
                    </a:moveTo>
                    <a:lnTo>
                      <a:pt x="47581" y="624"/>
                    </a:lnTo>
                  </a:path>
                </a:pathLst>
              </a:custGeom>
              <a:ln w="95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77" name="任意形状 176"/>
              <p:cNvSpPr/>
              <p:nvPr/>
            </p:nvSpPr>
            <p:spPr>
              <a:xfrm>
                <a:off x="942157" y="4249119"/>
                <a:ext cx="47517" cy="6599"/>
              </a:xfrm>
              <a:custGeom>
                <a:avLst/>
                <a:gdLst>
                  <a:gd name="csX0" fmla="*/ 64 w 47517"/>
                  <a:gd name="csY0" fmla="*/ 622 h 6599"/>
                  <a:gd name="csX1" fmla="*/ 47581 w 47517"/>
                  <a:gd name="csY1" fmla="*/ 622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17" h="6599">
                    <a:moveTo>
                      <a:pt x="64" y="622"/>
                    </a:moveTo>
                    <a:lnTo>
                      <a:pt x="47581" y="622"/>
                    </a:lnTo>
                  </a:path>
                </a:pathLst>
              </a:custGeom>
              <a:ln w="95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78" name="任意形状 177"/>
              <p:cNvSpPr/>
              <p:nvPr/>
            </p:nvSpPr>
            <p:spPr>
              <a:xfrm>
                <a:off x="942157" y="4277629"/>
                <a:ext cx="47517" cy="6599"/>
              </a:xfrm>
              <a:custGeom>
                <a:avLst/>
                <a:gdLst>
                  <a:gd name="csX0" fmla="*/ 64 w 47517"/>
                  <a:gd name="csY0" fmla="*/ 620 h 6599"/>
                  <a:gd name="csX1" fmla="*/ 47581 w 47517"/>
                  <a:gd name="csY1" fmla="*/ 620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17" h="6599">
                    <a:moveTo>
                      <a:pt x="64" y="620"/>
                    </a:moveTo>
                    <a:lnTo>
                      <a:pt x="47581" y="620"/>
                    </a:lnTo>
                  </a:path>
                </a:pathLst>
              </a:custGeom>
              <a:ln w="95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179" name="文本框 178"/>
            <p:cNvSpPr txBox="1"/>
            <p:nvPr/>
          </p:nvSpPr>
          <p:spPr>
            <a:xfrm>
              <a:off x="937185" y="4150525"/>
              <a:ext cx="47801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SQL A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80" name="圆角矩形 179"/>
            <p:cNvSpPr/>
            <p:nvPr/>
          </p:nvSpPr>
          <p:spPr>
            <a:xfrm>
              <a:off x="1547741" y="4091783"/>
              <a:ext cx="607168" cy="382779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181" name="图形 4"/>
            <p:cNvGrpSpPr/>
            <p:nvPr/>
          </p:nvGrpSpPr>
          <p:grpSpPr>
            <a:xfrm>
              <a:off x="1657559" y="4182594"/>
              <a:ext cx="95034" cy="133048"/>
              <a:chOff x="1657559" y="4182594"/>
              <a:chExt cx="95034" cy="133048"/>
            </a:xfrm>
            <a:solidFill>
              <a:srgbClr val="000000"/>
            </a:solidFill>
          </p:grpSpPr>
          <p:sp>
            <p:nvSpPr>
              <p:cNvPr id="182" name="圆角矩形 181"/>
              <p:cNvSpPr/>
              <p:nvPr/>
            </p:nvSpPr>
            <p:spPr>
              <a:xfrm>
                <a:off x="1657559" y="4182594"/>
                <a:ext cx="95034" cy="133048"/>
              </a:xfrm>
              <a:prstGeom prst="roundRect">
                <a:avLst>
                  <a:gd name="adj" fmla="val 20000"/>
                </a:avLst>
              </a:prstGeom>
              <a:noFill/>
              <a:ln w="133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83" name="任意形状 182"/>
              <p:cNvSpPr/>
              <p:nvPr/>
            </p:nvSpPr>
            <p:spPr>
              <a:xfrm>
                <a:off x="1681318" y="4220608"/>
                <a:ext cx="47517" cy="6599"/>
              </a:xfrm>
              <a:custGeom>
                <a:avLst/>
                <a:gdLst>
                  <a:gd name="csX0" fmla="*/ 176 w 47517"/>
                  <a:gd name="csY0" fmla="*/ 624 h 6599"/>
                  <a:gd name="csX1" fmla="*/ 47693 w 47517"/>
                  <a:gd name="csY1" fmla="*/ 624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17" h="6599">
                    <a:moveTo>
                      <a:pt x="176" y="624"/>
                    </a:moveTo>
                    <a:lnTo>
                      <a:pt x="47693" y="624"/>
                    </a:lnTo>
                  </a:path>
                </a:pathLst>
              </a:custGeom>
              <a:ln w="95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84" name="任意形状 183"/>
              <p:cNvSpPr/>
              <p:nvPr/>
            </p:nvSpPr>
            <p:spPr>
              <a:xfrm>
                <a:off x="1681318" y="4249119"/>
                <a:ext cx="47517" cy="6599"/>
              </a:xfrm>
              <a:custGeom>
                <a:avLst/>
                <a:gdLst>
                  <a:gd name="csX0" fmla="*/ 176 w 47517"/>
                  <a:gd name="csY0" fmla="*/ 622 h 6599"/>
                  <a:gd name="csX1" fmla="*/ 47693 w 47517"/>
                  <a:gd name="csY1" fmla="*/ 622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17" h="6599">
                    <a:moveTo>
                      <a:pt x="176" y="622"/>
                    </a:moveTo>
                    <a:lnTo>
                      <a:pt x="47693" y="622"/>
                    </a:lnTo>
                  </a:path>
                </a:pathLst>
              </a:custGeom>
              <a:ln w="95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85" name="任意形状 184"/>
              <p:cNvSpPr/>
              <p:nvPr/>
            </p:nvSpPr>
            <p:spPr>
              <a:xfrm>
                <a:off x="1681318" y="4277629"/>
                <a:ext cx="47517" cy="6599"/>
              </a:xfrm>
              <a:custGeom>
                <a:avLst/>
                <a:gdLst>
                  <a:gd name="csX0" fmla="*/ 176 w 47517"/>
                  <a:gd name="csY0" fmla="*/ 620 h 6599"/>
                  <a:gd name="csX1" fmla="*/ 47693 w 47517"/>
                  <a:gd name="csY1" fmla="*/ 620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7517" h="6599">
                    <a:moveTo>
                      <a:pt x="176" y="620"/>
                    </a:moveTo>
                    <a:lnTo>
                      <a:pt x="47693" y="620"/>
                    </a:lnTo>
                  </a:path>
                </a:pathLst>
              </a:custGeom>
              <a:ln w="950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186" name="文本框 185"/>
            <p:cNvSpPr txBox="1"/>
            <p:nvPr/>
          </p:nvSpPr>
          <p:spPr>
            <a:xfrm>
              <a:off x="1676346" y="4157298"/>
              <a:ext cx="47320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SQL B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87" name="圆角矩形 186"/>
            <p:cNvSpPr/>
            <p:nvPr/>
          </p:nvSpPr>
          <p:spPr>
            <a:xfrm>
              <a:off x="2286902" y="4091783"/>
              <a:ext cx="725961" cy="382779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188" name="图形 4"/>
            <p:cNvGrpSpPr/>
            <p:nvPr/>
          </p:nvGrpSpPr>
          <p:grpSpPr>
            <a:xfrm>
              <a:off x="2362402" y="4167283"/>
              <a:ext cx="247090" cy="180566"/>
              <a:chOff x="2362402" y="4167283"/>
              <a:chExt cx="247090" cy="180566"/>
            </a:xfrm>
            <a:solidFill>
              <a:srgbClr val="000000"/>
            </a:solidFill>
          </p:grpSpPr>
          <p:sp>
            <p:nvSpPr>
              <p:cNvPr id="189" name="矩形 188"/>
              <p:cNvSpPr/>
              <p:nvPr/>
            </p:nvSpPr>
            <p:spPr>
              <a:xfrm>
                <a:off x="2457437" y="4167283"/>
                <a:ext cx="57020" cy="47517"/>
              </a:xfrm>
              <a:prstGeom prst="rect">
                <a:avLst/>
              </a:prstGeom>
              <a:noFill/>
              <a:ln w="1235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2362402" y="4300332"/>
                <a:ext cx="57020" cy="47517"/>
              </a:xfrm>
              <a:prstGeom prst="rect">
                <a:avLst/>
              </a:prstGeom>
              <a:noFill/>
              <a:ln w="1235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2457437" y="4300332"/>
                <a:ext cx="57020" cy="47517"/>
              </a:xfrm>
              <a:prstGeom prst="rect">
                <a:avLst/>
              </a:prstGeom>
              <a:noFill/>
              <a:ln w="1235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2552472" y="4300332"/>
                <a:ext cx="57020" cy="47517"/>
              </a:xfrm>
              <a:prstGeom prst="rect">
                <a:avLst/>
              </a:prstGeom>
              <a:noFill/>
              <a:ln w="12350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3" name="任意形状 192"/>
              <p:cNvSpPr/>
              <p:nvPr/>
            </p:nvSpPr>
            <p:spPr>
              <a:xfrm>
                <a:off x="2485948" y="4214801"/>
                <a:ext cx="6599" cy="57020"/>
              </a:xfrm>
              <a:custGeom>
                <a:avLst/>
                <a:gdLst>
                  <a:gd name="csX0" fmla="*/ 288 w 6599"/>
                  <a:gd name="csY0" fmla="*/ 625 h 57020"/>
                  <a:gd name="csX1" fmla="*/ 288 w 6599"/>
                  <a:gd name="csY1" fmla="*/ 57646 h 570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57020">
                    <a:moveTo>
                      <a:pt x="288" y="625"/>
                    </a:moveTo>
                    <a:lnTo>
                      <a:pt x="288" y="57646"/>
                    </a:lnTo>
                  </a:path>
                </a:pathLst>
              </a:custGeom>
              <a:ln w="1092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4" name="任意形状 193"/>
              <p:cNvSpPr/>
              <p:nvPr/>
            </p:nvSpPr>
            <p:spPr>
              <a:xfrm>
                <a:off x="2390913" y="4271822"/>
                <a:ext cx="190069" cy="6599"/>
              </a:xfrm>
              <a:custGeom>
                <a:avLst/>
                <a:gdLst>
                  <a:gd name="csX0" fmla="*/ 288 w 190069"/>
                  <a:gd name="csY0" fmla="*/ 623 h 6599"/>
                  <a:gd name="csX1" fmla="*/ 190358 w 190069"/>
                  <a:gd name="csY1" fmla="*/ 623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90069" h="6599">
                    <a:moveTo>
                      <a:pt x="288" y="623"/>
                    </a:moveTo>
                    <a:lnTo>
                      <a:pt x="190358" y="623"/>
                    </a:lnTo>
                  </a:path>
                </a:pathLst>
              </a:custGeom>
              <a:ln w="1092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5" name="任意形状 194"/>
              <p:cNvSpPr/>
              <p:nvPr/>
            </p:nvSpPr>
            <p:spPr>
              <a:xfrm>
                <a:off x="2390913" y="4271822"/>
                <a:ext cx="6599" cy="28510"/>
              </a:xfrm>
              <a:custGeom>
                <a:avLst/>
                <a:gdLst>
                  <a:gd name="csX0" fmla="*/ 294 w 6599"/>
                  <a:gd name="csY0" fmla="*/ 622 h 28510"/>
                  <a:gd name="csX1" fmla="*/ 294 w 6599"/>
                  <a:gd name="csY1" fmla="*/ 29133 h 28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8510">
                    <a:moveTo>
                      <a:pt x="294" y="622"/>
                    </a:moveTo>
                    <a:lnTo>
                      <a:pt x="294" y="29133"/>
                    </a:lnTo>
                  </a:path>
                </a:pathLst>
              </a:custGeom>
              <a:ln w="1092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6" name="任意形状 195"/>
              <p:cNvSpPr/>
              <p:nvPr/>
            </p:nvSpPr>
            <p:spPr>
              <a:xfrm>
                <a:off x="2485948" y="4271822"/>
                <a:ext cx="6599" cy="28510"/>
              </a:xfrm>
              <a:custGeom>
                <a:avLst/>
                <a:gdLst>
                  <a:gd name="csX0" fmla="*/ 288 w 6599"/>
                  <a:gd name="csY0" fmla="*/ 622 h 28510"/>
                  <a:gd name="csX1" fmla="*/ 288 w 6599"/>
                  <a:gd name="csY1" fmla="*/ 29133 h 28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8510">
                    <a:moveTo>
                      <a:pt x="288" y="622"/>
                    </a:moveTo>
                    <a:lnTo>
                      <a:pt x="288" y="29133"/>
                    </a:lnTo>
                  </a:path>
                </a:pathLst>
              </a:custGeom>
              <a:ln w="1092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197" name="任意形状 196"/>
              <p:cNvSpPr/>
              <p:nvPr/>
            </p:nvSpPr>
            <p:spPr>
              <a:xfrm>
                <a:off x="2580983" y="4271822"/>
                <a:ext cx="6599" cy="28510"/>
              </a:xfrm>
              <a:custGeom>
                <a:avLst/>
                <a:gdLst>
                  <a:gd name="csX0" fmla="*/ 283 w 6599"/>
                  <a:gd name="csY0" fmla="*/ 622 h 28510"/>
                  <a:gd name="csX1" fmla="*/ 283 w 6599"/>
                  <a:gd name="csY1" fmla="*/ 29133 h 28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8510">
                    <a:moveTo>
                      <a:pt x="283" y="622"/>
                    </a:moveTo>
                    <a:lnTo>
                      <a:pt x="283" y="29133"/>
                    </a:lnTo>
                  </a:path>
                </a:pathLst>
              </a:custGeom>
              <a:ln w="1092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198" name="文本框 197"/>
            <p:cNvSpPr txBox="1"/>
            <p:nvPr/>
          </p:nvSpPr>
          <p:spPr>
            <a:xfrm>
              <a:off x="2552779" y="4150525"/>
              <a:ext cx="50847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Schema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99" name="任意形状 198"/>
            <p:cNvSpPr/>
            <p:nvPr/>
          </p:nvSpPr>
          <p:spPr>
            <a:xfrm>
              <a:off x="1125363" y="4474563"/>
              <a:ext cx="740282" cy="348449"/>
            </a:xfrm>
            <a:custGeom>
              <a:avLst/>
              <a:gdLst>
                <a:gd name="csX0" fmla="*/ 0 w 1544318"/>
                <a:gd name="csY0" fmla="*/ 0 h 316783"/>
                <a:gd name="csX1" fmla="*/ 0 w 1544318"/>
                <a:gd name="csY1" fmla="*/ 145192 h 316783"/>
                <a:gd name="csX2" fmla="*/ 1544319 w 1544318"/>
                <a:gd name="csY2" fmla="*/ 145192 h 316783"/>
                <a:gd name="csX3" fmla="*/ 1544319 w 1544318"/>
                <a:gd name="csY3" fmla="*/ 316783 h 3167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44318" h="316783">
                  <a:moveTo>
                    <a:pt x="0" y="0"/>
                  </a:moveTo>
                  <a:lnTo>
                    <a:pt x="0" y="145192"/>
                  </a:lnTo>
                  <a:lnTo>
                    <a:pt x="1544319" y="145192"/>
                  </a:lnTo>
                  <a:lnTo>
                    <a:pt x="1544319" y="316783"/>
                  </a:lnTo>
                </a:path>
              </a:pathLst>
            </a:custGeom>
            <a:noFill/>
            <a:ln w="19791" cap="flat">
              <a:solidFill>
                <a:srgbClr val="4F79BD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200" name="任意形状 199"/>
            <p:cNvSpPr/>
            <p:nvPr/>
          </p:nvSpPr>
          <p:spPr>
            <a:xfrm>
              <a:off x="1864524" y="4474563"/>
              <a:ext cx="805157" cy="145192"/>
            </a:xfrm>
            <a:custGeom>
              <a:avLst/>
              <a:gdLst>
                <a:gd name="csX0" fmla="*/ 0 w 805157"/>
                <a:gd name="csY0" fmla="*/ 0 h 145192"/>
                <a:gd name="csX1" fmla="*/ 0 w 805157"/>
                <a:gd name="csY1" fmla="*/ 145192 h 145192"/>
                <a:gd name="csX2" fmla="*/ 805158 w 805157"/>
                <a:gd name="csY2" fmla="*/ 0 h 145192"/>
                <a:gd name="csX3" fmla="*/ 805158 w 805157"/>
                <a:gd name="csY3" fmla="*/ 145192 h 145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05157" h="145192">
                  <a:moveTo>
                    <a:pt x="0" y="0"/>
                  </a:moveTo>
                  <a:lnTo>
                    <a:pt x="0" y="145192"/>
                  </a:lnTo>
                  <a:moveTo>
                    <a:pt x="805158" y="0"/>
                  </a:moveTo>
                  <a:lnTo>
                    <a:pt x="805158" y="145192"/>
                  </a:lnTo>
                </a:path>
              </a:pathLst>
            </a:custGeom>
            <a:noFill/>
            <a:ln w="19791" cap="flat">
              <a:solidFill>
                <a:srgbClr val="4F79BD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01" name="圆角矩形 200"/>
            <p:cNvSpPr/>
            <p:nvPr/>
          </p:nvSpPr>
          <p:spPr>
            <a:xfrm>
              <a:off x="1244157" y="4804545"/>
              <a:ext cx="1418925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D4E0F5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202" name="图形 4"/>
            <p:cNvGrpSpPr/>
            <p:nvPr/>
          </p:nvGrpSpPr>
          <p:grpSpPr>
            <a:xfrm>
              <a:off x="1377734" y="4924923"/>
              <a:ext cx="236795" cy="216204"/>
              <a:chOff x="1377734" y="4924923"/>
              <a:chExt cx="236795" cy="216204"/>
            </a:xfrm>
            <a:solidFill>
              <a:srgbClr val="000000"/>
            </a:solidFill>
          </p:grpSpPr>
          <p:sp>
            <p:nvSpPr>
              <p:cNvPr id="203" name="圆角矩形 202"/>
              <p:cNvSpPr/>
              <p:nvPr/>
            </p:nvSpPr>
            <p:spPr>
              <a:xfrm>
                <a:off x="1377734" y="4924923"/>
                <a:ext cx="123545" cy="164727"/>
              </a:xfrm>
              <a:prstGeom prst="roundRect">
                <a:avLst>
                  <a:gd name="adj" fmla="val 12500"/>
                </a:avLst>
              </a:prstGeom>
              <a:noFill/>
              <a:ln w="1286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04" name="任意形状 203"/>
              <p:cNvSpPr/>
              <p:nvPr/>
            </p:nvSpPr>
            <p:spPr>
              <a:xfrm>
                <a:off x="1408620" y="4976400"/>
                <a:ext cx="61772" cy="6599"/>
              </a:xfrm>
              <a:custGeom>
                <a:avLst/>
                <a:gdLst>
                  <a:gd name="csX0" fmla="*/ 138 w 61772"/>
                  <a:gd name="csY0" fmla="*/ 736 h 6599"/>
                  <a:gd name="csX1" fmla="*/ 61910 w 61772"/>
                  <a:gd name="csY1" fmla="*/ 736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1772" h="6599">
                    <a:moveTo>
                      <a:pt x="138" y="736"/>
                    </a:moveTo>
                    <a:lnTo>
                      <a:pt x="61910" y="736"/>
                    </a:lnTo>
                  </a:path>
                </a:pathLst>
              </a:custGeom>
              <a:ln w="10291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05" name="任意形状 204"/>
              <p:cNvSpPr/>
              <p:nvPr/>
            </p:nvSpPr>
            <p:spPr>
              <a:xfrm>
                <a:off x="1408620" y="5012434"/>
                <a:ext cx="51477" cy="6599"/>
              </a:xfrm>
              <a:custGeom>
                <a:avLst/>
                <a:gdLst>
                  <a:gd name="csX0" fmla="*/ 138 w 51477"/>
                  <a:gd name="csY0" fmla="*/ 735 h 6599"/>
                  <a:gd name="csX1" fmla="*/ 51615 w 51477"/>
                  <a:gd name="csY1" fmla="*/ 735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1477" h="6599">
                    <a:moveTo>
                      <a:pt x="138" y="735"/>
                    </a:moveTo>
                    <a:lnTo>
                      <a:pt x="51615" y="735"/>
                    </a:lnTo>
                  </a:path>
                </a:pathLst>
              </a:custGeom>
              <a:ln w="10291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06" name="椭圆 205"/>
              <p:cNvSpPr/>
              <p:nvPr/>
            </p:nvSpPr>
            <p:spPr>
              <a:xfrm>
                <a:off x="1485836" y="5012434"/>
                <a:ext cx="102954" cy="102954"/>
              </a:xfrm>
              <a:prstGeom prst="ellipse">
                <a:avLst/>
              </a:prstGeom>
              <a:noFill/>
              <a:ln w="1286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07" name="任意形状 206"/>
              <p:cNvSpPr/>
              <p:nvPr/>
            </p:nvSpPr>
            <p:spPr>
              <a:xfrm>
                <a:off x="1573348" y="5099946"/>
                <a:ext cx="41181" cy="41181"/>
              </a:xfrm>
              <a:custGeom>
                <a:avLst/>
                <a:gdLst>
                  <a:gd name="csX0" fmla="*/ 131 w 41181"/>
                  <a:gd name="csY0" fmla="*/ 730 h 41181"/>
                  <a:gd name="csX1" fmla="*/ 41313 w 41181"/>
                  <a:gd name="csY1" fmla="*/ 41912 h 41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1181" h="41181">
                    <a:moveTo>
                      <a:pt x="131" y="730"/>
                    </a:moveTo>
                    <a:lnTo>
                      <a:pt x="41313" y="41912"/>
                    </a:lnTo>
                  </a:path>
                </a:pathLst>
              </a:custGeom>
              <a:ln w="1286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08" name="文本框 207"/>
            <p:cNvSpPr txBox="1"/>
            <p:nvPr/>
          </p:nvSpPr>
          <p:spPr>
            <a:xfrm>
              <a:off x="1517022" y="4924421"/>
              <a:ext cx="124906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SQL Feature Extraction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09" name="文本框 208"/>
            <p:cNvSpPr txBox="1"/>
            <p:nvPr/>
          </p:nvSpPr>
          <p:spPr>
            <a:xfrm>
              <a:off x="1216696" y="5079788"/>
              <a:ext cx="152638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x: structure, states and cost clues</a:t>
              </a:r>
              <a:endParaRPr lang="zh-CN" altLang="en-US" sz="8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10" name="任意形状 209"/>
            <p:cNvSpPr/>
            <p:nvPr/>
          </p:nvSpPr>
          <p:spPr>
            <a:xfrm>
              <a:off x="1956919" y="5345717"/>
              <a:ext cx="6599" cy="230987"/>
            </a:xfrm>
            <a:custGeom>
              <a:avLst/>
              <a:gdLst>
                <a:gd name="csX0" fmla="*/ 0 w 6599"/>
                <a:gd name="csY0" fmla="*/ 0 h 230987"/>
                <a:gd name="csX1" fmla="*/ 0 w 6599"/>
                <a:gd name="csY1" fmla="*/ 230988 h 230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230987">
                  <a:moveTo>
                    <a:pt x="0" y="0"/>
                  </a:moveTo>
                  <a:lnTo>
                    <a:pt x="0" y="230988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11" name="圆角矩形 210"/>
            <p:cNvSpPr/>
            <p:nvPr/>
          </p:nvSpPr>
          <p:spPr>
            <a:xfrm>
              <a:off x="1138563" y="5596504"/>
              <a:ext cx="1649913" cy="659965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3194" cap="flat">
              <a:solidFill>
                <a:srgbClr val="D4E0F5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212" name="图形 4"/>
            <p:cNvGrpSpPr/>
            <p:nvPr/>
          </p:nvGrpSpPr>
          <p:grpSpPr>
            <a:xfrm>
              <a:off x="1256828" y="5747504"/>
              <a:ext cx="234419" cy="130884"/>
              <a:chOff x="1256828" y="5747504"/>
              <a:chExt cx="234419" cy="130884"/>
            </a:xfrm>
            <a:solidFill>
              <a:srgbClr val="000000"/>
            </a:solidFill>
          </p:grpSpPr>
          <p:sp>
            <p:nvSpPr>
              <p:cNvPr id="213" name="任意形状 212"/>
              <p:cNvSpPr/>
              <p:nvPr/>
            </p:nvSpPr>
            <p:spPr>
              <a:xfrm>
                <a:off x="1256828" y="5747504"/>
                <a:ext cx="234419" cy="117209"/>
              </a:xfrm>
              <a:custGeom>
                <a:avLst/>
                <a:gdLst>
                  <a:gd name="csX0" fmla="*/ 116 w 234419"/>
                  <a:gd name="csY0" fmla="*/ 118066 h 117209"/>
                  <a:gd name="csX1" fmla="*/ 117326 w 234419"/>
                  <a:gd name="csY1" fmla="*/ 856 h 117209"/>
                  <a:gd name="csX2" fmla="*/ 234535 w 234419"/>
                  <a:gd name="csY2" fmla="*/ 118066 h 1172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34419" h="117209">
                    <a:moveTo>
                      <a:pt x="116" y="118066"/>
                    </a:moveTo>
                    <a:cubicBezTo>
                      <a:pt x="116" y="53332"/>
                      <a:pt x="52592" y="856"/>
                      <a:pt x="117326" y="856"/>
                    </a:cubicBezTo>
                    <a:cubicBezTo>
                      <a:pt x="182059" y="856"/>
                      <a:pt x="234535" y="53332"/>
                      <a:pt x="234535" y="118066"/>
                    </a:cubicBezTo>
                  </a:path>
                </a:pathLst>
              </a:custGeom>
              <a:noFill/>
              <a:ln w="12693" cap="rnd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14" name="任意形状 213"/>
              <p:cNvSpPr/>
              <p:nvPr/>
            </p:nvSpPr>
            <p:spPr>
              <a:xfrm>
                <a:off x="1374038" y="5806108"/>
                <a:ext cx="68372" cy="58604"/>
              </a:xfrm>
              <a:custGeom>
                <a:avLst/>
                <a:gdLst>
                  <a:gd name="csX0" fmla="*/ 114 w 68372"/>
                  <a:gd name="csY0" fmla="*/ 59459 h 58604"/>
                  <a:gd name="csX1" fmla="*/ 68486 w 68372"/>
                  <a:gd name="csY1" fmla="*/ 854 h 586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8372" h="58604">
                    <a:moveTo>
                      <a:pt x="114" y="59459"/>
                    </a:moveTo>
                    <a:lnTo>
                      <a:pt x="68486" y="854"/>
                    </a:lnTo>
                  </a:path>
                </a:pathLst>
              </a:custGeom>
              <a:ln w="12693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15" name="椭圆 214"/>
              <p:cNvSpPr/>
              <p:nvPr/>
            </p:nvSpPr>
            <p:spPr>
              <a:xfrm>
                <a:off x="1360364" y="5851039"/>
                <a:ext cx="27348" cy="27348"/>
              </a:xfrm>
              <a:prstGeom prst="ellipse">
                <a:avLst/>
              </a:prstGeom>
              <a:solidFill>
                <a:srgbClr val="2D3369"/>
              </a:solidFill>
              <a:ln w="488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16" name="任意形状 215"/>
              <p:cNvSpPr/>
              <p:nvPr/>
            </p:nvSpPr>
            <p:spPr>
              <a:xfrm>
                <a:off x="1295898" y="5835411"/>
                <a:ext cx="6599" cy="29302"/>
              </a:xfrm>
              <a:custGeom>
                <a:avLst/>
                <a:gdLst>
                  <a:gd name="csX0" fmla="*/ 120 w 6599"/>
                  <a:gd name="csY0" fmla="*/ 30156 h 29302"/>
                  <a:gd name="csX1" fmla="*/ 120 w 6599"/>
                  <a:gd name="csY1" fmla="*/ 853 h 29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9302">
                    <a:moveTo>
                      <a:pt x="120" y="30156"/>
                    </a:moveTo>
                    <a:lnTo>
                      <a:pt x="120" y="853"/>
                    </a:lnTo>
                  </a:path>
                </a:pathLst>
              </a:custGeom>
              <a:ln w="9764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17" name="任意形状 216"/>
              <p:cNvSpPr/>
              <p:nvPr/>
            </p:nvSpPr>
            <p:spPr>
              <a:xfrm>
                <a:off x="1452178" y="5835411"/>
                <a:ext cx="6599" cy="29302"/>
              </a:xfrm>
              <a:custGeom>
                <a:avLst/>
                <a:gdLst>
                  <a:gd name="csX0" fmla="*/ 112 w 6599"/>
                  <a:gd name="csY0" fmla="*/ 30156 h 29302"/>
                  <a:gd name="csX1" fmla="*/ 112 w 6599"/>
                  <a:gd name="csY1" fmla="*/ 853 h 29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9302">
                    <a:moveTo>
                      <a:pt x="112" y="30156"/>
                    </a:moveTo>
                    <a:lnTo>
                      <a:pt x="112" y="853"/>
                    </a:lnTo>
                  </a:path>
                </a:pathLst>
              </a:custGeom>
              <a:ln w="9764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18" name="文本框 217"/>
            <p:cNvSpPr txBox="1"/>
            <p:nvPr/>
          </p:nvSpPr>
          <p:spPr>
            <a:xfrm>
              <a:off x="1436360" y="5696059"/>
              <a:ext cx="11833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Dynamic Profile-based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1497571" y="5854103"/>
              <a:ext cx="83067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Budget Router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1260532" y="6030138"/>
              <a:ext cx="1297150" cy="20005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selects budget B</a:t>
              </a:r>
              <a:r>
                <a:rPr lang="zh-CN" altLang="en-US" sz="700" spc="0" baseline="-3700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t</a:t>
              </a:r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 using x and π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221" name="图形 4"/>
          <p:cNvGrpSpPr/>
          <p:nvPr/>
        </p:nvGrpSpPr>
        <p:grpSpPr>
          <a:xfrm>
            <a:off x="3355841" y="3431207"/>
            <a:ext cx="3761801" cy="2692657"/>
            <a:chOff x="3448441" y="3709003"/>
            <a:chExt cx="3761801" cy="2692657"/>
          </a:xfrm>
        </p:grpSpPr>
        <p:sp>
          <p:nvSpPr>
            <p:cNvPr id="222" name="任意形状 221"/>
            <p:cNvSpPr/>
            <p:nvPr/>
          </p:nvSpPr>
          <p:spPr>
            <a:xfrm>
              <a:off x="3448441" y="5939685"/>
              <a:ext cx="316783" cy="6599"/>
            </a:xfrm>
            <a:custGeom>
              <a:avLst/>
              <a:gdLst>
                <a:gd name="csX0" fmla="*/ 0 w 316783"/>
                <a:gd name="csY0" fmla="*/ 0 h 6599"/>
                <a:gd name="csX1" fmla="*/ 316783 w 316783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6783" h="6599">
                  <a:moveTo>
                    <a:pt x="0" y="0"/>
                  </a:moveTo>
                  <a:lnTo>
                    <a:pt x="316783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223" name="圆角矩形 222"/>
            <p:cNvSpPr/>
            <p:nvPr/>
          </p:nvSpPr>
          <p:spPr>
            <a:xfrm>
              <a:off x="3778423" y="3709003"/>
              <a:ext cx="3431819" cy="2692657"/>
            </a:xfrm>
            <a:prstGeom prst="roundRect">
              <a:avLst>
                <a:gd name="adj" fmla="val 3431"/>
              </a:avLst>
            </a:prstGeom>
            <a:solidFill>
              <a:srgbClr val="F9FCF6"/>
            </a:solidFill>
            <a:ln w="13194" cap="flat">
              <a:solidFill>
                <a:srgbClr val="BCD89D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224" name="圆角矩形 223"/>
            <p:cNvSpPr/>
            <p:nvPr/>
          </p:nvSpPr>
          <p:spPr>
            <a:xfrm>
              <a:off x="3884018" y="3768400"/>
              <a:ext cx="3213064" cy="250786"/>
            </a:xfrm>
            <a:prstGeom prst="roundRect">
              <a:avLst>
                <a:gd name="adj" fmla="val 26315"/>
              </a:avLst>
            </a:prstGeom>
            <a:solidFill>
              <a:srgbClr val="E7F2D9"/>
            </a:solidFill>
            <a:ln w="13194" cap="flat">
              <a:solidFill>
                <a:srgbClr val="BCD89D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25" name="椭圆 224"/>
            <p:cNvSpPr/>
            <p:nvPr/>
          </p:nvSpPr>
          <p:spPr>
            <a:xfrm>
              <a:off x="3933099" y="3782945"/>
              <a:ext cx="224388" cy="224388"/>
            </a:xfrm>
            <a:prstGeom prst="ellipse">
              <a:avLst/>
            </a:prstGeom>
            <a:solidFill>
              <a:srgbClr val="5C8E2F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3925149" y="3759241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2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4158573" y="3761941"/>
              <a:ext cx="2920753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spc="0" baseline="0" dirty="0">
                  <a:solidFill>
                    <a:srgbClr val="1E8E3E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VeriEQL Verification</a:t>
              </a:r>
              <a:endParaRPr lang="zh-CN" altLang="en-US" sz="1000" b="1" spc="0" baseline="0" dirty="0">
                <a:solidFill>
                  <a:srgbClr val="1E8E3E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28" name="圆角矩形 227"/>
            <p:cNvSpPr/>
            <p:nvPr/>
          </p:nvSpPr>
          <p:spPr>
            <a:xfrm>
              <a:off x="3930215" y="4157780"/>
              <a:ext cx="777252" cy="1715909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229" name="图形 4"/>
            <p:cNvGrpSpPr/>
            <p:nvPr/>
          </p:nvGrpSpPr>
          <p:grpSpPr>
            <a:xfrm>
              <a:off x="4060361" y="4292940"/>
              <a:ext cx="73916" cy="103482"/>
              <a:chOff x="4060361" y="4292940"/>
              <a:chExt cx="73916" cy="103482"/>
            </a:xfrm>
            <a:solidFill>
              <a:srgbClr val="000000"/>
            </a:solidFill>
          </p:grpSpPr>
          <p:sp>
            <p:nvSpPr>
              <p:cNvPr id="230" name="圆角矩形 229"/>
              <p:cNvSpPr/>
              <p:nvPr/>
            </p:nvSpPr>
            <p:spPr>
              <a:xfrm>
                <a:off x="4060361" y="4292940"/>
                <a:ext cx="73916" cy="103482"/>
              </a:xfrm>
              <a:prstGeom prst="roundRect">
                <a:avLst>
                  <a:gd name="adj" fmla="val 20000"/>
                </a:avLst>
              </a:prstGeom>
              <a:noFill/>
              <a:ln w="10344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31" name="任意形状 230"/>
              <p:cNvSpPr/>
              <p:nvPr/>
            </p:nvSpPr>
            <p:spPr>
              <a:xfrm>
                <a:off x="4078840" y="4322507"/>
                <a:ext cx="36958" cy="6599"/>
              </a:xfrm>
              <a:custGeom>
                <a:avLst/>
                <a:gdLst>
                  <a:gd name="csX0" fmla="*/ 538 w 36958"/>
                  <a:gd name="csY0" fmla="*/ 639 h 6599"/>
                  <a:gd name="csX1" fmla="*/ 37496 w 36958"/>
                  <a:gd name="csY1" fmla="*/ 639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58" h="6599">
                    <a:moveTo>
                      <a:pt x="538" y="639"/>
                    </a:moveTo>
                    <a:lnTo>
                      <a:pt x="37496" y="639"/>
                    </a:lnTo>
                  </a:path>
                </a:pathLst>
              </a:custGeom>
              <a:ln w="738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32" name="任意形状 231"/>
              <p:cNvSpPr/>
              <p:nvPr/>
            </p:nvSpPr>
            <p:spPr>
              <a:xfrm>
                <a:off x="4078840" y="4344682"/>
                <a:ext cx="36958" cy="6599"/>
              </a:xfrm>
              <a:custGeom>
                <a:avLst/>
                <a:gdLst>
                  <a:gd name="csX0" fmla="*/ 538 w 36958"/>
                  <a:gd name="csY0" fmla="*/ 636 h 6599"/>
                  <a:gd name="csX1" fmla="*/ 37496 w 36958"/>
                  <a:gd name="csY1" fmla="*/ 636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58" h="6599">
                    <a:moveTo>
                      <a:pt x="538" y="636"/>
                    </a:moveTo>
                    <a:lnTo>
                      <a:pt x="37496" y="636"/>
                    </a:lnTo>
                  </a:path>
                </a:pathLst>
              </a:custGeom>
              <a:ln w="738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33" name="任意形状 232"/>
              <p:cNvSpPr/>
              <p:nvPr/>
            </p:nvSpPr>
            <p:spPr>
              <a:xfrm>
                <a:off x="4078840" y="4366857"/>
                <a:ext cx="36958" cy="6599"/>
              </a:xfrm>
              <a:custGeom>
                <a:avLst/>
                <a:gdLst>
                  <a:gd name="csX0" fmla="*/ 538 w 36958"/>
                  <a:gd name="csY0" fmla="*/ 634 h 6599"/>
                  <a:gd name="csX1" fmla="*/ 37496 w 36958"/>
                  <a:gd name="csY1" fmla="*/ 634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58" h="6599">
                    <a:moveTo>
                      <a:pt x="538" y="634"/>
                    </a:moveTo>
                    <a:lnTo>
                      <a:pt x="37496" y="634"/>
                    </a:lnTo>
                  </a:path>
                </a:pathLst>
              </a:custGeom>
              <a:ln w="738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34" name="文本框 233"/>
            <p:cNvSpPr txBox="1"/>
            <p:nvPr/>
          </p:nvSpPr>
          <p:spPr>
            <a:xfrm>
              <a:off x="4252469" y="4223642"/>
              <a:ext cx="292068" cy="21544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Q</a:t>
              </a:r>
              <a:r>
                <a:rPr lang="zh-CN" altLang="en-US" sz="800" spc="0" baseline="-370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1</a:t>
              </a:r>
              <a:endParaRPr lang="zh-CN" altLang="en-US" sz="800" spc="0" baseline="-370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grpSp>
          <p:nvGrpSpPr>
            <p:cNvPr id="235" name="图形 4"/>
            <p:cNvGrpSpPr/>
            <p:nvPr/>
          </p:nvGrpSpPr>
          <p:grpSpPr>
            <a:xfrm>
              <a:off x="4060361" y="4583325"/>
              <a:ext cx="73916" cy="103482"/>
              <a:chOff x="4060361" y="4583325"/>
              <a:chExt cx="73916" cy="103482"/>
            </a:xfrm>
            <a:solidFill>
              <a:srgbClr val="000000"/>
            </a:solidFill>
          </p:grpSpPr>
          <p:sp>
            <p:nvSpPr>
              <p:cNvPr id="236" name="圆角矩形 235"/>
              <p:cNvSpPr/>
              <p:nvPr/>
            </p:nvSpPr>
            <p:spPr>
              <a:xfrm>
                <a:off x="4060361" y="4583325"/>
                <a:ext cx="73916" cy="103482"/>
              </a:xfrm>
              <a:prstGeom prst="roundRect">
                <a:avLst>
                  <a:gd name="adj" fmla="val 20000"/>
                </a:avLst>
              </a:prstGeom>
              <a:noFill/>
              <a:ln w="10344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37" name="任意形状 236"/>
              <p:cNvSpPr/>
              <p:nvPr/>
            </p:nvSpPr>
            <p:spPr>
              <a:xfrm>
                <a:off x="4078840" y="4612892"/>
                <a:ext cx="36958" cy="6599"/>
              </a:xfrm>
              <a:custGeom>
                <a:avLst/>
                <a:gdLst>
                  <a:gd name="csX0" fmla="*/ 538 w 36958"/>
                  <a:gd name="csY0" fmla="*/ 683 h 6599"/>
                  <a:gd name="csX1" fmla="*/ 37496 w 36958"/>
                  <a:gd name="csY1" fmla="*/ 683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58" h="6599">
                    <a:moveTo>
                      <a:pt x="538" y="683"/>
                    </a:moveTo>
                    <a:lnTo>
                      <a:pt x="37496" y="683"/>
                    </a:lnTo>
                  </a:path>
                </a:pathLst>
              </a:custGeom>
              <a:ln w="738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38" name="任意形状 237"/>
              <p:cNvSpPr/>
              <p:nvPr/>
            </p:nvSpPr>
            <p:spPr>
              <a:xfrm>
                <a:off x="4078840" y="4635066"/>
                <a:ext cx="36958" cy="6599"/>
              </a:xfrm>
              <a:custGeom>
                <a:avLst/>
                <a:gdLst>
                  <a:gd name="csX0" fmla="*/ 538 w 36958"/>
                  <a:gd name="csY0" fmla="*/ 680 h 6599"/>
                  <a:gd name="csX1" fmla="*/ 37496 w 36958"/>
                  <a:gd name="csY1" fmla="*/ 680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58" h="6599">
                    <a:moveTo>
                      <a:pt x="538" y="680"/>
                    </a:moveTo>
                    <a:lnTo>
                      <a:pt x="37496" y="680"/>
                    </a:lnTo>
                  </a:path>
                </a:pathLst>
              </a:custGeom>
              <a:ln w="738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39" name="任意形状 238"/>
              <p:cNvSpPr/>
              <p:nvPr/>
            </p:nvSpPr>
            <p:spPr>
              <a:xfrm>
                <a:off x="4078840" y="4657241"/>
                <a:ext cx="36958" cy="6599"/>
              </a:xfrm>
              <a:custGeom>
                <a:avLst/>
                <a:gdLst>
                  <a:gd name="csX0" fmla="*/ 538 w 36958"/>
                  <a:gd name="csY0" fmla="*/ 678 h 6599"/>
                  <a:gd name="csX1" fmla="*/ 37496 w 36958"/>
                  <a:gd name="csY1" fmla="*/ 678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958" h="6599">
                    <a:moveTo>
                      <a:pt x="538" y="678"/>
                    </a:moveTo>
                    <a:lnTo>
                      <a:pt x="37496" y="678"/>
                    </a:lnTo>
                  </a:path>
                </a:pathLst>
              </a:custGeom>
              <a:ln w="7389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40" name="文本框 239"/>
            <p:cNvSpPr txBox="1"/>
            <p:nvPr/>
          </p:nvSpPr>
          <p:spPr>
            <a:xfrm>
              <a:off x="4252469" y="4527400"/>
              <a:ext cx="292068" cy="21544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Q</a:t>
              </a:r>
              <a:r>
                <a:rPr lang="zh-CN" altLang="en-US" sz="800" spc="0" baseline="-370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2</a:t>
              </a:r>
              <a:endParaRPr lang="zh-CN" altLang="en-US" sz="800" spc="0" baseline="-370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grpSp>
          <p:nvGrpSpPr>
            <p:cNvPr id="241" name="图形 4"/>
            <p:cNvGrpSpPr/>
            <p:nvPr/>
          </p:nvGrpSpPr>
          <p:grpSpPr>
            <a:xfrm>
              <a:off x="3997796" y="4878725"/>
              <a:ext cx="212772" cy="155487"/>
              <a:chOff x="3997796" y="4878725"/>
              <a:chExt cx="212772" cy="155487"/>
            </a:xfrm>
            <a:solidFill>
              <a:srgbClr val="000000"/>
            </a:solidFill>
          </p:grpSpPr>
          <p:sp>
            <p:nvSpPr>
              <p:cNvPr id="242" name="矩形 241"/>
              <p:cNvSpPr/>
              <p:nvPr/>
            </p:nvSpPr>
            <p:spPr>
              <a:xfrm>
                <a:off x="4079632" y="4878725"/>
                <a:ext cx="49101" cy="40917"/>
              </a:xfrm>
              <a:prstGeom prst="rect">
                <a:avLst/>
              </a:prstGeom>
              <a:noFill/>
              <a:ln w="1063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3997796" y="4993295"/>
                <a:ext cx="49101" cy="40917"/>
              </a:xfrm>
              <a:prstGeom prst="rect">
                <a:avLst/>
              </a:prstGeom>
              <a:noFill/>
              <a:ln w="1063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4079632" y="4993295"/>
                <a:ext cx="49101" cy="40917"/>
              </a:xfrm>
              <a:prstGeom prst="rect">
                <a:avLst/>
              </a:prstGeom>
              <a:noFill/>
              <a:ln w="1063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4161467" y="4993295"/>
                <a:ext cx="49101" cy="40917"/>
              </a:xfrm>
              <a:prstGeom prst="rect">
                <a:avLst/>
              </a:prstGeom>
              <a:noFill/>
              <a:ln w="1063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6" name="任意形状 245"/>
              <p:cNvSpPr/>
              <p:nvPr/>
            </p:nvSpPr>
            <p:spPr>
              <a:xfrm>
                <a:off x="4104182" y="4919643"/>
                <a:ext cx="6599" cy="49101"/>
              </a:xfrm>
              <a:custGeom>
                <a:avLst/>
                <a:gdLst>
                  <a:gd name="csX0" fmla="*/ 533 w 6599"/>
                  <a:gd name="csY0" fmla="*/ 731 h 49101"/>
                  <a:gd name="csX1" fmla="*/ 533 w 6599"/>
                  <a:gd name="csY1" fmla="*/ 49833 h 491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49101">
                    <a:moveTo>
                      <a:pt x="533" y="731"/>
                    </a:moveTo>
                    <a:lnTo>
                      <a:pt x="533" y="49833"/>
                    </a:lnTo>
                  </a:path>
                </a:pathLst>
              </a:custGeom>
              <a:ln w="9407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7" name="任意形状 246"/>
              <p:cNvSpPr/>
              <p:nvPr/>
            </p:nvSpPr>
            <p:spPr>
              <a:xfrm>
                <a:off x="4022347" y="4968745"/>
                <a:ext cx="163671" cy="6599"/>
              </a:xfrm>
              <a:custGeom>
                <a:avLst/>
                <a:gdLst>
                  <a:gd name="csX0" fmla="*/ 533 w 163671"/>
                  <a:gd name="csY0" fmla="*/ 729 h 6599"/>
                  <a:gd name="csX1" fmla="*/ 164205 w 163671"/>
                  <a:gd name="csY1" fmla="*/ 729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3671" h="6599">
                    <a:moveTo>
                      <a:pt x="533" y="729"/>
                    </a:moveTo>
                    <a:lnTo>
                      <a:pt x="164205" y="729"/>
                    </a:lnTo>
                  </a:path>
                </a:pathLst>
              </a:custGeom>
              <a:ln w="9407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8" name="任意形状 247"/>
              <p:cNvSpPr/>
              <p:nvPr/>
            </p:nvSpPr>
            <p:spPr>
              <a:xfrm>
                <a:off x="4022347" y="4968745"/>
                <a:ext cx="6599" cy="24550"/>
              </a:xfrm>
              <a:custGeom>
                <a:avLst/>
                <a:gdLst>
                  <a:gd name="csX0" fmla="*/ 541 w 6599"/>
                  <a:gd name="csY0" fmla="*/ 728 h 24550"/>
                  <a:gd name="csX1" fmla="*/ 541 w 6599"/>
                  <a:gd name="csY1" fmla="*/ 25278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4550">
                    <a:moveTo>
                      <a:pt x="541" y="728"/>
                    </a:moveTo>
                    <a:lnTo>
                      <a:pt x="541" y="25278"/>
                    </a:lnTo>
                  </a:path>
                </a:pathLst>
              </a:custGeom>
              <a:ln w="9407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49" name="任意形状 248"/>
              <p:cNvSpPr/>
              <p:nvPr/>
            </p:nvSpPr>
            <p:spPr>
              <a:xfrm>
                <a:off x="4104182" y="4968745"/>
                <a:ext cx="6599" cy="24550"/>
              </a:xfrm>
              <a:custGeom>
                <a:avLst/>
                <a:gdLst>
                  <a:gd name="csX0" fmla="*/ 533 w 6599"/>
                  <a:gd name="csY0" fmla="*/ 728 h 24550"/>
                  <a:gd name="csX1" fmla="*/ 533 w 6599"/>
                  <a:gd name="csY1" fmla="*/ 25278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4550">
                    <a:moveTo>
                      <a:pt x="533" y="728"/>
                    </a:moveTo>
                    <a:lnTo>
                      <a:pt x="533" y="25278"/>
                    </a:lnTo>
                  </a:path>
                </a:pathLst>
              </a:custGeom>
              <a:ln w="9407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50" name="任意形状 249"/>
              <p:cNvSpPr/>
              <p:nvPr/>
            </p:nvSpPr>
            <p:spPr>
              <a:xfrm>
                <a:off x="4186018" y="4968745"/>
                <a:ext cx="6599" cy="24550"/>
              </a:xfrm>
              <a:custGeom>
                <a:avLst/>
                <a:gdLst>
                  <a:gd name="csX0" fmla="*/ 526 w 6599"/>
                  <a:gd name="csY0" fmla="*/ 728 h 24550"/>
                  <a:gd name="csX1" fmla="*/ 526 w 6599"/>
                  <a:gd name="csY1" fmla="*/ 25278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24550">
                    <a:moveTo>
                      <a:pt x="526" y="728"/>
                    </a:moveTo>
                    <a:lnTo>
                      <a:pt x="526" y="25278"/>
                    </a:lnTo>
                  </a:path>
                </a:pathLst>
              </a:custGeom>
              <a:ln w="9407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51" name="文本框 250"/>
            <p:cNvSpPr txBox="1"/>
            <p:nvPr/>
          </p:nvSpPr>
          <p:spPr>
            <a:xfrm>
              <a:off x="4178312" y="4858478"/>
              <a:ext cx="50847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Schema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grpSp>
          <p:nvGrpSpPr>
            <p:cNvPr id="252" name="图形 4"/>
            <p:cNvGrpSpPr/>
            <p:nvPr/>
          </p:nvGrpSpPr>
          <p:grpSpPr>
            <a:xfrm>
              <a:off x="4081479" y="5252794"/>
              <a:ext cx="104538" cy="104538"/>
              <a:chOff x="4081479" y="5252794"/>
              <a:chExt cx="104538" cy="104538"/>
            </a:xfrm>
            <a:solidFill>
              <a:srgbClr val="000000"/>
            </a:solidFill>
          </p:grpSpPr>
          <p:sp>
            <p:nvSpPr>
              <p:cNvPr id="253" name="椭圆 252"/>
              <p:cNvSpPr/>
              <p:nvPr/>
            </p:nvSpPr>
            <p:spPr>
              <a:xfrm>
                <a:off x="4081479" y="5252794"/>
                <a:ext cx="104538" cy="104538"/>
              </a:xfrm>
              <a:prstGeom prst="ellipse">
                <a:avLst/>
              </a:prstGeom>
              <a:noFill/>
              <a:ln w="1088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54" name="任意形状 253"/>
              <p:cNvSpPr/>
              <p:nvPr/>
            </p:nvSpPr>
            <p:spPr>
              <a:xfrm>
                <a:off x="4133749" y="5261505"/>
                <a:ext cx="6599" cy="43557"/>
              </a:xfrm>
              <a:custGeom>
                <a:avLst/>
                <a:gdLst>
                  <a:gd name="csX0" fmla="*/ 542 w 6599"/>
                  <a:gd name="csY0" fmla="*/ 44339 h 43557"/>
                  <a:gd name="csX1" fmla="*/ 542 w 6599"/>
                  <a:gd name="csY1" fmla="*/ 782 h 43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43557">
                    <a:moveTo>
                      <a:pt x="542" y="44339"/>
                    </a:moveTo>
                    <a:lnTo>
                      <a:pt x="542" y="782"/>
                    </a:lnTo>
                  </a:path>
                </a:pathLst>
              </a:custGeom>
              <a:ln w="1088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55" name="任意形状 254"/>
              <p:cNvSpPr/>
              <p:nvPr/>
            </p:nvSpPr>
            <p:spPr>
              <a:xfrm>
                <a:off x="4133749" y="5283284"/>
                <a:ext cx="30490" cy="21778"/>
              </a:xfrm>
              <a:custGeom>
                <a:avLst/>
                <a:gdLst>
                  <a:gd name="csX0" fmla="*/ 541 w 30490"/>
                  <a:gd name="csY0" fmla="*/ 22560 h 21778"/>
                  <a:gd name="csX1" fmla="*/ 31031 w 30490"/>
                  <a:gd name="csY1" fmla="*/ 781 h 217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0490" h="21778">
                    <a:moveTo>
                      <a:pt x="541" y="22560"/>
                    </a:moveTo>
                    <a:lnTo>
                      <a:pt x="31031" y="781"/>
                    </a:lnTo>
                  </a:path>
                </a:pathLst>
              </a:custGeom>
              <a:ln w="1088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56" name="文本框 255"/>
            <p:cNvSpPr txBox="1"/>
            <p:nvPr/>
          </p:nvSpPr>
          <p:spPr>
            <a:xfrm>
              <a:off x="4144096" y="5194138"/>
              <a:ext cx="655949" cy="21544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Bound = B</a:t>
              </a:r>
              <a:r>
                <a:rPr lang="zh-CN" altLang="en-US" sz="800" spc="0" baseline="-370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t</a:t>
              </a:r>
              <a:endParaRPr lang="zh-CN" altLang="en-US" sz="800" spc="0" baseline="-370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grpSp>
          <p:nvGrpSpPr>
            <p:cNvPr id="257" name="图形 4"/>
            <p:cNvGrpSpPr/>
            <p:nvPr/>
          </p:nvGrpSpPr>
          <p:grpSpPr>
            <a:xfrm>
              <a:off x="4081479" y="5543442"/>
              <a:ext cx="104538" cy="143740"/>
              <a:chOff x="4081479" y="5543442"/>
              <a:chExt cx="104538" cy="143740"/>
            </a:xfrm>
            <a:solidFill>
              <a:srgbClr val="000000"/>
            </a:solidFill>
          </p:grpSpPr>
          <p:sp>
            <p:nvSpPr>
              <p:cNvPr id="258" name="任意形状 257"/>
              <p:cNvSpPr/>
              <p:nvPr/>
            </p:nvSpPr>
            <p:spPr>
              <a:xfrm>
                <a:off x="4081479" y="5543442"/>
                <a:ext cx="104538" cy="143740"/>
              </a:xfrm>
              <a:custGeom>
                <a:avLst/>
                <a:gdLst>
                  <a:gd name="csX0" fmla="*/ 52811 w 104538"/>
                  <a:gd name="csY0" fmla="*/ 828 h 143740"/>
                  <a:gd name="csX1" fmla="*/ 105080 w 104538"/>
                  <a:gd name="csY1" fmla="*/ 22607 h 143740"/>
                  <a:gd name="csX2" fmla="*/ 105080 w 104538"/>
                  <a:gd name="csY2" fmla="*/ 61809 h 143740"/>
                  <a:gd name="csX3" fmla="*/ 52811 w 104538"/>
                  <a:gd name="csY3" fmla="*/ 144569 h 143740"/>
                  <a:gd name="csX4" fmla="*/ 542 w 104538"/>
                  <a:gd name="csY4" fmla="*/ 61809 h 143740"/>
                  <a:gd name="csX5" fmla="*/ 542 w 104538"/>
                  <a:gd name="csY5" fmla="*/ 22607 h 1437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104538" h="143740">
                    <a:moveTo>
                      <a:pt x="52811" y="828"/>
                    </a:moveTo>
                    <a:lnTo>
                      <a:pt x="105080" y="22607"/>
                    </a:lnTo>
                    <a:lnTo>
                      <a:pt x="105080" y="61809"/>
                    </a:lnTo>
                    <a:cubicBezTo>
                      <a:pt x="105080" y="101011"/>
                      <a:pt x="78946" y="131501"/>
                      <a:pt x="52811" y="144569"/>
                    </a:cubicBezTo>
                    <a:cubicBezTo>
                      <a:pt x="26676" y="131501"/>
                      <a:pt x="542" y="101011"/>
                      <a:pt x="542" y="61809"/>
                    </a:cubicBezTo>
                    <a:lnTo>
                      <a:pt x="542" y="22607"/>
                    </a:lnTo>
                    <a:close/>
                  </a:path>
                </a:pathLst>
              </a:custGeom>
              <a:noFill/>
              <a:ln w="1088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59" name="任意形状 258"/>
              <p:cNvSpPr/>
              <p:nvPr/>
            </p:nvSpPr>
            <p:spPr>
              <a:xfrm>
                <a:off x="4107614" y="5587000"/>
                <a:ext cx="52269" cy="43557"/>
              </a:xfrm>
              <a:custGeom>
                <a:avLst/>
                <a:gdLst>
                  <a:gd name="csX0" fmla="*/ 542 w 52269"/>
                  <a:gd name="csY0" fmla="*/ 22608 h 43557"/>
                  <a:gd name="csX1" fmla="*/ 17965 w 52269"/>
                  <a:gd name="csY1" fmla="*/ 44387 h 43557"/>
                  <a:gd name="csX2" fmla="*/ 52811 w 52269"/>
                  <a:gd name="csY2" fmla="*/ 829 h 43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269" h="43557">
                    <a:moveTo>
                      <a:pt x="542" y="22608"/>
                    </a:moveTo>
                    <a:lnTo>
                      <a:pt x="17965" y="44387"/>
                    </a:lnTo>
                    <a:lnTo>
                      <a:pt x="52811" y="829"/>
                    </a:lnTo>
                  </a:path>
                </a:pathLst>
              </a:custGeom>
              <a:noFill/>
              <a:ln w="10885" cap="rnd">
                <a:solidFill>
                  <a:srgbClr val="2D336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60" name="文本框 259"/>
            <p:cNvSpPr txBox="1"/>
            <p:nvPr/>
          </p:nvSpPr>
          <p:spPr>
            <a:xfrm>
              <a:off x="4144096" y="5449615"/>
              <a:ext cx="612668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Integrity</a:t>
              </a:r>
              <a:endParaRPr lang="en-US" altLang="zh-CN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  <a:p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Constraint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  <a:p>
              <a:pPr algn="l"/>
              <a:endParaRPr lang="zh-CN" altLang="en-US" sz="10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62" name="任意形状 261"/>
            <p:cNvSpPr/>
            <p:nvPr/>
          </p:nvSpPr>
          <p:spPr>
            <a:xfrm>
              <a:off x="4718505" y="4976614"/>
              <a:ext cx="195057" cy="45719"/>
            </a:xfrm>
            <a:custGeom>
              <a:avLst/>
              <a:gdLst>
                <a:gd name="csX0" fmla="*/ 0 w 257386"/>
                <a:gd name="csY0" fmla="*/ 0 h 6599"/>
                <a:gd name="csX1" fmla="*/ 257386 w 257386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7386" h="6599">
                  <a:moveTo>
                    <a:pt x="0" y="0"/>
                  </a:moveTo>
                  <a:lnTo>
                    <a:pt x="257386" y="0"/>
                  </a:lnTo>
                </a:path>
              </a:pathLst>
            </a:custGeom>
            <a:ln w="19791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63" name="圆角矩形 262"/>
            <p:cNvSpPr/>
            <p:nvPr/>
          </p:nvSpPr>
          <p:spPr>
            <a:xfrm>
              <a:off x="4926763" y="4157780"/>
              <a:ext cx="1451923" cy="1979895"/>
            </a:xfrm>
            <a:prstGeom prst="roundRect">
              <a:avLst>
                <a:gd name="adj" fmla="val 5454"/>
              </a:avLst>
            </a:prstGeom>
            <a:solidFill>
              <a:srgbClr val="FFFFFF"/>
            </a:solidFill>
            <a:ln w="13194" cap="flat">
              <a:solidFill>
                <a:srgbClr val="D7E9C2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264" name="文本框 263"/>
            <p:cNvSpPr txBox="1"/>
            <p:nvPr/>
          </p:nvSpPr>
          <p:spPr>
            <a:xfrm>
              <a:off x="5025604" y="4147668"/>
              <a:ext cx="120898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1E8E3E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VeriEQL Verifier</a:t>
              </a:r>
              <a:endParaRPr lang="zh-CN" altLang="en-US" sz="1000" b="1" spc="0" baseline="0" dirty="0">
                <a:solidFill>
                  <a:srgbClr val="1E8E3E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65" name="文本框 264"/>
            <p:cNvSpPr txBox="1"/>
            <p:nvPr/>
          </p:nvSpPr>
          <p:spPr>
            <a:xfrm>
              <a:off x="4986129" y="4340738"/>
              <a:ext cx="13163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44444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online bounded verification</a:t>
              </a:r>
              <a:endParaRPr lang="zh-CN" altLang="en-US" sz="800" spc="0" baseline="0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66" name="圆角矩形 265"/>
            <p:cNvSpPr/>
            <p:nvPr/>
          </p:nvSpPr>
          <p:spPr>
            <a:xfrm>
              <a:off x="5052156" y="4619755"/>
              <a:ext cx="1201136" cy="263986"/>
            </a:xfrm>
            <a:prstGeom prst="roundRect">
              <a:avLst>
                <a:gd name="adj" fmla="val 24999"/>
              </a:avLst>
            </a:prstGeom>
            <a:solidFill>
              <a:srgbClr val="FFFFFF"/>
            </a:solidFill>
            <a:ln w="13194" cap="flat">
              <a:solidFill>
                <a:srgbClr val="D7E9C2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67" name="椭圆 266"/>
            <p:cNvSpPr/>
            <p:nvPr/>
          </p:nvSpPr>
          <p:spPr>
            <a:xfrm>
              <a:off x="5098354" y="4672552"/>
              <a:ext cx="158391" cy="158391"/>
            </a:xfrm>
            <a:prstGeom prst="ellipse">
              <a:avLst/>
            </a:prstGeom>
            <a:solidFill>
              <a:srgbClr val="5C8E2F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68" name="文本框 267"/>
            <p:cNvSpPr txBox="1"/>
            <p:nvPr/>
          </p:nvSpPr>
          <p:spPr>
            <a:xfrm>
              <a:off x="5057959" y="4631432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1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69" name="文本框 268"/>
            <p:cNvSpPr txBox="1"/>
            <p:nvPr/>
          </p:nvSpPr>
          <p:spPr>
            <a:xfrm>
              <a:off x="5206950" y="4653376"/>
              <a:ext cx="105990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Symbolic DB Generator</a:t>
              </a:r>
              <a:endParaRPr lang="zh-CN" altLang="en-US" sz="7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70" name="任意形状 269"/>
            <p:cNvSpPr/>
            <p:nvPr/>
          </p:nvSpPr>
          <p:spPr>
            <a:xfrm>
              <a:off x="5652725" y="4883741"/>
              <a:ext cx="6599" cy="118793"/>
            </a:xfrm>
            <a:custGeom>
              <a:avLst/>
              <a:gdLst>
                <a:gd name="csX0" fmla="*/ 0 w 6599"/>
                <a:gd name="csY0" fmla="*/ 0 h 118793"/>
                <a:gd name="csX1" fmla="*/ 0 w 6599"/>
                <a:gd name="csY1" fmla="*/ 118794 h 118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18793">
                  <a:moveTo>
                    <a:pt x="0" y="0"/>
                  </a:moveTo>
                  <a:lnTo>
                    <a:pt x="0" y="118794"/>
                  </a:lnTo>
                </a:path>
              </a:pathLst>
            </a:custGeom>
            <a:ln w="14514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71" name="圆角矩形 270"/>
            <p:cNvSpPr/>
            <p:nvPr/>
          </p:nvSpPr>
          <p:spPr>
            <a:xfrm>
              <a:off x="5052156" y="5015734"/>
              <a:ext cx="1201136" cy="263986"/>
            </a:xfrm>
            <a:prstGeom prst="roundRect">
              <a:avLst>
                <a:gd name="adj" fmla="val 24999"/>
              </a:avLst>
            </a:prstGeom>
            <a:solidFill>
              <a:srgbClr val="FFFFFF"/>
            </a:solidFill>
            <a:ln w="13194" cap="flat">
              <a:solidFill>
                <a:srgbClr val="D7E9C2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72" name="椭圆 271"/>
            <p:cNvSpPr/>
            <p:nvPr/>
          </p:nvSpPr>
          <p:spPr>
            <a:xfrm>
              <a:off x="5098354" y="5068531"/>
              <a:ext cx="158391" cy="158391"/>
            </a:xfrm>
            <a:prstGeom prst="ellipse">
              <a:avLst/>
            </a:prstGeom>
            <a:solidFill>
              <a:srgbClr val="5C8E2F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73" name="文本框 272"/>
            <p:cNvSpPr txBox="1"/>
            <p:nvPr/>
          </p:nvSpPr>
          <p:spPr>
            <a:xfrm>
              <a:off x="5057959" y="5027411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2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74" name="文本框 273"/>
            <p:cNvSpPr txBox="1"/>
            <p:nvPr/>
          </p:nvSpPr>
          <p:spPr>
            <a:xfrm>
              <a:off x="5301888" y="5044303"/>
              <a:ext cx="73129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Query Encoder</a:t>
              </a:r>
              <a:endParaRPr lang="zh-CN" altLang="en-US" sz="7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75" name="任意形状 274"/>
            <p:cNvSpPr/>
            <p:nvPr/>
          </p:nvSpPr>
          <p:spPr>
            <a:xfrm>
              <a:off x="5652725" y="5279720"/>
              <a:ext cx="6599" cy="118793"/>
            </a:xfrm>
            <a:custGeom>
              <a:avLst/>
              <a:gdLst>
                <a:gd name="csX0" fmla="*/ 0 w 6599"/>
                <a:gd name="csY0" fmla="*/ 0 h 118793"/>
                <a:gd name="csX1" fmla="*/ 0 w 6599"/>
                <a:gd name="csY1" fmla="*/ 118794 h 118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18793">
                  <a:moveTo>
                    <a:pt x="0" y="0"/>
                  </a:moveTo>
                  <a:lnTo>
                    <a:pt x="0" y="118794"/>
                  </a:lnTo>
                </a:path>
              </a:pathLst>
            </a:custGeom>
            <a:ln w="14514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76" name="圆角矩形 275"/>
            <p:cNvSpPr/>
            <p:nvPr/>
          </p:nvSpPr>
          <p:spPr>
            <a:xfrm>
              <a:off x="5052156" y="5411713"/>
              <a:ext cx="1201136" cy="263986"/>
            </a:xfrm>
            <a:prstGeom prst="roundRect">
              <a:avLst>
                <a:gd name="adj" fmla="val 24999"/>
              </a:avLst>
            </a:prstGeom>
            <a:solidFill>
              <a:srgbClr val="FFFFFF"/>
            </a:solidFill>
            <a:ln w="13194" cap="flat">
              <a:solidFill>
                <a:srgbClr val="D7E9C2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77" name="椭圆 276"/>
            <p:cNvSpPr/>
            <p:nvPr/>
          </p:nvSpPr>
          <p:spPr>
            <a:xfrm>
              <a:off x="5098354" y="5464510"/>
              <a:ext cx="158391" cy="158391"/>
            </a:xfrm>
            <a:prstGeom prst="ellipse">
              <a:avLst/>
            </a:prstGeom>
            <a:solidFill>
              <a:srgbClr val="5C8E2F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78" name="文本框 277"/>
            <p:cNvSpPr txBox="1"/>
            <p:nvPr/>
          </p:nvSpPr>
          <p:spPr>
            <a:xfrm>
              <a:off x="5057959" y="5423390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3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79" name="文本框 278"/>
            <p:cNvSpPr txBox="1"/>
            <p:nvPr/>
          </p:nvSpPr>
          <p:spPr>
            <a:xfrm>
              <a:off x="5282957" y="5445334"/>
              <a:ext cx="81304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Equality Checker</a:t>
              </a:r>
              <a:endParaRPr lang="zh-CN" altLang="en-US" sz="7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80" name="任意形状 279"/>
            <p:cNvSpPr/>
            <p:nvPr/>
          </p:nvSpPr>
          <p:spPr>
            <a:xfrm>
              <a:off x="5652725" y="5675699"/>
              <a:ext cx="6599" cy="118793"/>
            </a:xfrm>
            <a:custGeom>
              <a:avLst/>
              <a:gdLst>
                <a:gd name="csX0" fmla="*/ 0 w 6599"/>
                <a:gd name="csY0" fmla="*/ 0 h 118793"/>
                <a:gd name="csX1" fmla="*/ 0 w 6599"/>
                <a:gd name="csY1" fmla="*/ 118794 h 118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18793">
                  <a:moveTo>
                    <a:pt x="0" y="0"/>
                  </a:moveTo>
                  <a:lnTo>
                    <a:pt x="0" y="118794"/>
                  </a:lnTo>
                </a:path>
              </a:pathLst>
            </a:custGeom>
            <a:ln w="14514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81" name="圆角矩形 280"/>
            <p:cNvSpPr/>
            <p:nvPr/>
          </p:nvSpPr>
          <p:spPr>
            <a:xfrm>
              <a:off x="5052156" y="5807692"/>
              <a:ext cx="1201136" cy="263986"/>
            </a:xfrm>
            <a:prstGeom prst="roundRect">
              <a:avLst>
                <a:gd name="adj" fmla="val 24999"/>
              </a:avLst>
            </a:prstGeom>
            <a:solidFill>
              <a:srgbClr val="FFFFFF"/>
            </a:solidFill>
            <a:ln w="13194" cap="flat">
              <a:solidFill>
                <a:srgbClr val="D7E9C2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82" name="椭圆 281"/>
            <p:cNvSpPr/>
            <p:nvPr/>
          </p:nvSpPr>
          <p:spPr>
            <a:xfrm>
              <a:off x="5098354" y="5860490"/>
              <a:ext cx="158391" cy="158391"/>
            </a:xfrm>
            <a:prstGeom prst="ellipse">
              <a:avLst/>
            </a:prstGeom>
            <a:solidFill>
              <a:srgbClr val="5C8E2F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83" name="文本框 282"/>
            <p:cNvSpPr txBox="1"/>
            <p:nvPr/>
          </p:nvSpPr>
          <p:spPr>
            <a:xfrm>
              <a:off x="5057959" y="5819369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4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84" name="文本框 283"/>
            <p:cNvSpPr txBox="1"/>
            <p:nvPr/>
          </p:nvSpPr>
          <p:spPr>
            <a:xfrm>
              <a:off x="5276545" y="5831209"/>
              <a:ext cx="81945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Constraint Solver</a:t>
              </a:r>
              <a:endParaRPr lang="zh-CN" altLang="en-US" sz="7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85" name="任意形状 284"/>
            <p:cNvSpPr/>
            <p:nvPr/>
          </p:nvSpPr>
          <p:spPr>
            <a:xfrm>
              <a:off x="6378686" y="4685752"/>
              <a:ext cx="290384" cy="6599"/>
            </a:xfrm>
            <a:custGeom>
              <a:avLst/>
              <a:gdLst>
                <a:gd name="csX0" fmla="*/ 0 w 290384"/>
                <a:gd name="csY0" fmla="*/ 0 h 6599"/>
                <a:gd name="csX1" fmla="*/ 290385 w 290384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0384" h="6599">
                  <a:moveTo>
                    <a:pt x="0" y="0"/>
                  </a:moveTo>
                  <a:lnTo>
                    <a:pt x="290385" y="0"/>
                  </a:lnTo>
                </a:path>
              </a:pathLst>
            </a:custGeom>
            <a:ln w="19791" cap="flat">
              <a:solidFill>
                <a:srgbClr val="5C8E2F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86" name="圆角矩形 285"/>
            <p:cNvSpPr/>
            <p:nvPr/>
          </p:nvSpPr>
          <p:spPr>
            <a:xfrm>
              <a:off x="6682270" y="4421766"/>
              <a:ext cx="395979" cy="527972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3194" cap="flat">
              <a:solidFill>
                <a:srgbClr val="D7E9C2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287" name="图形 4"/>
            <p:cNvGrpSpPr/>
            <p:nvPr/>
          </p:nvGrpSpPr>
          <p:grpSpPr>
            <a:xfrm>
              <a:off x="6794201" y="4534752"/>
              <a:ext cx="152055" cy="202741"/>
              <a:chOff x="6794201" y="4534752"/>
              <a:chExt cx="152055" cy="202741"/>
            </a:xfrm>
            <a:solidFill>
              <a:srgbClr val="000000"/>
            </a:solidFill>
          </p:grpSpPr>
          <p:sp>
            <p:nvSpPr>
              <p:cNvPr id="288" name="任意形状 287"/>
              <p:cNvSpPr/>
              <p:nvPr/>
            </p:nvSpPr>
            <p:spPr>
              <a:xfrm>
                <a:off x="6794201" y="4534752"/>
                <a:ext cx="152055" cy="202741"/>
              </a:xfrm>
              <a:custGeom>
                <a:avLst/>
                <a:gdLst>
                  <a:gd name="csX0" fmla="*/ 76976 w 152055"/>
                  <a:gd name="csY0" fmla="*/ 670 h 202741"/>
                  <a:gd name="csX1" fmla="*/ 153004 w 152055"/>
                  <a:gd name="csY1" fmla="*/ 30237 h 202741"/>
                  <a:gd name="csX2" fmla="*/ 153004 w 152055"/>
                  <a:gd name="csY2" fmla="*/ 89370 h 202741"/>
                  <a:gd name="csX3" fmla="*/ 76976 w 152055"/>
                  <a:gd name="csY3" fmla="*/ 203412 h 202741"/>
                  <a:gd name="csX4" fmla="*/ 948 w 152055"/>
                  <a:gd name="csY4" fmla="*/ 89370 h 202741"/>
                  <a:gd name="csX5" fmla="*/ 948 w 152055"/>
                  <a:gd name="csY5" fmla="*/ 30237 h 202741"/>
                  <a:gd name="csX6" fmla="*/ 76976 w 152055"/>
                  <a:gd name="csY6" fmla="*/ 670 h 2027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52055" h="202741">
                    <a:moveTo>
                      <a:pt x="76976" y="670"/>
                    </a:moveTo>
                    <a:lnTo>
                      <a:pt x="153004" y="30237"/>
                    </a:lnTo>
                    <a:lnTo>
                      <a:pt x="153004" y="89370"/>
                    </a:lnTo>
                    <a:cubicBezTo>
                      <a:pt x="153004" y="148503"/>
                      <a:pt x="114990" y="186517"/>
                      <a:pt x="76976" y="203412"/>
                    </a:cubicBezTo>
                    <a:cubicBezTo>
                      <a:pt x="38962" y="186517"/>
                      <a:pt x="948" y="148503"/>
                      <a:pt x="948" y="89370"/>
                    </a:cubicBezTo>
                    <a:lnTo>
                      <a:pt x="948" y="30237"/>
                    </a:lnTo>
                    <a:lnTo>
                      <a:pt x="76976" y="670"/>
                    </a:lnTo>
                    <a:close/>
                  </a:path>
                </a:pathLst>
              </a:custGeom>
              <a:solidFill>
                <a:srgbClr val="23A055"/>
              </a:solidFill>
              <a:ln w="422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89" name="任意形状 288"/>
              <p:cNvSpPr/>
              <p:nvPr/>
            </p:nvSpPr>
            <p:spPr>
              <a:xfrm>
                <a:off x="6836438" y="4598108"/>
                <a:ext cx="71804" cy="63356"/>
              </a:xfrm>
              <a:custGeom>
                <a:avLst/>
                <a:gdLst>
                  <a:gd name="csX0" fmla="*/ 948 w 71804"/>
                  <a:gd name="csY0" fmla="*/ 34461 h 63356"/>
                  <a:gd name="csX1" fmla="*/ 26291 w 71804"/>
                  <a:gd name="csY1" fmla="*/ 64028 h 63356"/>
                  <a:gd name="csX2" fmla="*/ 72753 w 71804"/>
                  <a:gd name="csY2" fmla="*/ 671 h 633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1804" h="63356">
                    <a:moveTo>
                      <a:pt x="948" y="34461"/>
                    </a:moveTo>
                    <a:lnTo>
                      <a:pt x="26291" y="64028"/>
                    </a:lnTo>
                    <a:lnTo>
                      <a:pt x="72753" y="671"/>
                    </a:lnTo>
                  </a:path>
                </a:pathLst>
              </a:custGeom>
              <a:noFill/>
              <a:ln w="16889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290" name="文本框 289"/>
            <p:cNvSpPr txBox="1"/>
            <p:nvPr/>
          </p:nvSpPr>
          <p:spPr>
            <a:xfrm>
              <a:off x="6600916" y="4753742"/>
              <a:ext cx="59182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44444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determined</a:t>
              </a:r>
              <a:endParaRPr lang="zh-CN" altLang="en-US" sz="700" spc="0" baseline="0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291" name="任意形状 290"/>
            <p:cNvSpPr/>
            <p:nvPr/>
          </p:nvSpPr>
          <p:spPr>
            <a:xfrm>
              <a:off x="6378686" y="5873689"/>
              <a:ext cx="290384" cy="6599"/>
            </a:xfrm>
            <a:custGeom>
              <a:avLst/>
              <a:gdLst>
                <a:gd name="csX0" fmla="*/ 0 w 290384"/>
                <a:gd name="csY0" fmla="*/ 0 h 6599"/>
                <a:gd name="csX1" fmla="*/ 290385 w 290384"/>
                <a:gd name="csY1" fmla="*/ 0 h 6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0384" h="6599">
                  <a:moveTo>
                    <a:pt x="0" y="0"/>
                  </a:moveTo>
                  <a:lnTo>
                    <a:pt x="290385" y="0"/>
                  </a:lnTo>
                </a:path>
              </a:pathLst>
            </a:custGeom>
            <a:ln w="19791" cap="flat">
              <a:solidFill>
                <a:srgbClr val="EF7E1F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92" name="圆角矩形 291"/>
            <p:cNvSpPr/>
            <p:nvPr/>
          </p:nvSpPr>
          <p:spPr>
            <a:xfrm>
              <a:off x="6682270" y="5609703"/>
              <a:ext cx="395979" cy="527972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3194" cap="flat">
              <a:solidFill>
                <a:srgbClr val="F7B97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293" name="图形 4"/>
            <p:cNvGrpSpPr/>
            <p:nvPr/>
          </p:nvGrpSpPr>
          <p:grpSpPr>
            <a:xfrm>
              <a:off x="6741414" y="5688716"/>
              <a:ext cx="255198" cy="246221"/>
              <a:chOff x="6741414" y="5688716"/>
              <a:chExt cx="255198" cy="246221"/>
            </a:xfrm>
            <a:solidFill>
              <a:srgbClr val="000000"/>
            </a:solidFill>
          </p:grpSpPr>
          <p:sp>
            <p:nvSpPr>
              <p:cNvPr id="294" name="椭圆 293"/>
              <p:cNvSpPr/>
              <p:nvPr/>
            </p:nvSpPr>
            <p:spPr>
              <a:xfrm>
                <a:off x="6767802" y="5708434"/>
                <a:ext cx="191653" cy="191653"/>
              </a:xfrm>
              <a:prstGeom prst="ellipse">
                <a:avLst/>
              </a:prstGeom>
              <a:solidFill>
                <a:srgbClr val="F18A1E"/>
              </a:solidFill>
              <a:ln w="435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6741414" y="5688716"/>
                <a:ext cx="25519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FFFFFF"/>
                    </a:solidFill>
                    <a:latin typeface="Georgia" panose="02040502050405090303"/>
                    <a:sym typeface="Georgia" panose="02040502050405090303"/>
                    <a:rtl val="0"/>
                  </a:rPr>
                  <a:t>?</a:t>
                </a:r>
                <a:endParaRPr lang="zh-CN" altLang="en-US" sz="1000" b="1" spc="0" baseline="0" dirty="0">
                  <a:solidFill>
                    <a:srgbClr val="FFFFFF"/>
                  </a:solidFill>
                  <a:latin typeface="Georgia" panose="02040502050405090303"/>
                  <a:sym typeface="Georgia" panose="02040502050405090303"/>
                  <a:rtl val="0"/>
                </a:endParaRPr>
              </a:p>
            </p:txBody>
          </p:sp>
        </p:grpSp>
        <p:sp>
          <p:nvSpPr>
            <p:cNvPr id="296" name="文本框 295"/>
            <p:cNvSpPr txBox="1"/>
            <p:nvPr/>
          </p:nvSpPr>
          <p:spPr>
            <a:xfrm>
              <a:off x="6647056" y="5935079"/>
              <a:ext cx="48282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44444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non-det.</a:t>
              </a:r>
              <a:endParaRPr lang="zh-CN" altLang="en-US" sz="700" spc="0" baseline="0" dirty="0">
                <a:solidFill>
                  <a:srgbClr val="444444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297" name="图形 4"/>
          <p:cNvGrpSpPr/>
          <p:nvPr/>
        </p:nvGrpSpPr>
        <p:grpSpPr>
          <a:xfrm>
            <a:off x="7289234" y="3431207"/>
            <a:ext cx="2375874" cy="2692657"/>
            <a:chOff x="7381834" y="3709003"/>
            <a:chExt cx="2375874" cy="2692657"/>
          </a:xfrm>
        </p:grpSpPr>
        <p:sp>
          <p:nvSpPr>
            <p:cNvPr id="298" name="圆角矩形 297"/>
            <p:cNvSpPr/>
            <p:nvPr/>
          </p:nvSpPr>
          <p:spPr>
            <a:xfrm>
              <a:off x="7381834" y="3709003"/>
              <a:ext cx="2375874" cy="2692657"/>
            </a:xfrm>
            <a:prstGeom prst="roundRect">
              <a:avLst>
                <a:gd name="adj" fmla="val 3888"/>
              </a:avLst>
            </a:prstGeom>
            <a:solidFill>
              <a:srgbClr val="FFF8F1"/>
            </a:solidFill>
            <a:ln w="13194" cap="flat">
              <a:solidFill>
                <a:srgbClr val="EDC39A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299" name="圆角矩形 298"/>
            <p:cNvSpPr/>
            <p:nvPr/>
          </p:nvSpPr>
          <p:spPr>
            <a:xfrm>
              <a:off x="7487428" y="3768400"/>
              <a:ext cx="2166422" cy="250786"/>
            </a:xfrm>
            <a:prstGeom prst="roundRect">
              <a:avLst>
                <a:gd name="adj" fmla="val 26315"/>
              </a:avLst>
            </a:prstGeom>
            <a:solidFill>
              <a:srgbClr val="FCE6D0"/>
            </a:solidFill>
            <a:ln w="13194" cap="flat">
              <a:solidFill>
                <a:srgbClr val="EDC39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300" name="椭圆 299"/>
            <p:cNvSpPr/>
            <p:nvPr/>
          </p:nvSpPr>
          <p:spPr>
            <a:xfrm>
              <a:off x="7529713" y="3783965"/>
              <a:ext cx="224388" cy="224388"/>
            </a:xfrm>
            <a:prstGeom prst="ellipse">
              <a:avLst/>
            </a:prstGeom>
            <a:solidFill>
              <a:srgbClr val="D88437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301" name="文本框 300"/>
            <p:cNvSpPr txBox="1"/>
            <p:nvPr/>
          </p:nvSpPr>
          <p:spPr>
            <a:xfrm>
              <a:off x="7527573" y="3772416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3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02" name="文本框 301"/>
            <p:cNvSpPr txBox="1"/>
            <p:nvPr/>
          </p:nvSpPr>
          <p:spPr>
            <a:xfrm>
              <a:off x="7754029" y="3757979"/>
              <a:ext cx="189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spc="0" baseline="0" dirty="0">
                  <a:solidFill>
                    <a:srgbClr val="EE7519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Status-aware </a:t>
              </a:r>
              <a:r>
                <a:rPr lang="en-US" altLang="zh-CN" sz="1000" b="1" spc="0" baseline="0" dirty="0">
                  <a:solidFill>
                    <a:srgbClr val="EE7519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Completion</a:t>
              </a:r>
              <a:endParaRPr lang="zh-CN" altLang="en-US" sz="1000" b="1" spc="0" baseline="0" dirty="0">
                <a:solidFill>
                  <a:srgbClr val="EE751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03" name="圆角矩形 302"/>
            <p:cNvSpPr/>
            <p:nvPr/>
          </p:nvSpPr>
          <p:spPr>
            <a:xfrm>
              <a:off x="7527026" y="417097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304" name="图形 4"/>
            <p:cNvGrpSpPr/>
            <p:nvPr/>
          </p:nvGrpSpPr>
          <p:grpSpPr>
            <a:xfrm>
              <a:off x="7686738" y="4297692"/>
              <a:ext cx="147304" cy="147304"/>
              <a:chOff x="7686738" y="4297692"/>
              <a:chExt cx="147304" cy="147304"/>
            </a:xfrm>
            <a:solidFill>
              <a:srgbClr val="000000"/>
            </a:solidFill>
          </p:grpSpPr>
          <p:sp>
            <p:nvSpPr>
              <p:cNvPr id="305" name="椭圆 304"/>
              <p:cNvSpPr/>
              <p:nvPr/>
            </p:nvSpPr>
            <p:spPr>
              <a:xfrm>
                <a:off x="7686738" y="4297692"/>
                <a:ext cx="147304" cy="147304"/>
              </a:xfrm>
              <a:prstGeom prst="ellipse">
                <a:avLst/>
              </a:prstGeom>
              <a:noFill/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06" name="任意形状 305"/>
              <p:cNvSpPr/>
              <p:nvPr/>
            </p:nvSpPr>
            <p:spPr>
              <a:xfrm>
                <a:off x="7760390" y="4322243"/>
                <a:ext cx="6599" cy="49101"/>
              </a:xfrm>
              <a:custGeom>
                <a:avLst/>
                <a:gdLst>
                  <a:gd name="csX0" fmla="*/ 1087 w 6599"/>
                  <a:gd name="csY0" fmla="*/ 49738 h 49101"/>
                  <a:gd name="csX1" fmla="*/ 1087 w 6599"/>
                  <a:gd name="csY1" fmla="*/ 637 h 491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49101">
                    <a:moveTo>
                      <a:pt x="1087" y="49738"/>
                    </a:moveTo>
                    <a:lnTo>
                      <a:pt x="1087" y="637"/>
                    </a:lnTo>
                  </a:path>
                </a:pathLst>
              </a:custGeom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07" name="任意形状 306"/>
              <p:cNvSpPr/>
              <p:nvPr/>
            </p:nvSpPr>
            <p:spPr>
              <a:xfrm>
                <a:off x="7760390" y="4346794"/>
                <a:ext cx="36826" cy="24550"/>
              </a:xfrm>
              <a:custGeom>
                <a:avLst/>
                <a:gdLst>
                  <a:gd name="csX0" fmla="*/ 1086 w 36826"/>
                  <a:gd name="csY0" fmla="*/ 25186 h 24550"/>
                  <a:gd name="csX1" fmla="*/ 37912 w 36826"/>
                  <a:gd name="csY1" fmla="*/ 636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826" h="24550">
                    <a:moveTo>
                      <a:pt x="1086" y="25186"/>
                    </a:moveTo>
                    <a:lnTo>
                      <a:pt x="37912" y="636"/>
                    </a:lnTo>
                  </a:path>
                </a:pathLst>
              </a:custGeom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308" name="文本框 307"/>
            <p:cNvSpPr txBox="1"/>
            <p:nvPr/>
          </p:nvSpPr>
          <p:spPr>
            <a:xfrm>
              <a:off x="7994494" y="4219430"/>
              <a:ext cx="12009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Non-determined state z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09" name="文本框 308"/>
            <p:cNvSpPr txBox="1"/>
            <p:nvPr/>
          </p:nvSpPr>
          <p:spPr>
            <a:xfrm>
              <a:off x="7717684" y="4413745"/>
              <a:ext cx="179728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timeout / unsupported / runtime / conversion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10" name="任意形状 309"/>
            <p:cNvSpPr/>
            <p:nvPr/>
          </p:nvSpPr>
          <p:spPr>
            <a:xfrm>
              <a:off x="8569771" y="4712150"/>
              <a:ext cx="6599" cy="184790"/>
            </a:xfrm>
            <a:custGeom>
              <a:avLst/>
              <a:gdLst>
                <a:gd name="csX0" fmla="*/ 0 w 6599"/>
                <a:gd name="csY0" fmla="*/ 0 h 184790"/>
                <a:gd name="csX1" fmla="*/ 0 w 6599"/>
                <a:gd name="csY1" fmla="*/ 184790 h 184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84790">
                  <a:moveTo>
                    <a:pt x="0" y="0"/>
                  </a:moveTo>
                  <a:lnTo>
                    <a:pt x="0" y="184790"/>
                  </a:lnTo>
                </a:path>
              </a:pathLst>
            </a:custGeom>
            <a:ln w="16493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311" name="圆角矩形 310"/>
            <p:cNvSpPr/>
            <p:nvPr/>
          </p:nvSpPr>
          <p:spPr>
            <a:xfrm>
              <a:off x="7527026" y="492333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312" name="图形 4"/>
            <p:cNvGrpSpPr/>
            <p:nvPr/>
          </p:nvGrpSpPr>
          <p:grpSpPr>
            <a:xfrm>
              <a:off x="7688057" y="5057972"/>
              <a:ext cx="221748" cy="190069"/>
              <a:chOff x="7688057" y="5057972"/>
              <a:chExt cx="221748" cy="190069"/>
            </a:xfrm>
            <a:solidFill>
              <a:srgbClr val="000000"/>
            </a:solidFill>
          </p:grpSpPr>
          <p:sp>
            <p:nvSpPr>
              <p:cNvPr id="313" name="圆角矩形 312"/>
              <p:cNvSpPr/>
              <p:nvPr/>
            </p:nvSpPr>
            <p:spPr>
              <a:xfrm>
                <a:off x="7688057" y="5057972"/>
                <a:ext cx="221748" cy="137272"/>
              </a:xfrm>
              <a:prstGeom prst="roundRect">
                <a:avLst>
                  <a:gd name="adj" fmla="val 23077"/>
                </a:avLst>
              </a:prstGeom>
              <a:noFill/>
              <a:ln w="12666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14" name="任意形状 313"/>
              <p:cNvSpPr/>
              <p:nvPr/>
            </p:nvSpPr>
            <p:spPr>
              <a:xfrm>
                <a:off x="7740855" y="5195245"/>
                <a:ext cx="52797" cy="52797"/>
              </a:xfrm>
              <a:custGeom>
                <a:avLst/>
                <a:gdLst>
                  <a:gd name="csX0" fmla="*/ 11653 w 52797"/>
                  <a:gd name="csY0" fmla="*/ 752 h 52797"/>
                  <a:gd name="csX1" fmla="*/ 1093 w 52797"/>
                  <a:gd name="csY1" fmla="*/ 53549 h 52797"/>
                  <a:gd name="csX2" fmla="*/ 53891 w 52797"/>
                  <a:gd name="csY2" fmla="*/ 752 h 52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797" h="52797">
                    <a:moveTo>
                      <a:pt x="11653" y="752"/>
                    </a:moveTo>
                    <a:lnTo>
                      <a:pt x="1093" y="53549"/>
                    </a:lnTo>
                    <a:lnTo>
                      <a:pt x="53891" y="752"/>
                    </a:lnTo>
                  </a:path>
                </a:pathLst>
              </a:custGeom>
              <a:noFill/>
              <a:ln w="12666" cap="flat">
                <a:solidFill>
                  <a:srgbClr val="2D336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15" name="任意形状 314"/>
              <p:cNvSpPr/>
              <p:nvPr/>
            </p:nvSpPr>
            <p:spPr>
              <a:xfrm>
                <a:off x="7730295" y="5100210"/>
                <a:ext cx="137272" cy="6599"/>
              </a:xfrm>
              <a:custGeom>
                <a:avLst/>
                <a:gdLst>
                  <a:gd name="csX0" fmla="*/ 1092 w 137272"/>
                  <a:gd name="csY0" fmla="*/ 757 h 6599"/>
                  <a:gd name="csX1" fmla="*/ 138365 w 137272"/>
                  <a:gd name="csY1" fmla="*/ 757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7272" h="6599">
                    <a:moveTo>
                      <a:pt x="1092" y="757"/>
                    </a:moveTo>
                    <a:lnTo>
                      <a:pt x="138365" y="757"/>
                    </a:lnTo>
                  </a:path>
                </a:pathLst>
              </a:custGeom>
              <a:ln w="1055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16" name="任意形状 315"/>
              <p:cNvSpPr/>
              <p:nvPr/>
            </p:nvSpPr>
            <p:spPr>
              <a:xfrm>
                <a:off x="7730295" y="5137168"/>
                <a:ext cx="105594" cy="6599"/>
              </a:xfrm>
              <a:custGeom>
                <a:avLst/>
                <a:gdLst>
                  <a:gd name="csX0" fmla="*/ 1093 w 105594"/>
                  <a:gd name="csY0" fmla="*/ 755 h 6599"/>
                  <a:gd name="csX1" fmla="*/ 106687 w 105594"/>
                  <a:gd name="csY1" fmla="*/ 755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5594" h="6599">
                    <a:moveTo>
                      <a:pt x="1093" y="755"/>
                    </a:moveTo>
                    <a:lnTo>
                      <a:pt x="106687" y="755"/>
                    </a:lnTo>
                  </a:path>
                </a:pathLst>
              </a:custGeom>
              <a:ln w="1055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317" name="文本框 316"/>
            <p:cNvSpPr txBox="1"/>
            <p:nvPr/>
          </p:nvSpPr>
          <p:spPr>
            <a:xfrm>
              <a:off x="8033145" y="4996149"/>
              <a:ext cx="11208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Prompt Construction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7964257" y="5194023"/>
              <a:ext cx="120898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SQL pair + schema + state z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19" name="任意形状 318"/>
            <p:cNvSpPr/>
            <p:nvPr/>
          </p:nvSpPr>
          <p:spPr>
            <a:xfrm>
              <a:off x="8569771" y="5464510"/>
              <a:ext cx="6599" cy="171590"/>
            </a:xfrm>
            <a:custGeom>
              <a:avLst/>
              <a:gdLst>
                <a:gd name="csX0" fmla="*/ 0 w 6599"/>
                <a:gd name="csY0" fmla="*/ 0 h 171590"/>
                <a:gd name="csX1" fmla="*/ 0 w 6599"/>
                <a:gd name="csY1" fmla="*/ 171591 h 171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71590">
                  <a:moveTo>
                    <a:pt x="0" y="0"/>
                  </a:moveTo>
                  <a:lnTo>
                    <a:pt x="0" y="171591"/>
                  </a:lnTo>
                </a:path>
              </a:pathLst>
            </a:custGeom>
            <a:ln w="16493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320" name="圆角矩形 319"/>
            <p:cNvSpPr/>
            <p:nvPr/>
          </p:nvSpPr>
          <p:spPr>
            <a:xfrm>
              <a:off x="7527026" y="5662500"/>
              <a:ext cx="956949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321" name="图形 4"/>
            <p:cNvGrpSpPr/>
            <p:nvPr/>
          </p:nvGrpSpPr>
          <p:grpSpPr>
            <a:xfrm>
              <a:off x="7664431" y="5777598"/>
              <a:ext cx="208681" cy="171854"/>
              <a:chOff x="7664431" y="5777598"/>
              <a:chExt cx="208681" cy="171854"/>
            </a:xfrm>
            <a:solidFill>
              <a:srgbClr val="000000"/>
            </a:solidFill>
          </p:grpSpPr>
          <p:sp>
            <p:nvSpPr>
              <p:cNvPr id="322" name="圆角矩形 321"/>
              <p:cNvSpPr/>
              <p:nvPr/>
            </p:nvSpPr>
            <p:spPr>
              <a:xfrm>
                <a:off x="7701257" y="5810332"/>
                <a:ext cx="130937" cy="106386"/>
              </a:xfrm>
              <a:prstGeom prst="roundRect">
                <a:avLst>
                  <a:gd name="adj" fmla="val 26923"/>
                </a:avLst>
              </a:prstGeom>
              <a:noFill/>
              <a:ln w="12270" cap="flat">
                <a:solidFill>
                  <a:srgbClr val="1F3F8B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23" name="椭圆 322"/>
              <p:cNvSpPr/>
              <p:nvPr/>
            </p:nvSpPr>
            <p:spPr>
              <a:xfrm>
                <a:off x="7732354" y="5853705"/>
                <a:ext cx="19640" cy="19640"/>
              </a:xfrm>
              <a:prstGeom prst="ellipse">
                <a:avLst/>
              </a:prstGeom>
              <a:solidFill>
                <a:srgbClr val="1F3F8B"/>
              </a:solidFill>
              <a:ln w="40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24" name="椭圆 323"/>
              <p:cNvSpPr/>
              <p:nvPr/>
            </p:nvSpPr>
            <p:spPr>
              <a:xfrm>
                <a:off x="7781456" y="5853705"/>
                <a:ext cx="19640" cy="19640"/>
              </a:xfrm>
              <a:prstGeom prst="ellipse">
                <a:avLst/>
              </a:prstGeom>
              <a:solidFill>
                <a:srgbClr val="1F3F8B"/>
              </a:solidFill>
              <a:ln w="40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25" name="任意形状 324"/>
              <p:cNvSpPr/>
              <p:nvPr/>
            </p:nvSpPr>
            <p:spPr>
              <a:xfrm>
                <a:off x="7725807" y="5777598"/>
                <a:ext cx="139120" cy="171854"/>
              </a:xfrm>
              <a:custGeom>
                <a:avLst/>
                <a:gdLst>
                  <a:gd name="csX0" fmla="*/ 21537 w 139120"/>
                  <a:gd name="csY0" fmla="*/ 115425 h 171854"/>
                  <a:gd name="csX1" fmla="*/ 62454 w 139120"/>
                  <a:gd name="csY1" fmla="*/ 115425 h 171854"/>
                  <a:gd name="csX2" fmla="*/ 41996 w 139120"/>
                  <a:gd name="csY2" fmla="*/ 855 h 171854"/>
                  <a:gd name="csX3" fmla="*/ 41996 w 139120"/>
                  <a:gd name="csY3" fmla="*/ 33590 h 171854"/>
                  <a:gd name="csX4" fmla="*/ 1078 w 139120"/>
                  <a:gd name="csY4" fmla="*/ 139976 h 171854"/>
                  <a:gd name="csX5" fmla="*/ 1078 w 139120"/>
                  <a:gd name="csY5" fmla="*/ 172710 h 171854"/>
                  <a:gd name="csX6" fmla="*/ 82913 w 139120"/>
                  <a:gd name="csY6" fmla="*/ 139976 h 171854"/>
                  <a:gd name="csX7" fmla="*/ 82913 w 139120"/>
                  <a:gd name="csY7" fmla="*/ 172710 h 171854"/>
                  <a:gd name="csX8" fmla="*/ 107464 w 139120"/>
                  <a:gd name="csY8" fmla="*/ 66324 h 171854"/>
                  <a:gd name="csX9" fmla="*/ 140198 w 139120"/>
                  <a:gd name="csY9" fmla="*/ 66324 h 1718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39120" h="171854">
                    <a:moveTo>
                      <a:pt x="21537" y="115425"/>
                    </a:moveTo>
                    <a:lnTo>
                      <a:pt x="62454" y="115425"/>
                    </a:lnTo>
                    <a:moveTo>
                      <a:pt x="41996" y="855"/>
                    </a:moveTo>
                    <a:lnTo>
                      <a:pt x="41996" y="33590"/>
                    </a:lnTo>
                    <a:moveTo>
                      <a:pt x="1078" y="139976"/>
                    </a:moveTo>
                    <a:lnTo>
                      <a:pt x="1078" y="172710"/>
                    </a:lnTo>
                    <a:moveTo>
                      <a:pt x="82913" y="139976"/>
                    </a:moveTo>
                    <a:lnTo>
                      <a:pt x="82913" y="172710"/>
                    </a:lnTo>
                    <a:moveTo>
                      <a:pt x="107464" y="66324"/>
                    </a:moveTo>
                    <a:lnTo>
                      <a:pt x="140198" y="66324"/>
                    </a:lnTo>
                  </a:path>
                </a:pathLst>
              </a:custGeom>
              <a:noFill/>
              <a:ln w="12270" cap="rnd">
                <a:solidFill>
                  <a:srgbClr val="1F3F8B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26" name="椭圆 325"/>
              <p:cNvSpPr/>
              <p:nvPr/>
            </p:nvSpPr>
            <p:spPr>
              <a:xfrm>
                <a:off x="7676706" y="5802149"/>
                <a:ext cx="16367" cy="16367"/>
              </a:xfrm>
              <a:prstGeom prst="ellipse">
                <a:avLst/>
              </a:prstGeom>
              <a:solidFill>
                <a:srgbClr val="6E33C7"/>
              </a:solidFill>
              <a:ln w="40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27" name="椭圆 326"/>
              <p:cNvSpPr/>
              <p:nvPr/>
            </p:nvSpPr>
            <p:spPr>
              <a:xfrm>
                <a:off x="7844469" y="5793965"/>
                <a:ext cx="16367" cy="16367"/>
              </a:xfrm>
              <a:prstGeom prst="ellipse">
                <a:avLst/>
              </a:prstGeom>
              <a:solidFill>
                <a:srgbClr val="6E33C7"/>
              </a:solidFill>
              <a:ln w="40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28" name="椭圆 327"/>
              <p:cNvSpPr/>
              <p:nvPr/>
            </p:nvSpPr>
            <p:spPr>
              <a:xfrm>
                <a:off x="7856745" y="5900351"/>
                <a:ext cx="16367" cy="16367"/>
              </a:xfrm>
              <a:prstGeom prst="ellipse">
                <a:avLst/>
              </a:prstGeom>
              <a:solidFill>
                <a:srgbClr val="6E33C7"/>
              </a:solidFill>
              <a:ln w="40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29" name="椭圆 328"/>
              <p:cNvSpPr/>
              <p:nvPr/>
            </p:nvSpPr>
            <p:spPr>
              <a:xfrm>
                <a:off x="7664431" y="5892168"/>
                <a:ext cx="16367" cy="16367"/>
              </a:xfrm>
              <a:prstGeom prst="ellipse">
                <a:avLst/>
              </a:prstGeom>
              <a:solidFill>
                <a:srgbClr val="6E33C7"/>
              </a:solidFill>
              <a:ln w="409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330" name="文本框 329"/>
            <p:cNvSpPr txBox="1"/>
            <p:nvPr/>
          </p:nvSpPr>
          <p:spPr>
            <a:xfrm>
              <a:off x="7704073" y="5930260"/>
              <a:ext cx="6463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Local SFT</a:t>
              </a:r>
              <a:r>
                <a:rPr lang="zh-CN" altLang="en-US" sz="8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 </a:t>
              </a:r>
              <a:endParaRPr lang="en-US" altLang="zh-CN" sz="8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Model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32" name="圆角矩形 331"/>
            <p:cNvSpPr/>
            <p:nvPr/>
          </p:nvSpPr>
          <p:spPr>
            <a:xfrm>
              <a:off x="8615969" y="5662500"/>
              <a:ext cx="996547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333" name="图形 4"/>
            <p:cNvGrpSpPr/>
            <p:nvPr/>
          </p:nvGrpSpPr>
          <p:grpSpPr>
            <a:xfrm>
              <a:off x="8738722" y="5752255"/>
              <a:ext cx="254086" cy="189409"/>
              <a:chOff x="8738722" y="5752255"/>
              <a:chExt cx="254086" cy="189409"/>
            </a:xfrm>
            <a:solidFill>
              <a:srgbClr val="000000"/>
            </a:solidFill>
          </p:grpSpPr>
          <p:sp>
            <p:nvSpPr>
              <p:cNvPr id="334" name="圆角矩形 333"/>
              <p:cNvSpPr/>
              <p:nvPr/>
            </p:nvSpPr>
            <p:spPr>
              <a:xfrm>
                <a:off x="8738722" y="5752255"/>
                <a:ext cx="120113" cy="157071"/>
              </a:xfrm>
              <a:prstGeom prst="roundRect">
                <a:avLst>
                  <a:gd name="adj" fmla="val 7692"/>
                </a:avLst>
              </a:prstGeom>
              <a:noFill/>
              <a:ln w="11083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35" name="任意形状 334"/>
              <p:cNvSpPr/>
              <p:nvPr/>
            </p:nvSpPr>
            <p:spPr>
              <a:xfrm>
                <a:off x="8775680" y="5789213"/>
                <a:ext cx="55437" cy="6599"/>
              </a:xfrm>
              <a:custGeom>
                <a:avLst/>
                <a:gdLst>
                  <a:gd name="csX0" fmla="*/ 1251 w 55437"/>
                  <a:gd name="csY0" fmla="*/ 861 h 6599"/>
                  <a:gd name="csX1" fmla="*/ 56688 w 55437"/>
                  <a:gd name="csY1" fmla="*/ 861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5437" h="6599">
                    <a:moveTo>
                      <a:pt x="1251" y="861"/>
                    </a:moveTo>
                    <a:lnTo>
                      <a:pt x="56688" y="861"/>
                    </a:lnTo>
                  </a:path>
                </a:pathLst>
              </a:custGeom>
              <a:ln w="10160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36" name="任意形状 335"/>
              <p:cNvSpPr/>
              <p:nvPr/>
            </p:nvSpPr>
            <p:spPr>
              <a:xfrm>
                <a:off x="8775680" y="5826171"/>
                <a:ext cx="55437" cy="6599"/>
              </a:xfrm>
              <a:custGeom>
                <a:avLst/>
                <a:gdLst>
                  <a:gd name="csX0" fmla="*/ 1251 w 55437"/>
                  <a:gd name="csY0" fmla="*/ 859 h 6599"/>
                  <a:gd name="csX1" fmla="*/ 56688 w 55437"/>
                  <a:gd name="csY1" fmla="*/ 859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5437" h="6599">
                    <a:moveTo>
                      <a:pt x="1251" y="859"/>
                    </a:moveTo>
                    <a:lnTo>
                      <a:pt x="56688" y="859"/>
                    </a:lnTo>
                  </a:path>
                </a:pathLst>
              </a:custGeom>
              <a:ln w="10160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37" name="任意形状 336"/>
              <p:cNvSpPr/>
              <p:nvPr/>
            </p:nvSpPr>
            <p:spPr>
              <a:xfrm>
                <a:off x="8775680" y="5863129"/>
                <a:ext cx="55437" cy="6599"/>
              </a:xfrm>
              <a:custGeom>
                <a:avLst/>
                <a:gdLst>
                  <a:gd name="csX0" fmla="*/ 1251 w 55437"/>
                  <a:gd name="csY0" fmla="*/ 856 h 6599"/>
                  <a:gd name="csX1" fmla="*/ 56688 w 55437"/>
                  <a:gd name="csY1" fmla="*/ 856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5437" h="6599">
                    <a:moveTo>
                      <a:pt x="1251" y="856"/>
                    </a:moveTo>
                    <a:lnTo>
                      <a:pt x="56688" y="856"/>
                    </a:lnTo>
                  </a:path>
                </a:pathLst>
              </a:custGeom>
              <a:ln w="10160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38" name="任意形状 337"/>
              <p:cNvSpPr/>
              <p:nvPr/>
            </p:nvSpPr>
            <p:spPr>
              <a:xfrm>
                <a:off x="8747962" y="5775354"/>
                <a:ext cx="32338" cy="27718"/>
              </a:xfrm>
              <a:custGeom>
                <a:avLst/>
                <a:gdLst>
                  <a:gd name="csX0" fmla="*/ 1254 w 32338"/>
                  <a:gd name="csY0" fmla="*/ 14720 h 27718"/>
                  <a:gd name="csX1" fmla="*/ 15113 w 32338"/>
                  <a:gd name="csY1" fmla="*/ 28580 h 27718"/>
                  <a:gd name="csX2" fmla="*/ 33592 w 32338"/>
                  <a:gd name="csY2" fmla="*/ 861 h 277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2338" h="27718">
                    <a:moveTo>
                      <a:pt x="1254" y="14720"/>
                    </a:moveTo>
                    <a:lnTo>
                      <a:pt x="15113" y="28580"/>
                    </a:lnTo>
                    <a:lnTo>
                      <a:pt x="33592" y="861"/>
                    </a:lnTo>
                  </a:path>
                </a:pathLst>
              </a:custGeom>
              <a:noFill/>
              <a:ln w="10160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39" name="任意形状 338"/>
              <p:cNvSpPr/>
              <p:nvPr/>
            </p:nvSpPr>
            <p:spPr>
              <a:xfrm>
                <a:off x="8747962" y="5812312"/>
                <a:ext cx="32338" cy="27718"/>
              </a:xfrm>
              <a:custGeom>
                <a:avLst/>
                <a:gdLst>
                  <a:gd name="csX0" fmla="*/ 1254 w 32338"/>
                  <a:gd name="csY0" fmla="*/ 14718 h 27718"/>
                  <a:gd name="csX1" fmla="*/ 15113 w 32338"/>
                  <a:gd name="csY1" fmla="*/ 28577 h 27718"/>
                  <a:gd name="csX2" fmla="*/ 33592 w 32338"/>
                  <a:gd name="csY2" fmla="*/ 859 h 277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2338" h="27718">
                    <a:moveTo>
                      <a:pt x="1254" y="14718"/>
                    </a:moveTo>
                    <a:lnTo>
                      <a:pt x="15113" y="28577"/>
                    </a:lnTo>
                    <a:lnTo>
                      <a:pt x="33592" y="859"/>
                    </a:lnTo>
                  </a:path>
                </a:pathLst>
              </a:custGeom>
              <a:noFill/>
              <a:ln w="10160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40" name="椭圆 339"/>
              <p:cNvSpPr/>
              <p:nvPr/>
            </p:nvSpPr>
            <p:spPr>
              <a:xfrm>
                <a:off x="8858836" y="5807692"/>
                <a:ext cx="110874" cy="110874"/>
              </a:xfrm>
              <a:prstGeom prst="ellipse">
                <a:avLst/>
              </a:prstGeom>
              <a:noFill/>
              <a:ln w="11083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41" name="任意形状 340"/>
              <p:cNvSpPr/>
              <p:nvPr/>
            </p:nvSpPr>
            <p:spPr>
              <a:xfrm>
                <a:off x="8951231" y="5900087"/>
                <a:ext cx="41577" cy="41577"/>
              </a:xfrm>
              <a:custGeom>
                <a:avLst/>
                <a:gdLst>
                  <a:gd name="csX0" fmla="*/ 1240 w 41577"/>
                  <a:gd name="csY0" fmla="*/ 853 h 41577"/>
                  <a:gd name="csX1" fmla="*/ 42818 w 41577"/>
                  <a:gd name="csY1" fmla="*/ 42430 h 415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1577" h="41577">
                    <a:moveTo>
                      <a:pt x="1240" y="853"/>
                    </a:moveTo>
                    <a:lnTo>
                      <a:pt x="42818" y="42430"/>
                    </a:lnTo>
                  </a:path>
                </a:pathLst>
              </a:custGeom>
              <a:ln w="12007" cap="flat">
                <a:solidFill>
                  <a:srgbClr val="1111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342" name="文本框 341"/>
            <p:cNvSpPr txBox="1"/>
            <p:nvPr/>
          </p:nvSpPr>
          <p:spPr>
            <a:xfrm>
              <a:off x="8738273" y="5906900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Answer Parsing</a:t>
              </a:r>
              <a:endParaRPr lang="en-US" altLang="zh-CN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&amp; Consistency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344" name="图形 4"/>
          <p:cNvGrpSpPr/>
          <p:nvPr/>
        </p:nvGrpSpPr>
        <p:grpSpPr>
          <a:xfrm>
            <a:off x="9889497" y="3431207"/>
            <a:ext cx="1715909" cy="2692657"/>
            <a:chOff x="9982097" y="3709003"/>
            <a:chExt cx="1715909" cy="2692657"/>
          </a:xfrm>
        </p:grpSpPr>
        <p:sp>
          <p:nvSpPr>
            <p:cNvPr id="345" name="圆角矩形 344"/>
            <p:cNvSpPr/>
            <p:nvPr/>
          </p:nvSpPr>
          <p:spPr>
            <a:xfrm>
              <a:off x="9982097" y="3709003"/>
              <a:ext cx="1715909" cy="2692657"/>
            </a:xfrm>
            <a:prstGeom prst="roundRect">
              <a:avLst>
                <a:gd name="adj" fmla="val 5384"/>
              </a:avLst>
            </a:prstGeom>
            <a:solidFill>
              <a:srgbClr val="F4F4F4"/>
            </a:solidFill>
            <a:ln w="13194" cap="flat">
              <a:solidFill>
                <a:srgbClr val="D3D3D3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346" name="圆角矩形 345"/>
            <p:cNvSpPr/>
            <p:nvPr/>
          </p:nvSpPr>
          <p:spPr>
            <a:xfrm>
              <a:off x="10087691" y="3768400"/>
              <a:ext cx="1563635" cy="250786"/>
            </a:xfrm>
            <a:prstGeom prst="roundRect">
              <a:avLst>
                <a:gd name="adj" fmla="val 26315"/>
              </a:avLst>
            </a:prstGeom>
            <a:solidFill>
              <a:srgbClr val="E8E8E8"/>
            </a:solidFill>
            <a:ln w="13194" cap="flat">
              <a:solidFill>
                <a:srgbClr val="D3D3D3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347" name="椭圆 346"/>
            <p:cNvSpPr/>
            <p:nvPr/>
          </p:nvSpPr>
          <p:spPr>
            <a:xfrm>
              <a:off x="10120689" y="3779081"/>
              <a:ext cx="224388" cy="224388"/>
            </a:xfrm>
            <a:prstGeom prst="ellipse">
              <a:avLst/>
            </a:prstGeom>
            <a:solidFill>
              <a:srgbClr val="6E6E6E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348" name="文本框 347"/>
            <p:cNvSpPr txBox="1"/>
            <p:nvPr/>
          </p:nvSpPr>
          <p:spPr>
            <a:xfrm>
              <a:off x="10108445" y="3767532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4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49" name="文本框 348"/>
            <p:cNvSpPr txBox="1"/>
            <p:nvPr/>
          </p:nvSpPr>
          <p:spPr>
            <a:xfrm>
              <a:off x="10255114" y="3767450"/>
              <a:ext cx="143821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6E6E6E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Source-aware Decision</a:t>
              </a:r>
              <a:endParaRPr lang="zh-CN" altLang="en-US" sz="1000" b="1" spc="0" baseline="0" dirty="0">
                <a:solidFill>
                  <a:srgbClr val="6E6E6E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50" name="圆角矩形 349"/>
            <p:cNvSpPr/>
            <p:nvPr/>
          </p:nvSpPr>
          <p:spPr>
            <a:xfrm>
              <a:off x="10133889" y="4256774"/>
              <a:ext cx="1385926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A7D1B2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351" name="图形 4"/>
            <p:cNvGrpSpPr/>
            <p:nvPr/>
          </p:nvGrpSpPr>
          <p:grpSpPr>
            <a:xfrm>
              <a:off x="10273273" y="4386392"/>
              <a:ext cx="137800" cy="183734"/>
              <a:chOff x="10273273" y="4386392"/>
              <a:chExt cx="137800" cy="183734"/>
            </a:xfrm>
            <a:solidFill>
              <a:srgbClr val="000000"/>
            </a:solidFill>
          </p:grpSpPr>
          <p:sp>
            <p:nvSpPr>
              <p:cNvPr id="352" name="任意形状 351"/>
              <p:cNvSpPr/>
              <p:nvPr/>
            </p:nvSpPr>
            <p:spPr>
              <a:xfrm>
                <a:off x="10273273" y="4386392"/>
                <a:ext cx="137800" cy="183734"/>
              </a:xfrm>
              <a:custGeom>
                <a:avLst/>
                <a:gdLst>
                  <a:gd name="csX0" fmla="*/ 70375 w 137800"/>
                  <a:gd name="csY0" fmla="*/ 647 h 183734"/>
                  <a:gd name="csX1" fmla="*/ 139275 w 137800"/>
                  <a:gd name="csY1" fmla="*/ 27441 h 183734"/>
                  <a:gd name="csX2" fmla="*/ 139275 w 137800"/>
                  <a:gd name="csY2" fmla="*/ 81030 h 183734"/>
                  <a:gd name="csX3" fmla="*/ 70375 w 137800"/>
                  <a:gd name="csY3" fmla="*/ 184381 h 183734"/>
                  <a:gd name="csX4" fmla="*/ 1475 w 137800"/>
                  <a:gd name="csY4" fmla="*/ 81030 h 183734"/>
                  <a:gd name="csX5" fmla="*/ 1475 w 137800"/>
                  <a:gd name="csY5" fmla="*/ 27441 h 183734"/>
                  <a:gd name="csX6" fmla="*/ 70375 w 137800"/>
                  <a:gd name="csY6" fmla="*/ 647 h 183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37800" h="183734">
                    <a:moveTo>
                      <a:pt x="70375" y="647"/>
                    </a:moveTo>
                    <a:lnTo>
                      <a:pt x="139275" y="27441"/>
                    </a:lnTo>
                    <a:lnTo>
                      <a:pt x="139275" y="81030"/>
                    </a:lnTo>
                    <a:cubicBezTo>
                      <a:pt x="139275" y="134619"/>
                      <a:pt x="104825" y="169070"/>
                      <a:pt x="70375" y="184381"/>
                    </a:cubicBezTo>
                    <a:cubicBezTo>
                      <a:pt x="35925" y="169070"/>
                      <a:pt x="1475" y="134619"/>
                      <a:pt x="1475" y="81030"/>
                    </a:cubicBezTo>
                    <a:lnTo>
                      <a:pt x="1475" y="27441"/>
                    </a:lnTo>
                    <a:lnTo>
                      <a:pt x="70375" y="647"/>
                    </a:lnTo>
                    <a:close/>
                  </a:path>
                </a:pathLst>
              </a:custGeom>
              <a:solidFill>
                <a:srgbClr val="23A055"/>
              </a:solidFill>
              <a:ln w="3826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53" name="任意形状 352"/>
              <p:cNvSpPr/>
              <p:nvPr/>
            </p:nvSpPr>
            <p:spPr>
              <a:xfrm>
                <a:off x="10311551" y="4443808"/>
                <a:ext cx="65072" cy="57416"/>
              </a:xfrm>
              <a:custGeom>
                <a:avLst/>
                <a:gdLst>
                  <a:gd name="csX0" fmla="*/ 1474 w 65072"/>
                  <a:gd name="csY0" fmla="*/ 31270 h 57416"/>
                  <a:gd name="csX1" fmla="*/ 24441 w 65072"/>
                  <a:gd name="csY1" fmla="*/ 58064 h 57416"/>
                  <a:gd name="csX2" fmla="*/ 66547 w 65072"/>
                  <a:gd name="csY2" fmla="*/ 647 h 574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5072" h="57416">
                    <a:moveTo>
                      <a:pt x="1474" y="31270"/>
                    </a:moveTo>
                    <a:lnTo>
                      <a:pt x="24441" y="58064"/>
                    </a:lnTo>
                    <a:lnTo>
                      <a:pt x="66547" y="647"/>
                    </a:lnTo>
                  </a:path>
                </a:pathLst>
              </a:custGeom>
              <a:noFill/>
              <a:ln w="15306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354" name="文本框 353"/>
            <p:cNvSpPr txBox="1"/>
            <p:nvPr/>
          </p:nvSpPr>
          <p:spPr>
            <a:xfrm>
              <a:off x="10591289" y="4333101"/>
              <a:ext cx="4796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formal</a:t>
              </a:r>
              <a:endParaRPr lang="zh-CN" altLang="en-US" sz="10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55" name="文本框 354"/>
            <p:cNvSpPr txBox="1"/>
            <p:nvPr/>
          </p:nvSpPr>
          <p:spPr>
            <a:xfrm>
              <a:off x="10334636" y="4565015"/>
              <a:ext cx="101502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from determined result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56" name="圆角矩形 355"/>
            <p:cNvSpPr/>
            <p:nvPr/>
          </p:nvSpPr>
          <p:spPr>
            <a:xfrm>
              <a:off x="10133889" y="5068531"/>
              <a:ext cx="1385926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D2C5EF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357" name="图形 4"/>
            <p:cNvGrpSpPr/>
            <p:nvPr/>
          </p:nvGrpSpPr>
          <p:grpSpPr>
            <a:xfrm>
              <a:off x="10263242" y="5195245"/>
              <a:ext cx="201949" cy="166311"/>
              <a:chOff x="10263242" y="5195245"/>
              <a:chExt cx="201949" cy="166311"/>
            </a:xfrm>
            <a:solidFill>
              <a:srgbClr val="000000"/>
            </a:solidFill>
          </p:grpSpPr>
          <p:sp>
            <p:nvSpPr>
              <p:cNvPr id="358" name="圆角矩形 357"/>
              <p:cNvSpPr/>
              <p:nvPr/>
            </p:nvSpPr>
            <p:spPr>
              <a:xfrm>
                <a:off x="10298880" y="5226923"/>
                <a:ext cx="126713" cy="102954"/>
              </a:xfrm>
              <a:prstGeom prst="roundRect">
                <a:avLst>
                  <a:gd name="adj" fmla="val 26923"/>
                </a:avLst>
              </a:prstGeom>
              <a:noFill/>
              <a:ln w="11875" cap="flat">
                <a:solidFill>
                  <a:srgbClr val="1F3F8B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59" name="椭圆 358"/>
              <p:cNvSpPr/>
              <p:nvPr/>
            </p:nvSpPr>
            <p:spPr>
              <a:xfrm>
                <a:off x="10328974" y="5268897"/>
                <a:ext cx="19006" cy="19006"/>
              </a:xfrm>
              <a:prstGeom prst="ellipse">
                <a:avLst/>
              </a:prstGeom>
              <a:solidFill>
                <a:srgbClr val="1F3F8B"/>
              </a:solidFill>
              <a:ln w="39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60" name="椭圆 359"/>
              <p:cNvSpPr/>
              <p:nvPr/>
            </p:nvSpPr>
            <p:spPr>
              <a:xfrm>
                <a:off x="10376492" y="5268897"/>
                <a:ext cx="19006" cy="19006"/>
              </a:xfrm>
              <a:prstGeom prst="ellipse">
                <a:avLst/>
              </a:prstGeom>
              <a:solidFill>
                <a:srgbClr val="1F3F8B"/>
              </a:solidFill>
              <a:ln w="39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61" name="任意形状 360"/>
              <p:cNvSpPr/>
              <p:nvPr/>
            </p:nvSpPr>
            <p:spPr>
              <a:xfrm>
                <a:off x="10322639" y="5195245"/>
                <a:ext cx="134632" cy="166311"/>
              </a:xfrm>
              <a:custGeom>
                <a:avLst/>
                <a:gdLst>
                  <a:gd name="csX0" fmla="*/ 21270 w 134632"/>
                  <a:gd name="csY0" fmla="*/ 111641 h 166311"/>
                  <a:gd name="csX1" fmla="*/ 60868 w 134632"/>
                  <a:gd name="csY1" fmla="*/ 111641 h 166311"/>
                  <a:gd name="csX2" fmla="*/ 41069 w 134632"/>
                  <a:gd name="csY2" fmla="*/ 767 h 166311"/>
                  <a:gd name="csX3" fmla="*/ 41069 w 134632"/>
                  <a:gd name="csY3" fmla="*/ 32445 h 166311"/>
                  <a:gd name="csX4" fmla="*/ 1471 w 134632"/>
                  <a:gd name="csY4" fmla="*/ 135400 h 166311"/>
                  <a:gd name="csX5" fmla="*/ 1471 w 134632"/>
                  <a:gd name="csY5" fmla="*/ 167078 h 166311"/>
                  <a:gd name="csX6" fmla="*/ 80667 w 134632"/>
                  <a:gd name="csY6" fmla="*/ 135400 h 166311"/>
                  <a:gd name="csX7" fmla="*/ 80667 w 134632"/>
                  <a:gd name="csY7" fmla="*/ 167078 h 166311"/>
                  <a:gd name="csX8" fmla="*/ 104425 w 134632"/>
                  <a:gd name="csY8" fmla="*/ 64123 h 166311"/>
                  <a:gd name="csX9" fmla="*/ 136104 w 134632"/>
                  <a:gd name="csY9" fmla="*/ 64123 h 1663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34632" h="166311">
                    <a:moveTo>
                      <a:pt x="21270" y="111641"/>
                    </a:moveTo>
                    <a:lnTo>
                      <a:pt x="60868" y="111641"/>
                    </a:lnTo>
                    <a:moveTo>
                      <a:pt x="41069" y="767"/>
                    </a:moveTo>
                    <a:lnTo>
                      <a:pt x="41069" y="32445"/>
                    </a:lnTo>
                    <a:moveTo>
                      <a:pt x="1471" y="135400"/>
                    </a:moveTo>
                    <a:lnTo>
                      <a:pt x="1471" y="167078"/>
                    </a:lnTo>
                    <a:moveTo>
                      <a:pt x="80667" y="135400"/>
                    </a:moveTo>
                    <a:lnTo>
                      <a:pt x="80667" y="167078"/>
                    </a:lnTo>
                    <a:moveTo>
                      <a:pt x="104425" y="64123"/>
                    </a:moveTo>
                    <a:lnTo>
                      <a:pt x="136104" y="64123"/>
                    </a:lnTo>
                  </a:path>
                </a:pathLst>
              </a:custGeom>
              <a:noFill/>
              <a:ln w="11875" cap="rnd">
                <a:solidFill>
                  <a:srgbClr val="1F3F8B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62" name="椭圆 361"/>
              <p:cNvSpPr/>
              <p:nvPr/>
            </p:nvSpPr>
            <p:spPr>
              <a:xfrm>
                <a:off x="10275121" y="5219003"/>
                <a:ext cx="15839" cy="15839"/>
              </a:xfrm>
              <a:prstGeom prst="ellipse">
                <a:avLst/>
              </a:prstGeom>
              <a:solidFill>
                <a:srgbClr val="6E33C7"/>
              </a:solidFill>
              <a:ln w="39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63" name="椭圆 362"/>
              <p:cNvSpPr/>
              <p:nvPr/>
            </p:nvSpPr>
            <p:spPr>
              <a:xfrm>
                <a:off x="10437473" y="5211084"/>
                <a:ext cx="15839" cy="15839"/>
              </a:xfrm>
              <a:prstGeom prst="ellipse">
                <a:avLst/>
              </a:prstGeom>
              <a:solidFill>
                <a:srgbClr val="6E33C7"/>
              </a:solidFill>
              <a:ln w="39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64" name="椭圆 363"/>
              <p:cNvSpPr/>
              <p:nvPr/>
            </p:nvSpPr>
            <p:spPr>
              <a:xfrm>
                <a:off x="10449352" y="5314038"/>
                <a:ext cx="15839" cy="15839"/>
              </a:xfrm>
              <a:prstGeom prst="ellipse">
                <a:avLst/>
              </a:prstGeom>
              <a:solidFill>
                <a:srgbClr val="6E33C7"/>
              </a:solidFill>
              <a:ln w="39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65" name="椭圆 364"/>
              <p:cNvSpPr/>
              <p:nvPr/>
            </p:nvSpPr>
            <p:spPr>
              <a:xfrm>
                <a:off x="10263242" y="5306119"/>
                <a:ext cx="15839" cy="15839"/>
              </a:xfrm>
              <a:prstGeom prst="ellipse">
                <a:avLst/>
              </a:prstGeom>
              <a:solidFill>
                <a:srgbClr val="6E33C7"/>
              </a:solidFill>
              <a:ln w="39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366" name="文本框 365"/>
            <p:cNvSpPr txBox="1"/>
            <p:nvPr/>
          </p:nvSpPr>
          <p:spPr>
            <a:xfrm>
              <a:off x="10469432" y="5187017"/>
              <a:ext cx="8226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model-assisted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67" name="文本框 366"/>
            <p:cNvSpPr txBox="1"/>
            <p:nvPr/>
          </p:nvSpPr>
          <p:spPr>
            <a:xfrm>
              <a:off x="10484505" y="5357972"/>
              <a:ext cx="78579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from SFT fusion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68" name="圆角矩形 367"/>
            <p:cNvSpPr/>
            <p:nvPr/>
          </p:nvSpPr>
          <p:spPr>
            <a:xfrm>
              <a:off x="10133889" y="5873689"/>
              <a:ext cx="1385926" cy="448776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13194" cap="flat">
              <a:solidFill>
                <a:srgbClr val="E0E0E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369" name="图形 4"/>
            <p:cNvGrpSpPr/>
            <p:nvPr/>
          </p:nvGrpSpPr>
          <p:grpSpPr>
            <a:xfrm>
              <a:off x="10253077" y="5945589"/>
              <a:ext cx="245580" cy="246221"/>
              <a:chOff x="10253077" y="5945589"/>
              <a:chExt cx="245580" cy="246221"/>
            </a:xfrm>
            <a:solidFill>
              <a:srgbClr val="000000"/>
            </a:solidFill>
          </p:grpSpPr>
          <p:sp>
            <p:nvSpPr>
              <p:cNvPr id="370" name="椭圆 369"/>
              <p:cNvSpPr/>
              <p:nvPr/>
            </p:nvSpPr>
            <p:spPr>
              <a:xfrm>
                <a:off x="10265882" y="5959484"/>
                <a:ext cx="203269" cy="203269"/>
              </a:xfrm>
              <a:prstGeom prst="ellipse">
                <a:avLst/>
              </a:prstGeom>
              <a:noFill/>
              <a:ln w="11545" cap="flat">
                <a:solidFill>
                  <a:srgbClr val="666A7A"/>
                </a:solidFill>
                <a:custDash>
                  <a:ds d="300000" sp="300000"/>
                </a:custDash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371" name="文本框 370"/>
              <p:cNvSpPr txBox="1"/>
              <p:nvPr/>
            </p:nvSpPr>
            <p:spPr>
              <a:xfrm>
                <a:off x="10253077" y="5945589"/>
                <a:ext cx="24558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666A7A"/>
                    </a:solidFill>
                    <a:latin typeface="Georgia" panose="02040502050405090303"/>
                    <a:sym typeface="Georgia" panose="02040502050405090303"/>
                    <a:rtl val="0"/>
                  </a:rPr>
                  <a:t>?</a:t>
                </a:r>
                <a:endParaRPr lang="zh-CN" altLang="en-US" sz="1000" spc="0" baseline="0" dirty="0">
                  <a:solidFill>
                    <a:srgbClr val="666A7A"/>
                  </a:solidFill>
                  <a:latin typeface="Georgia" panose="02040502050405090303"/>
                  <a:sym typeface="Georgia" panose="02040502050405090303"/>
                  <a:rtl val="0"/>
                </a:endParaRPr>
              </a:p>
            </p:txBody>
          </p:sp>
        </p:grpSp>
        <p:sp>
          <p:nvSpPr>
            <p:cNvPr id="372" name="文本框 371"/>
            <p:cNvSpPr txBox="1"/>
            <p:nvPr/>
          </p:nvSpPr>
          <p:spPr>
            <a:xfrm>
              <a:off x="10569438" y="5968816"/>
              <a:ext cx="60625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uncertain</a:t>
              </a:r>
              <a:endParaRPr lang="zh-CN" altLang="en-US" sz="10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sp>
        <p:nvSpPr>
          <p:cNvPr id="384" name="任意形状 383"/>
          <p:cNvSpPr/>
          <p:nvPr/>
        </p:nvSpPr>
        <p:spPr>
          <a:xfrm rot="10800000" flipH="1">
            <a:off x="1774825" y="4181474"/>
            <a:ext cx="803274" cy="136523"/>
          </a:xfrm>
          <a:custGeom>
            <a:avLst/>
            <a:gdLst>
              <a:gd name="csX0" fmla="*/ 0 w 1544318"/>
              <a:gd name="csY0" fmla="*/ 0 h 316783"/>
              <a:gd name="csX1" fmla="*/ 0 w 1544318"/>
              <a:gd name="csY1" fmla="*/ 145192 h 316783"/>
              <a:gd name="csX2" fmla="*/ 1544319 w 1544318"/>
              <a:gd name="csY2" fmla="*/ 145192 h 316783"/>
              <a:gd name="csX3" fmla="*/ 1544319 w 1544318"/>
              <a:gd name="csY3" fmla="*/ 316783 h 316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44318" h="316783">
                <a:moveTo>
                  <a:pt x="0" y="0"/>
                </a:moveTo>
                <a:lnTo>
                  <a:pt x="0" y="145192"/>
                </a:lnTo>
                <a:lnTo>
                  <a:pt x="1544319" y="145192"/>
                </a:lnTo>
                <a:lnTo>
                  <a:pt x="1544319" y="316783"/>
                </a:lnTo>
              </a:path>
            </a:pathLst>
          </a:custGeom>
          <a:noFill/>
          <a:ln w="19791" cap="flat">
            <a:solidFill>
              <a:srgbClr val="4F79BD"/>
            </a:solidFill>
            <a:prstDash val="solid"/>
            <a:miter/>
          </a:ln>
        </p:spPr>
        <p:txBody>
          <a:bodyPr/>
          <a:lstStyle/>
          <a:p>
            <a:endParaRPr lang="zh-CN" alt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图形 4"/>
          <p:cNvGrpSpPr/>
          <p:nvPr/>
        </p:nvGrpSpPr>
        <p:grpSpPr>
          <a:xfrm>
            <a:off x="725504" y="900651"/>
            <a:ext cx="10740989" cy="2308042"/>
            <a:chOff x="725504" y="900651"/>
            <a:chExt cx="10740989" cy="2308042"/>
          </a:xfrm>
        </p:grpSpPr>
        <p:sp>
          <p:nvSpPr>
            <p:cNvPr id="11" name="圆角矩形 10"/>
            <p:cNvSpPr/>
            <p:nvPr/>
          </p:nvSpPr>
          <p:spPr>
            <a:xfrm>
              <a:off x="725504" y="900651"/>
              <a:ext cx="10740989" cy="2103049"/>
            </a:xfrm>
            <a:prstGeom prst="roundRect">
              <a:avLst>
                <a:gd name="adj" fmla="val 4463"/>
              </a:avLst>
            </a:prstGeom>
            <a:solidFill>
              <a:srgbClr val="FCFAFF"/>
            </a:solidFill>
            <a:ln w="10719" cap="flat">
              <a:solidFill>
                <a:srgbClr val="B89AE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10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446768" y="949159"/>
              <a:ext cx="39496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Stage I. Offline Construction, Profiling and SFT Training</a:t>
              </a:r>
              <a:endParaRPr lang="zh-CN" altLang="en-US" sz="1200" b="1" spc="0" baseline="0" dirty="0">
                <a:solidFill>
                  <a:srgbClr val="6F46C7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grpSp>
          <p:nvGrpSpPr>
            <p:cNvPr id="13" name="图形 4"/>
            <p:cNvGrpSpPr/>
            <p:nvPr/>
          </p:nvGrpSpPr>
          <p:grpSpPr>
            <a:xfrm>
              <a:off x="839485" y="1215439"/>
              <a:ext cx="7522715" cy="1634217"/>
              <a:chOff x="839485" y="1215439"/>
              <a:chExt cx="7522715" cy="1634217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839485" y="1215439"/>
                <a:ext cx="7522715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CFAFF"/>
              </a:solidFill>
              <a:ln w="937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930276" y="1269020"/>
                <a:ext cx="7297830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FE6FF"/>
              </a:solidFill>
              <a:ln w="803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986644" y="1289030"/>
                <a:ext cx="187732" cy="187533"/>
              </a:xfrm>
              <a:prstGeom prst="ellipse">
                <a:avLst/>
              </a:prstGeom>
              <a:solidFill>
                <a:srgbClr val="7A4DC6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50334" y="1258909"/>
                <a:ext cx="268022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3384652" y="1256633"/>
                <a:ext cx="26003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SFT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Data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Construction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and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Model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Training</a:t>
                </a:r>
                <a:endParaRPr lang="zh-CN" altLang="en-US" sz="10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933351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975499" y="1578801"/>
                <a:ext cx="7601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1.</a:t>
                </a:r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Pair 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Construction</a:t>
                </a:r>
                <a:endParaRPr lang="zh-CN" altLang="en-US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1020513" y="1938781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BF8FF"/>
              </a:solidFill>
              <a:ln w="6699" cap="flat">
                <a:solidFill>
                  <a:srgbClr val="D7C5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23" name="图形 4"/>
              <p:cNvGrpSpPr/>
              <p:nvPr/>
            </p:nvGrpSpPr>
            <p:grpSpPr>
              <a:xfrm>
                <a:off x="1079246" y="1991290"/>
                <a:ext cx="265897" cy="222851"/>
                <a:chOff x="1079246" y="1991290"/>
                <a:chExt cx="265897" cy="222851"/>
              </a:xfrm>
              <a:solidFill>
                <a:srgbClr val="000000"/>
              </a:solidFill>
            </p:grpSpPr>
            <p:sp>
              <p:nvSpPr>
                <p:cNvPr id="24" name="任意形状 23"/>
                <p:cNvSpPr/>
                <p:nvPr/>
              </p:nvSpPr>
              <p:spPr>
                <a:xfrm>
                  <a:off x="1079246" y="1991290"/>
                  <a:ext cx="148040" cy="186461"/>
                </a:xfrm>
                <a:custGeom>
                  <a:avLst/>
                  <a:gdLst>
                    <a:gd name="csX0" fmla="*/ 19373 w 148040"/>
                    <a:gd name="csY0" fmla="*/ 233 h 186461"/>
                    <a:gd name="csX1" fmla="*/ 109485 w 148040"/>
                    <a:gd name="csY1" fmla="*/ 233 h 186461"/>
                    <a:gd name="csX2" fmla="*/ 148104 w 148040"/>
                    <a:gd name="csY2" fmla="*/ 38811 h 186461"/>
                    <a:gd name="csX3" fmla="*/ 148104 w 148040"/>
                    <a:gd name="csY3" fmla="*/ 167405 h 186461"/>
                    <a:gd name="csX4" fmla="*/ 128795 w 148040"/>
                    <a:gd name="csY4" fmla="*/ 186694 h 186461"/>
                    <a:gd name="csX5" fmla="*/ 19373 w 148040"/>
                    <a:gd name="csY5" fmla="*/ 186694 h 186461"/>
                    <a:gd name="csX6" fmla="*/ 64 w 148040"/>
                    <a:gd name="csY6" fmla="*/ 167405 h 186461"/>
                    <a:gd name="csX7" fmla="*/ 64 w 148040"/>
                    <a:gd name="csY7" fmla="*/ 19522 h 186461"/>
                    <a:gd name="csX8" fmla="*/ 19373 w 148040"/>
                    <a:gd name="csY8" fmla="*/ 233 h 1864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48040" h="186461">
                      <a:moveTo>
                        <a:pt x="19373" y="233"/>
                      </a:moveTo>
                      <a:lnTo>
                        <a:pt x="109485" y="233"/>
                      </a:lnTo>
                      <a:lnTo>
                        <a:pt x="148104" y="38811"/>
                      </a:lnTo>
                      <a:lnTo>
                        <a:pt x="148104" y="167405"/>
                      </a:lnTo>
                      <a:cubicBezTo>
                        <a:pt x="148104" y="178058"/>
                        <a:pt x="139459" y="186694"/>
                        <a:pt x="128795" y="186694"/>
                      </a:cubicBezTo>
                      <a:lnTo>
                        <a:pt x="19373" y="186694"/>
                      </a:lnTo>
                      <a:cubicBezTo>
                        <a:pt x="8709" y="186694"/>
                        <a:pt x="64" y="178058"/>
                        <a:pt x="64" y="167405"/>
                      </a:cubicBezTo>
                      <a:lnTo>
                        <a:pt x="64" y="19522"/>
                      </a:lnTo>
                      <a:cubicBezTo>
                        <a:pt x="64" y="8869"/>
                        <a:pt x="8709" y="233"/>
                        <a:pt x="19373" y="233"/>
                      </a:cubicBezTo>
                      <a:close/>
                    </a:path>
                  </a:pathLst>
                </a:custGeom>
                <a:solidFill>
                  <a:srgbClr val="FBF7FF"/>
                </a:solidFill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5" name="任意形状 24"/>
                <p:cNvSpPr/>
                <p:nvPr/>
              </p:nvSpPr>
              <p:spPr>
                <a:xfrm>
                  <a:off x="1188668" y="1991290"/>
                  <a:ext cx="38619" cy="41793"/>
                </a:xfrm>
                <a:custGeom>
                  <a:avLst/>
                  <a:gdLst>
                    <a:gd name="csX0" fmla="*/ 55 w 38619"/>
                    <a:gd name="csY0" fmla="*/ 244 h 41793"/>
                    <a:gd name="csX1" fmla="*/ 55 w 38619"/>
                    <a:gd name="csY1" fmla="*/ 42038 h 41793"/>
                    <a:gd name="csX2" fmla="*/ 38674 w 38619"/>
                    <a:gd name="csY2" fmla="*/ 42038 h 417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619" h="41793">
                      <a:moveTo>
                        <a:pt x="55" y="244"/>
                      </a:moveTo>
                      <a:lnTo>
                        <a:pt x="55" y="42038"/>
                      </a:lnTo>
                      <a:lnTo>
                        <a:pt x="38674" y="42038"/>
                      </a:lnTo>
                    </a:path>
                  </a:pathLst>
                </a:custGeom>
                <a:noFill/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6" name="任意形状 25"/>
                <p:cNvSpPr/>
                <p:nvPr/>
              </p:nvSpPr>
              <p:spPr>
                <a:xfrm>
                  <a:off x="1121084" y="2062017"/>
                  <a:ext cx="70802" cy="57867"/>
                </a:xfrm>
                <a:custGeom>
                  <a:avLst/>
                  <a:gdLst>
                    <a:gd name="csX0" fmla="*/ 63 w 70802"/>
                    <a:gd name="csY0" fmla="*/ 232 h 57867"/>
                    <a:gd name="csX1" fmla="*/ 57992 w 70802"/>
                    <a:gd name="csY1" fmla="*/ 232 h 57867"/>
                    <a:gd name="csX2" fmla="*/ 63 w 70802"/>
                    <a:gd name="csY2" fmla="*/ 29165 h 57867"/>
                    <a:gd name="csX3" fmla="*/ 70865 w 70802"/>
                    <a:gd name="csY3" fmla="*/ 29165 h 57867"/>
                    <a:gd name="csX4" fmla="*/ 63 w 70802"/>
                    <a:gd name="csY4" fmla="*/ 58099 h 57867"/>
                    <a:gd name="csX5" fmla="*/ 45119 w 70802"/>
                    <a:gd name="csY5" fmla="*/ 58099 h 578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70802" h="57867">
                      <a:moveTo>
                        <a:pt x="63" y="232"/>
                      </a:moveTo>
                      <a:lnTo>
                        <a:pt x="57992" y="232"/>
                      </a:lnTo>
                      <a:moveTo>
                        <a:pt x="63" y="29165"/>
                      </a:moveTo>
                      <a:lnTo>
                        <a:pt x="70865" y="29165"/>
                      </a:lnTo>
                      <a:moveTo>
                        <a:pt x="63" y="58099"/>
                      </a:moveTo>
                      <a:lnTo>
                        <a:pt x="45119" y="58099"/>
                      </a:lnTo>
                    </a:path>
                  </a:pathLst>
                </a:custGeom>
                <a:noFill/>
                <a:ln w="6110" cap="rnd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7" name="圆角矩形 26"/>
                <p:cNvSpPr/>
                <p:nvPr/>
              </p:nvSpPr>
              <p:spPr>
                <a:xfrm>
                  <a:off x="1166140" y="2116670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1080327" y="2075642"/>
                  <a:ext cx="264816" cy="1384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b="1" spc="0" baseline="0" dirty="0">
                      <a:solidFill>
                        <a:schemeClr val="bg1"/>
                      </a:solidFill>
                      <a:latin typeface="Arial" panose="020B0704020202020204"/>
                      <a:cs typeface="Arial" panose="020B0704020202020204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b="1" spc="0" baseline="0" dirty="0">
                    <a:solidFill>
                      <a:schemeClr val="bg1"/>
                    </a:solidFill>
                    <a:latin typeface="Arial" panose="020B0704020202020204"/>
                    <a:cs typeface="Arial" panose="020B0704020202020204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1177828" y="1970985"/>
                <a:ext cx="67358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b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LeetCode SQL</a:t>
                </a:r>
                <a:endParaRPr lang="zh-CN" altLang="en-US" sz="600" b="1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21869" y="2051213"/>
                <a:ext cx="561372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human-written</a:t>
                </a:r>
                <a:endParaRPr lang="zh-CN" altLang="en-US" sz="5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1020513" y="2347335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7FBFF"/>
              </a:solidFill>
              <a:ln w="6699" cap="flat">
                <a:solidFill>
                  <a:srgbClr val="C8DA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32" name="图形 4"/>
              <p:cNvGrpSpPr/>
              <p:nvPr/>
            </p:nvGrpSpPr>
            <p:grpSpPr>
              <a:xfrm>
                <a:off x="1076028" y="2412704"/>
                <a:ext cx="288290" cy="216330"/>
                <a:chOff x="1076028" y="2412704"/>
                <a:chExt cx="288290" cy="216330"/>
              </a:xfrm>
              <a:solidFill>
                <a:srgbClr val="000000"/>
              </a:solidFill>
            </p:grpSpPr>
            <p:sp>
              <p:nvSpPr>
                <p:cNvPr id="33" name="椭圆 32"/>
                <p:cNvSpPr/>
                <p:nvPr/>
              </p:nvSpPr>
              <p:spPr>
                <a:xfrm>
                  <a:off x="1076028" y="2412704"/>
                  <a:ext cx="128730" cy="51437"/>
                </a:xfrm>
                <a:prstGeom prst="ellipse">
                  <a:avLst/>
                </a:prstGeom>
                <a:solidFill>
                  <a:srgbClr val="F6FAFF"/>
                </a:solidFill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4" name="任意形状 33"/>
                <p:cNvSpPr/>
                <p:nvPr/>
              </p:nvSpPr>
              <p:spPr>
                <a:xfrm>
                  <a:off x="1076028" y="2438423"/>
                  <a:ext cx="128730" cy="131808"/>
                </a:xfrm>
                <a:custGeom>
                  <a:avLst/>
                  <a:gdLst>
                    <a:gd name="csX0" fmla="*/ 66 w 128730"/>
                    <a:gd name="csY0" fmla="*/ 292 h 131808"/>
                    <a:gd name="csX1" fmla="*/ 66 w 128730"/>
                    <a:gd name="csY1" fmla="*/ 103167 h 131808"/>
                    <a:gd name="csX2" fmla="*/ 64431 w 128730"/>
                    <a:gd name="csY2" fmla="*/ 132101 h 131808"/>
                    <a:gd name="csX3" fmla="*/ 128797 w 128730"/>
                    <a:gd name="csY3" fmla="*/ 103167 h 131808"/>
                    <a:gd name="csX4" fmla="*/ 128797 w 128730"/>
                    <a:gd name="csY4" fmla="*/ 292 h 1318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8730" h="131808">
                      <a:moveTo>
                        <a:pt x="66" y="292"/>
                      </a:moveTo>
                      <a:lnTo>
                        <a:pt x="66" y="103167"/>
                      </a:lnTo>
                      <a:cubicBezTo>
                        <a:pt x="66" y="119242"/>
                        <a:pt x="29030" y="132101"/>
                        <a:pt x="64431" y="132101"/>
                      </a:cubicBezTo>
                      <a:cubicBezTo>
                        <a:pt x="99832" y="132101"/>
                        <a:pt x="128797" y="119242"/>
                        <a:pt x="128797" y="103167"/>
                      </a:cubicBezTo>
                      <a:lnTo>
                        <a:pt x="128797" y="292"/>
                      </a:lnTo>
                    </a:path>
                  </a:pathLst>
                </a:cu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1076028" y="2464142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1076028" y="2515579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>
                  <a:off x="1182231" y="2531654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099502" y="2490535"/>
                  <a:ext cx="264816" cy="1384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b="1" spc="0" baseline="0" dirty="0">
                      <a:solidFill>
                        <a:srgbClr val="FFFFFF"/>
                      </a:solidFill>
                      <a:latin typeface="Arial" panose="020B0704020202020204"/>
                      <a:cs typeface="Arial" panose="020B0704020202020204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b="1" spc="0" baseline="0" dirty="0">
                    <a:solidFill>
                      <a:srgbClr val="FFFFFF"/>
                    </a:solidFill>
                    <a:latin typeface="Arial" panose="020B0704020202020204"/>
                    <a:cs typeface="Arial" panose="020B0704020202020204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39" name="文本框 38"/>
              <p:cNvSpPr txBox="1"/>
              <p:nvPr/>
            </p:nvSpPr>
            <p:spPr>
              <a:xfrm>
                <a:off x="1294484" y="2386237"/>
                <a:ext cx="46358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b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SynSQL</a:t>
                </a:r>
                <a:endParaRPr lang="zh-CN" altLang="en-US" sz="700" b="1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204532" y="2484505"/>
                <a:ext cx="633507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candidate queries</a:t>
                </a:r>
                <a:endParaRPr lang="zh-CN" altLang="en-US" sz="5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1" name="任意形状 40"/>
              <p:cNvSpPr/>
              <p:nvPr/>
            </p:nvSpPr>
            <p:spPr>
              <a:xfrm>
                <a:off x="1865310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1992700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960451" y="1578801"/>
                <a:ext cx="102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2. Formal Labeling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by VeriEQL</a:t>
                </a:r>
                <a:endParaRPr lang="zh-CN" altLang="en-US" sz="800" b="1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50" name="任意形状 49"/>
              <p:cNvSpPr/>
              <p:nvPr/>
            </p:nvSpPr>
            <p:spPr>
              <a:xfrm>
                <a:off x="2924658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3052048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3092642" y="1578801"/>
                <a:ext cx="8739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3. Labeled SQL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Pairs</a:t>
                </a:r>
                <a:endParaRPr lang="zh-CN" altLang="en-US" sz="800" b="1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3249118" y="2276761"/>
                <a:ext cx="6719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</a:t>
                </a:r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upervised</a:t>
                </a:r>
                <a:endParaRPr lang="en-US" altLang="zh-CN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training pairs</a:t>
                </a:r>
                <a:endParaRPr lang="zh-CN" altLang="en-US" sz="70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2" name="任意形状 61"/>
              <p:cNvSpPr/>
              <p:nvPr/>
            </p:nvSpPr>
            <p:spPr>
              <a:xfrm>
                <a:off x="3984007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4111397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4092124" y="1578801"/>
                <a:ext cx="105349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4. Trace </a:t>
                </a:r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Distillation</a:t>
                </a:r>
                <a:endParaRPr lang="zh-CN" altLang="en-US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66" name="图形 4"/>
              <p:cNvGrpSpPr/>
              <p:nvPr/>
            </p:nvGrpSpPr>
            <p:grpSpPr>
              <a:xfrm>
                <a:off x="4372881" y="1965571"/>
                <a:ext cx="418804" cy="418359"/>
                <a:chOff x="4372881" y="1965571"/>
                <a:chExt cx="418804" cy="418359"/>
              </a:xfrm>
              <a:solidFill>
                <a:srgbClr val="000000"/>
              </a:solidFill>
            </p:grpSpPr>
            <p:sp>
              <p:nvSpPr>
                <p:cNvPr id="67" name="任意形状 66"/>
                <p:cNvSpPr/>
                <p:nvPr/>
              </p:nvSpPr>
              <p:spPr>
                <a:xfrm>
                  <a:off x="4372881" y="1965571"/>
                  <a:ext cx="418804" cy="418359"/>
                </a:xfrm>
                <a:custGeom>
                  <a:avLst/>
                  <a:gdLst>
                    <a:gd name="csX0" fmla="*/ 98 w 418804"/>
                    <a:gd name="csY0" fmla="*/ 208951 h 418359"/>
                    <a:gd name="csX1" fmla="*/ 209501 w 418804"/>
                    <a:gd name="csY1" fmla="*/ 418131 h 418359"/>
                    <a:gd name="csX2" fmla="*/ 418903 w 418804"/>
                    <a:gd name="csY2" fmla="*/ 208951 h 418359"/>
                    <a:gd name="csX3" fmla="*/ 209501 w 418804"/>
                    <a:gd name="csY3" fmla="*/ -229 h 418359"/>
                    <a:gd name="csX4" fmla="*/ 98 w 418804"/>
                    <a:gd name="csY4" fmla="*/ 208951 h 4183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18804" h="418359">
                      <a:moveTo>
                        <a:pt x="98" y="208951"/>
                      </a:moveTo>
                      <a:cubicBezTo>
                        <a:pt x="98" y="324478"/>
                        <a:pt x="93851" y="418131"/>
                        <a:pt x="209501" y="418131"/>
                      </a:cubicBezTo>
                      <a:cubicBezTo>
                        <a:pt x="325150" y="418131"/>
                        <a:pt x="418903" y="324478"/>
                        <a:pt x="418903" y="208951"/>
                      </a:cubicBezTo>
                      <a:cubicBezTo>
                        <a:pt x="418903" y="93424"/>
                        <a:pt x="325150" y="-229"/>
                        <a:pt x="209501" y="-229"/>
                      </a:cubicBezTo>
                      <a:cubicBezTo>
                        <a:pt x="93851" y="-229"/>
                        <a:pt x="98" y="93424"/>
                        <a:pt x="98" y="2089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68" name="任意形状 67"/>
                <p:cNvSpPr/>
                <p:nvPr/>
              </p:nvSpPr>
              <p:spPr>
                <a:xfrm>
                  <a:off x="4438691" y="2100346"/>
                  <a:ext cx="178081" cy="182624"/>
                </a:xfrm>
                <a:custGeom>
                  <a:avLst/>
                  <a:gdLst>
                    <a:gd name="csX0" fmla="*/ 61720 w 178081"/>
                    <a:gd name="csY0" fmla="*/ -268 h 182624"/>
                    <a:gd name="csX1" fmla="*/ 26540 w 178081"/>
                    <a:gd name="csY1" fmla="*/ -268 h 182624"/>
                    <a:gd name="csX2" fmla="*/ 20677 w 178081"/>
                    <a:gd name="csY2" fmla="*/ 3111 h 182624"/>
                    <a:gd name="csX3" fmla="*/ 1129 w 178081"/>
                    <a:gd name="csY3" fmla="*/ 36925 h 182624"/>
                    <a:gd name="csX4" fmla="*/ 1129 w 178081"/>
                    <a:gd name="csY4" fmla="*/ 43692 h 182624"/>
                    <a:gd name="csX5" fmla="*/ 81351 w 178081"/>
                    <a:gd name="csY5" fmla="*/ 182357 h 182624"/>
                    <a:gd name="csX6" fmla="*/ 120353 w 178081"/>
                    <a:gd name="csY6" fmla="*/ 182357 h 182624"/>
                    <a:gd name="csX7" fmla="*/ 178305 w 178081"/>
                    <a:gd name="csY7" fmla="*/ 133722 h 182624"/>
                    <a:gd name="csX8" fmla="*/ 61720 w 178081"/>
                    <a:gd name="csY8" fmla="*/ -268 h 1826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8081" h="182624">
                      <a:moveTo>
                        <a:pt x="61720" y="-268"/>
                      </a:moveTo>
                      <a:lnTo>
                        <a:pt x="26540" y="-268"/>
                      </a:lnTo>
                      <a:cubicBezTo>
                        <a:pt x="24122" y="-268"/>
                        <a:pt x="21888" y="1020"/>
                        <a:pt x="20677" y="3111"/>
                      </a:cubicBezTo>
                      <a:lnTo>
                        <a:pt x="1129" y="36925"/>
                      </a:lnTo>
                      <a:cubicBezTo>
                        <a:pt x="-79" y="39019"/>
                        <a:pt x="-79" y="41597"/>
                        <a:pt x="1129" y="43692"/>
                      </a:cubicBezTo>
                      <a:lnTo>
                        <a:pt x="81351" y="182357"/>
                      </a:lnTo>
                      <a:lnTo>
                        <a:pt x="120353" y="182357"/>
                      </a:lnTo>
                      <a:lnTo>
                        <a:pt x="178305" y="133722"/>
                      </a:lnTo>
                      <a:lnTo>
                        <a:pt x="61720" y="-268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69" name="任意形状 68"/>
                <p:cNvSpPr/>
                <p:nvPr/>
              </p:nvSpPr>
              <p:spPr>
                <a:xfrm>
                  <a:off x="4458236" y="2066522"/>
                  <a:ext cx="248115" cy="216459"/>
                </a:xfrm>
                <a:custGeom>
                  <a:avLst/>
                  <a:gdLst>
                    <a:gd name="csX0" fmla="*/ 18608 w 248115"/>
                    <a:gd name="csY0" fmla="*/ 141825 h 216459"/>
                    <a:gd name="csX1" fmla="*/ 1007 w 248115"/>
                    <a:gd name="csY1" fmla="*/ 172261 h 216459"/>
                    <a:gd name="csX2" fmla="*/ 1007 w 248115"/>
                    <a:gd name="csY2" fmla="*/ 179028 h 216459"/>
                    <a:gd name="csX3" fmla="*/ 20555 w 248115"/>
                    <a:gd name="csY3" fmla="*/ 212842 h 216459"/>
                    <a:gd name="csX4" fmla="*/ 26418 w 248115"/>
                    <a:gd name="csY4" fmla="*/ 216230 h 216459"/>
                    <a:gd name="csX5" fmla="*/ 100683 w 248115"/>
                    <a:gd name="csY5" fmla="*/ 216230 h 216459"/>
                    <a:gd name="csX6" fmla="*/ 18597 w 248115"/>
                    <a:gd name="csY6" fmla="*/ 141825 h 216459"/>
                    <a:gd name="csX7" fmla="*/ 229717 w 248115"/>
                    <a:gd name="csY7" fmla="*/ 74166 h 216459"/>
                    <a:gd name="csX8" fmla="*/ 247306 w 248115"/>
                    <a:gd name="csY8" fmla="*/ 43741 h 216459"/>
                    <a:gd name="csX9" fmla="*/ 247306 w 248115"/>
                    <a:gd name="csY9" fmla="*/ 36974 h 216459"/>
                    <a:gd name="csX10" fmla="*/ 227759 w 248115"/>
                    <a:gd name="csY10" fmla="*/ 3160 h 216459"/>
                    <a:gd name="csX11" fmla="*/ 221895 w 248115"/>
                    <a:gd name="csY11" fmla="*/ -229 h 216459"/>
                    <a:gd name="csX12" fmla="*/ 61567 w 248115"/>
                    <a:gd name="csY12" fmla="*/ -156 h 216459"/>
                    <a:gd name="csX13" fmla="*/ 42061 w 248115"/>
                    <a:gd name="csY13" fmla="*/ 33585 h 216459"/>
                    <a:gd name="csX14" fmla="*/ 55253 w 248115"/>
                    <a:gd name="csY14" fmla="*/ 108032 h 216459"/>
                    <a:gd name="csX15" fmla="*/ 229717 w 248115"/>
                    <a:gd name="csY15" fmla="*/ 74166 h 2164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48115" h="216459">
                      <a:moveTo>
                        <a:pt x="18608" y="141825"/>
                      </a:moveTo>
                      <a:lnTo>
                        <a:pt x="1007" y="172261"/>
                      </a:lnTo>
                      <a:cubicBezTo>
                        <a:pt x="-205" y="174354"/>
                        <a:pt x="-205" y="176935"/>
                        <a:pt x="1007" y="179028"/>
                      </a:cubicBezTo>
                      <a:lnTo>
                        <a:pt x="20555" y="212842"/>
                      </a:lnTo>
                      <a:cubicBezTo>
                        <a:pt x="21755" y="214944"/>
                        <a:pt x="23995" y="216239"/>
                        <a:pt x="26418" y="216230"/>
                      </a:cubicBezTo>
                      <a:lnTo>
                        <a:pt x="100683" y="216230"/>
                      </a:lnTo>
                      <a:lnTo>
                        <a:pt x="18597" y="141825"/>
                      </a:lnTo>
                      <a:close/>
                      <a:moveTo>
                        <a:pt x="229717" y="74166"/>
                      </a:moveTo>
                      <a:lnTo>
                        <a:pt x="247306" y="43741"/>
                      </a:lnTo>
                      <a:cubicBezTo>
                        <a:pt x="248517" y="41647"/>
                        <a:pt x="248517" y="39068"/>
                        <a:pt x="247306" y="36974"/>
                      </a:cubicBezTo>
                      <a:lnTo>
                        <a:pt x="227759" y="3160"/>
                      </a:lnTo>
                      <a:cubicBezTo>
                        <a:pt x="226549" y="1067"/>
                        <a:pt x="224315" y="-224"/>
                        <a:pt x="221895" y="-229"/>
                      </a:cubicBezTo>
                      <a:lnTo>
                        <a:pt x="61567" y="-156"/>
                      </a:lnTo>
                      <a:lnTo>
                        <a:pt x="42061" y="33585"/>
                      </a:lnTo>
                      <a:lnTo>
                        <a:pt x="55253" y="108032"/>
                      </a:lnTo>
                      <a:lnTo>
                        <a:pt x="229717" y="74166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0" name="任意形状 69"/>
                <p:cNvSpPr/>
                <p:nvPr/>
              </p:nvSpPr>
              <p:spPr>
                <a:xfrm>
                  <a:off x="4500188" y="2032708"/>
                  <a:ext cx="207140" cy="284097"/>
                </a:xfrm>
                <a:custGeom>
                  <a:avLst/>
                  <a:gdLst>
                    <a:gd name="csX0" fmla="*/ 105598 w 207140"/>
                    <a:gd name="csY0" fmla="*/ 33596 h 284097"/>
                    <a:gd name="csX1" fmla="*/ 88008 w 207140"/>
                    <a:gd name="csY1" fmla="*/ 3160 h 284097"/>
                    <a:gd name="csX2" fmla="*/ 82145 w 207140"/>
                    <a:gd name="csY2" fmla="*/ -229 h 284097"/>
                    <a:gd name="csX3" fmla="*/ 43050 w 207140"/>
                    <a:gd name="csY3" fmla="*/ -229 h 284097"/>
                    <a:gd name="csX4" fmla="*/ 37186 w 207140"/>
                    <a:gd name="csY4" fmla="*/ 3150 h 284097"/>
                    <a:gd name="csX5" fmla="*/ 19408 w 207140"/>
                    <a:gd name="csY5" fmla="*/ 33909 h 284097"/>
                    <a:gd name="csX6" fmla="*/ 49 w 207140"/>
                    <a:gd name="csY6" fmla="*/ 67399 h 284097"/>
                    <a:gd name="csX7" fmla="*/ 105598 w 207140"/>
                    <a:gd name="csY7" fmla="*/ 33596 h 284097"/>
                    <a:gd name="csX8" fmla="*/ 58692 w 207140"/>
                    <a:gd name="csY8" fmla="*/ 250055 h 284097"/>
                    <a:gd name="csX9" fmla="*/ 76271 w 207140"/>
                    <a:gd name="csY9" fmla="*/ 280491 h 284097"/>
                    <a:gd name="csX10" fmla="*/ 82135 w 207140"/>
                    <a:gd name="csY10" fmla="*/ 283869 h 284097"/>
                    <a:gd name="csX11" fmla="*/ 121230 w 207140"/>
                    <a:gd name="csY11" fmla="*/ 283869 h 284097"/>
                    <a:gd name="csX12" fmla="*/ 127093 w 207140"/>
                    <a:gd name="csY12" fmla="*/ 280491 h 284097"/>
                    <a:gd name="csX13" fmla="*/ 207190 w 207140"/>
                    <a:gd name="csY13" fmla="*/ 141752 h 284097"/>
                    <a:gd name="csX14" fmla="*/ 187694 w 207140"/>
                    <a:gd name="csY14" fmla="*/ 108001 h 284097"/>
                    <a:gd name="csX15" fmla="*/ 116560 w 207140"/>
                    <a:gd name="csY15" fmla="*/ 82199 h 284097"/>
                    <a:gd name="csX16" fmla="*/ 58682 w 207140"/>
                    <a:gd name="csY16" fmla="*/ 250055 h 2840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07140" h="284097">
                      <a:moveTo>
                        <a:pt x="105598" y="33596"/>
                      </a:moveTo>
                      <a:lnTo>
                        <a:pt x="88008" y="3160"/>
                      </a:lnTo>
                      <a:cubicBezTo>
                        <a:pt x="86802" y="1064"/>
                        <a:pt x="84566" y="-229"/>
                        <a:pt x="82145" y="-229"/>
                      </a:cubicBezTo>
                      <a:lnTo>
                        <a:pt x="43050" y="-229"/>
                      </a:lnTo>
                      <a:cubicBezTo>
                        <a:pt x="40629" y="-239"/>
                        <a:pt x="38389" y="1051"/>
                        <a:pt x="37186" y="3150"/>
                      </a:cubicBezTo>
                      <a:lnTo>
                        <a:pt x="19408" y="33909"/>
                      </a:lnTo>
                      <a:lnTo>
                        <a:pt x="49" y="67399"/>
                      </a:lnTo>
                      <a:lnTo>
                        <a:pt x="105598" y="33596"/>
                      </a:lnTo>
                      <a:close/>
                      <a:moveTo>
                        <a:pt x="58692" y="250055"/>
                      </a:moveTo>
                      <a:lnTo>
                        <a:pt x="76271" y="280491"/>
                      </a:lnTo>
                      <a:cubicBezTo>
                        <a:pt x="77482" y="282581"/>
                        <a:pt x="79717" y="283869"/>
                        <a:pt x="82135" y="283869"/>
                      </a:cubicBezTo>
                      <a:lnTo>
                        <a:pt x="121230" y="283869"/>
                      </a:lnTo>
                      <a:cubicBezTo>
                        <a:pt x="123647" y="283867"/>
                        <a:pt x="125881" y="282580"/>
                        <a:pt x="127093" y="280491"/>
                      </a:cubicBezTo>
                      <a:lnTo>
                        <a:pt x="207190" y="141752"/>
                      </a:lnTo>
                      <a:lnTo>
                        <a:pt x="187694" y="108001"/>
                      </a:lnTo>
                      <a:lnTo>
                        <a:pt x="116560" y="82199"/>
                      </a:lnTo>
                      <a:lnTo>
                        <a:pt x="58682" y="250055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1" name="任意形状 70"/>
                <p:cNvSpPr/>
                <p:nvPr/>
              </p:nvSpPr>
              <p:spPr>
                <a:xfrm>
                  <a:off x="4664370" y="2140937"/>
                  <a:ext cx="61516" cy="108219"/>
                </a:xfrm>
                <a:custGeom>
                  <a:avLst/>
                  <a:gdLst>
                    <a:gd name="csX0" fmla="*/ -161 w 61516"/>
                    <a:gd name="csY0" fmla="*/ 107944 h 108219"/>
                    <a:gd name="csX1" fmla="*/ 35029 w 61516"/>
                    <a:gd name="csY1" fmla="*/ 107944 h 108219"/>
                    <a:gd name="csX2" fmla="*/ 40892 w 61516"/>
                    <a:gd name="csY2" fmla="*/ 104555 h 108219"/>
                    <a:gd name="csX3" fmla="*/ 60440 w 61516"/>
                    <a:gd name="csY3" fmla="*/ 70741 h 108219"/>
                    <a:gd name="csX4" fmla="*/ 60440 w 61516"/>
                    <a:gd name="csY4" fmla="*/ 63974 h 108219"/>
                    <a:gd name="csX5" fmla="*/ 42662 w 61516"/>
                    <a:gd name="csY5" fmla="*/ 33214 h 108219"/>
                    <a:gd name="csX6" fmla="*/ 23313 w 61516"/>
                    <a:gd name="csY6" fmla="*/ -275 h 108219"/>
                    <a:gd name="csX7" fmla="*/ -150 w 61516"/>
                    <a:gd name="csY7" fmla="*/ 107944 h 1082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61516" h="108219">
                      <a:moveTo>
                        <a:pt x="-161" y="107944"/>
                      </a:moveTo>
                      <a:lnTo>
                        <a:pt x="35029" y="107944"/>
                      </a:lnTo>
                      <a:cubicBezTo>
                        <a:pt x="37448" y="107944"/>
                        <a:pt x="39688" y="106647"/>
                        <a:pt x="40892" y="104555"/>
                      </a:cubicBezTo>
                      <a:lnTo>
                        <a:pt x="60440" y="70741"/>
                      </a:lnTo>
                      <a:cubicBezTo>
                        <a:pt x="61661" y="68650"/>
                        <a:pt x="61661" y="66065"/>
                        <a:pt x="60440" y="63974"/>
                      </a:cubicBezTo>
                      <a:lnTo>
                        <a:pt x="42662" y="33214"/>
                      </a:lnTo>
                      <a:lnTo>
                        <a:pt x="23313" y="-275"/>
                      </a:lnTo>
                      <a:lnTo>
                        <a:pt x="-150" y="107944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2" name="任意形状 71"/>
                <p:cNvSpPr/>
                <p:nvPr/>
              </p:nvSpPr>
              <p:spPr>
                <a:xfrm>
                  <a:off x="4464914" y="2107573"/>
                  <a:ext cx="117652" cy="168818"/>
                </a:xfrm>
                <a:custGeom>
                  <a:avLst/>
                  <a:gdLst>
                    <a:gd name="csX0" fmla="*/ 98516 w 117652"/>
                    <a:gd name="csY0" fmla="*/ 168236 h 168818"/>
                    <a:gd name="csX1" fmla="*/ 20513 w 117652"/>
                    <a:gd name="csY1" fmla="*/ 168550 h 168818"/>
                    <a:gd name="csX2" fmla="*/ 39841 w 117652"/>
                    <a:gd name="csY2" fmla="*/ 134768 h 168818"/>
                    <a:gd name="csX3" fmla="*/ 78895 w 117652"/>
                    <a:gd name="csY3" fmla="*/ 134600 h 168818"/>
                    <a:gd name="csX4" fmla="*/ 233 w 117652"/>
                    <a:gd name="csY4" fmla="*/ -195 h 168818"/>
                    <a:gd name="csX5" fmla="*/ 39307 w 117652"/>
                    <a:gd name="csY5" fmla="*/ -268 h 168818"/>
                    <a:gd name="csX6" fmla="*/ 117885 w 117652"/>
                    <a:gd name="csY6" fmla="*/ 134370 h 168818"/>
                    <a:gd name="csX7" fmla="*/ 98516 w 117652"/>
                    <a:gd name="csY7" fmla="*/ 168236 h 1688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7652" h="168818">
                      <a:moveTo>
                        <a:pt x="98516" y="168236"/>
                      </a:moveTo>
                      <a:lnTo>
                        <a:pt x="20513" y="168550"/>
                      </a:lnTo>
                      <a:lnTo>
                        <a:pt x="39841" y="134768"/>
                      </a:lnTo>
                      <a:lnTo>
                        <a:pt x="78895" y="134600"/>
                      </a:lnTo>
                      <a:lnTo>
                        <a:pt x="233" y="-195"/>
                      </a:lnTo>
                      <a:lnTo>
                        <a:pt x="39307" y="-268"/>
                      </a:lnTo>
                      <a:lnTo>
                        <a:pt x="117885" y="134370"/>
                      </a:lnTo>
                      <a:lnTo>
                        <a:pt x="98516" y="1682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3" name="任意形状 72"/>
                <p:cNvSpPr/>
                <p:nvPr/>
              </p:nvSpPr>
              <p:spPr>
                <a:xfrm>
                  <a:off x="4503978" y="2039945"/>
                  <a:ext cx="195163" cy="101316"/>
                </a:xfrm>
                <a:custGeom>
                  <a:avLst/>
                  <a:gdLst>
                    <a:gd name="csX0" fmla="*/ 54 w 195163"/>
                    <a:gd name="csY0" fmla="*/ 67592 h 101316"/>
                    <a:gd name="csX1" fmla="*/ 38783 w 195163"/>
                    <a:gd name="csY1" fmla="*/ -35 h 101316"/>
                    <a:gd name="csX2" fmla="*/ 58404 w 195163"/>
                    <a:gd name="csY2" fmla="*/ 33580 h 101316"/>
                    <a:gd name="csX3" fmla="*/ 39034 w 195163"/>
                    <a:gd name="csY3" fmla="*/ 67436 h 101316"/>
                    <a:gd name="csX4" fmla="*/ 195217 w 195163"/>
                    <a:gd name="csY4" fmla="*/ 66798 h 101316"/>
                    <a:gd name="csX5" fmla="*/ 175743 w 195163"/>
                    <a:gd name="csY5" fmla="*/ 100632 h 101316"/>
                    <a:gd name="csX6" fmla="*/ 19738 w 195163"/>
                    <a:gd name="csY6" fmla="*/ 101281 h 101316"/>
                    <a:gd name="csX7" fmla="*/ 54 w 195163"/>
                    <a:gd name="csY7" fmla="*/ 67603 h 1013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95163" h="101316">
                      <a:moveTo>
                        <a:pt x="54" y="67592"/>
                      </a:moveTo>
                      <a:lnTo>
                        <a:pt x="38783" y="-35"/>
                      </a:lnTo>
                      <a:lnTo>
                        <a:pt x="58404" y="33580"/>
                      </a:lnTo>
                      <a:lnTo>
                        <a:pt x="39034" y="67436"/>
                      </a:lnTo>
                      <a:lnTo>
                        <a:pt x="195217" y="66798"/>
                      </a:lnTo>
                      <a:lnTo>
                        <a:pt x="175743" y="100632"/>
                      </a:lnTo>
                      <a:lnTo>
                        <a:pt x="19738" y="101281"/>
                      </a:lnTo>
                      <a:lnTo>
                        <a:pt x="54" y="676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4" name="任意形状 73"/>
                <p:cNvSpPr/>
                <p:nvPr/>
              </p:nvSpPr>
              <p:spPr>
                <a:xfrm>
                  <a:off x="4563197" y="2140603"/>
                  <a:ext cx="155743" cy="169236"/>
                </a:xfrm>
                <a:custGeom>
                  <a:avLst/>
                  <a:gdLst>
                    <a:gd name="csX0" fmla="*/ 116443 w 155743"/>
                    <a:gd name="csY0" fmla="*/ -345 h 169236"/>
                    <a:gd name="csX1" fmla="*/ 155706 w 155743"/>
                    <a:gd name="csY1" fmla="*/ 66969 h 169236"/>
                    <a:gd name="csX2" fmla="*/ 116757 w 155743"/>
                    <a:gd name="csY2" fmla="*/ 67147 h 169236"/>
                    <a:gd name="csX3" fmla="*/ 97095 w 155743"/>
                    <a:gd name="csY3" fmla="*/ 33448 h 169236"/>
                    <a:gd name="csX4" fmla="*/ 19563 w 155743"/>
                    <a:gd name="csY4" fmla="*/ 168892 h 169236"/>
                    <a:gd name="csX5" fmla="*/ -37 w 155743"/>
                    <a:gd name="csY5" fmla="*/ 135131 h 169236"/>
                    <a:gd name="csX6" fmla="*/ 77400 w 155743"/>
                    <a:gd name="csY6" fmla="*/ -167 h 169236"/>
                    <a:gd name="csX7" fmla="*/ 116454 w 155743"/>
                    <a:gd name="csY7" fmla="*/ -345 h 1692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5743" h="169236">
                      <a:moveTo>
                        <a:pt x="116443" y="-345"/>
                      </a:moveTo>
                      <a:lnTo>
                        <a:pt x="155706" y="66969"/>
                      </a:lnTo>
                      <a:lnTo>
                        <a:pt x="116757" y="67147"/>
                      </a:lnTo>
                      <a:lnTo>
                        <a:pt x="97095" y="33448"/>
                      </a:lnTo>
                      <a:lnTo>
                        <a:pt x="19563" y="168892"/>
                      </a:lnTo>
                      <a:lnTo>
                        <a:pt x="-37" y="135131"/>
                      </a:lnTo>
                      <a:lnTo>
                        <a:pt x="77400" y="-167"/>
                      </a:lnTo>
                      <a:lnTo>
                        <a:pt x="116454" y="-3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5" name="任意形状 74"/>
                <p:cNvSpPr/>
                <p:nvPr/>
              </p:nvSpPr>
              <p:spPr>
                <a:xfrm>
                  <a:off x="4523662" y="2140780"/>
                  <a:ext cx="116982" cy="101441"/>
                </a:xfrm>
                <a:custGeom>
                  <a:avLst/>
                  <a:gdLst>
                    <a:gd name="csX0" fmla="*/ 59003 w 116982"/>
                    <a:gd name="csY0" fmla="*/ 101164 h 101441"/>
                    <a:gd name="csX1" fmla="*/ 117081 w 116982"/>
                    <a:gd name="csY1" fmla="*/ -267 h 101441"/>
                    <a:gd name="csX2" fmla="*/ 99 w 116982"/>
                    <a:gd name="csY2" fmla="*/ 214 h 101441"/>
                    <a:gd name="csX3" fmla="*/ 59003 w 116982"/>
                    <a:gd name="csY3" fmla="*/ 101174 h 10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6982" h="101441">
                      <a:moveTo>
                        <a:pt x="59003" y="101164"/>
                      </a:moveTo>
                      <a:lnTo>
                        <a:pt x="117081" y="-267"/>
                      </a:lnTo>
                      <a:lnTo>
                        <a:pt x="99" y="214"/>
                      </a:lnTo>
                      <a:lnTo>
                        <a:pt x="59003" y="101174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6" name="任意形状 75"/>
                <p:cNvSpPr/>
                <p:nvPr/>
              </p:nvSpPr>
              <p:spPr>
                <a:xfrm>
                  <a:off x="4503988" y="2100806"/>
                  <a:ext cx="82441" cy="141416"/>
                </a:xfrm>
                <a:custGeom>
                  <a:avLst/>
                  <a:gdLst>
                    <a:gd name="csX0" fmla="*/ 78762 w 82441"/>
                    <a:gd name="csY0" fmla="*/ 141184 h 141416"/>
                    <a:gd name="csX1" fmla="*/ 183 w 82441"/>
                    <a:gd name="csY1" fmla="*/ 6546 h 141416"/>
                    <a:gd name="csX2" fmla="*/ 4057 w 82441"/>
                    <a:gd name="csY2" fmla="*/ -221 h 141416"/>
                    <a:gd name="csX3" fmla="*/ 82625 w 82441"/>
                    <a:gd name="csY3" fmla="*/ 134428 h 141416"/>
                    <a:gd name="csX4" fmla="*/ 78762 w 82441"/>
                    <a:gd name="csY4" fmla="*/ 141195 h 1414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2441" h="141416">
                      <a:moveTo>
                        <a:pt x="78762" y="141184"/>
                      </a:moveTo>
                      <a:lnTo>
                        <a:pt x="183" y="6546"/>
                      </a:lnTo>
                      <a:lnTo>
                        <a:pt x="4057" y="-221"/>
                      </a:lnTo>
                      <a:lnTo>
                        <a:pt x="82625" y="134428"/>
                      </a:lnTo>
                      <a:lnTo>
                        <a:pt x="78762" y="141195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7" name="任意形状 76"/>
                <p:cNvSpPr/>
                <p:nvPr/>
              </p:nvSpPr>
              <p:spPr>
                <a:xfrm>
                  <a:off x="4523651" y="2140613"/>
                  <a:ext cx="159951" cy="7384"/>
                </a:xfrm>
                <a:custGeom>
                  <a:avLst/>
                  <a:gdLst>
                    <a:gd name="csX0" fmla="*/ 49 w 159951"/>
                    <a:gd name="csY0" fmla="*/ 490 h 7384"/>
                    <a:gd name="csX1" fmla="*/ 156075 w 159951"/>
                    <a:gd name="csY1" fmla="*/ -159 h 7384"/>
                    <a:gd name="csX2" fmla="*/ 160001 w 159951"/>
                    <a:gd name="csY2" fmla="*/ 6577 h 7384"/>
                    <a:gd name="csX3" fmla="*/ 3986 w 159951"/>
                    <a:gd name="csY3" fmla="*/ 7225 h 7384"/>
                    <a:gd name="csX4" fmla="*/ 49 w 159951"/>
                    <a:gd name="csY4" fmla="*/ 490 h 73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9951" h="7384">
                      <a:moveTo>
                        <a:pt x="49" y="490"/>
                      </a:moveTo>
                      <a:lnTo>
                        <a:pt x="156075" y="-159"/>
                      </a:lnTo>
                      <a:lnTo>
                        <a:pt x="160001" y="6577"/>
                      </a:lnTo>
                      <a:lnTo>
                        <a:pt x="3986" y="7225"/>
                      </a:lnTo>
                      <a:lnTo>
                        <a:pt x="49" y="490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8" name="任意形状 77"/>
                <p:cNvSpPr/>
                <p:nvPr/>
              </p:nvSpPr>
              <p:spPr>
                <a:xfrm>
                  <a:off x="4555407" y="2140760"/>
                  <a:ext cx="85237" cy="135328"/>
                </a:xfrm>
                <a:custGeom>
                  <a:avLst/>
                  <a:gdLst>
                    <a:gd name="csX0" fmla="*/ 85299 w 85237"/>
                    <a:gd name="csY0" fmla="*/ -306 h 135328"/>
                    <a:gd name="csX1" fmla="*/ 7862 w 85237"/>
                    <a:gd name="csY1" fmla="*/ 134991 h 135328"/>
                    <a:gd name="csX2" fmla="*/ 62 w 85237"/>
                    <a:gd name="csY2" fmla="*/ 135023 h 135328"/>
                    <a:gd name="csX3" fmla="*/ 77510 w 85237"/>
                    <a:gd name="csY3" fmla="*/ -264 h 135328"/>
                    <a:gd name="csX4" fmla="*/ 85299 w 85237"/>
                    <a:gd name="csY4" fmla="*/ -306 h 1353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5237" h="135328">
                      <a:moveTo>
                        <a:pt x="85299" y="-306"/>
                      </a:moveTo>
                      <a:lnTo>
                        <a:pt x="7862" y="134991"/>
                      </a:lnTo>
                      <a:lnTo>
                        <a:pt x="62" y="135023"/>
                      </a:lnTo>
                      <a:lnTo>
                        <a:pt x="77510" y="-264"/>
                      </a:lnTo>
                      <a:lnTo>
                        <a:pt x="85299" y="-306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79" name="文本框 78"/>
              <p:cNvSpPr txBox="1"/>
              <p:nvPr/>
            </p:nvSpPr>
            <p:spPr>
              <a:xfrm>
                <a:off x="4177146" y="2291003"/>
                <a:ext cx="8274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teacher-generated</a:t>
                </a:r>
                <a:endParaRPr lang="en-US" altLang="zh-CN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explanations</a:t>
                </a:r>
                <a:endParaRPr lang="zh-CN" altLang="en-US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81" name="任意形状 80"/>
              <p:cNvSpPr/>
              <p:nvPr/>
            </p:nvSpPr>
            <p:spPr>
              <a:xfrm>
                <a:off x="5043355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5170745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5217053" y="1578801"/>
                <a:ext cx="83067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5. SFT </a:t>
                </a:r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Dataset</a:t>
                </a:r>
                <a:endParaRPr lang="zh-CN" altLang="en-US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5487610" y="2364305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i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</a:t>
                </a:r>
                <a:r>
                  <a:rPr lang="en-US" altLang="zh-CN" sz="700" i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_sft</a:t>
                </a:r>
                <a:endParaRPr lang="zh-CN" altLang="en-US" sz="700" i="1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1" name="任意形状 90"/>
              <p:cNvSpPr/>
              <p:nvPr/>
            </p:nvSpPr>
            <p:spPr>
              <a:xfrm>
                <a:off x="6102704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6230094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326435" y="1578801"/>
                <a:ext cx="77296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6. Supervised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Fine-tuning</a:t>
                </a:r>
                <a:endParaRPr lang="zh-CN" altLang="en-US" sz="800" b="1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6" name="任意形状 95"/>
              <p:cNvSpPr/>
              <p:nvPr/>
            </p:nvSpPr>
            <p:spPr>
              <a:xfrm>
                <a:off x="6491579" y="1978967"/>
                <a:ext cx="411939" cy="411501"/>
              </a:xfrm>
              <a:custGeom>
                <a:avLst/>
                <a:gdLst>
                  <a:gd name="csX0" fmla="*/ 414 w 411939"/>
                  <a:gd name="csY0" fmla="*/ -227 h 411501"/>
                  <a:gd name="csX1" fmla="*/ 412353 w 411939"/>
                  <a:gd name="csY1" fmla="*/ -227 h 411501"/>
                  <a:gd name="csX2" fmla="*/ 412353 w 411939"/>
                  <a:gd name="csY2" fmla="*/ 411274 h 411501"/>
                  <a:gd name="csX3" fmla="*/ 414 w 411939"/>
                  <a:gd name="csY3" fmla="*/ 411274 h 4115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11939" h="411501">
                    <a:moveTo>
                      <a:pt x="414" y="-227"/>
                    </a:moveTo>
                    <a:lnTo>
                      <a:pt x="412353" y="-227"/>
                    </a:lnTo>
                    <a:lnTo>
                      <a:pt x="412353" y="411274"/>
                    </a:lnTo>
                    <a:lnTo>
                      <a:pt x="414" y="411274"/>
                    </a:lnTo>
                    <a:close/>
                  </a:path>
                </a:pathLst>
              </a:custGeom>
              <a:solidFill>
                <a:srgbClr val="FFFFFF">
                  <a:alpha val="1000"/>
                </a:srgbClr>
              </a:solidFill>
              <a:ln w="4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6406115" y="2270910"/>
                <a:ext cx="81945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Local</a:t>
                </a:r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SFT</a:t>
                </a:r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tuning</a:t>
                </a:r>
                <a:endParaRPr lang="zh-CN" altLang="en-US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01" name="任意形状 100"/>
              <p:cNvSpPr/>
              <p:nvPr/>
            </p:nvSpPr>
            <p:spPr>
              <a:xfrm>
                <a:off x="7162052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7289442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397959" y="1578801"/>
                <a:ext cx="7473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7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7. Local SFT</a:t>
                </a:r>
                <a:endParaRPr lang="en-US" altLang="zh-CN" sz="800" b="1" spc="0" baseline="0" dirty="0">
                  <a:solidFill>
                    <a:srgbClr val="6F47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7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   Model </a:t>
                </a:r>
                <a:r>
                  <a:rPr lang="zh-CN" altLang="en-US" sz="800" b="1" i="1" dirty="0">
                    <a:solidFill>
                      <a:srgbClr val="6F47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</a:t>
                </a:r>
                <a:endParaRPr lang="zh-CN" altLang="en-US" sz="800" b="1" i="1" dirty="0">
                  <a:solidFill>
                    <a:srgbClr val="6F47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7288427" y="2353609"/>
                <a:ext cx="9363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</a:t>
                </a:r>
                <a:r>
                  <a:rPr lang="zh-CN" altLang="en-US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or non-determined </a:t>
                </a:r>
                <a:r>
                  <a:rPr lang="en-US" altLang="zh-CN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states</a:t>
                </a:r>
                <a:endParaRPr lang="zh-CN" altLang="en-US" sz="70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115" name="图形 4"/>
            <p:cNvGrpSpPr/>
            <p:nvPr/>
          </p:nvGrpSpPr>
          <p:grpSpPr>
            <a:xfrm>
              <a:off x="8489590" y="1211043"/>
              <a:ext cx="2753553" cy="1634217"/>
              <a:chOff x="8489590" y="1211043"/>
              <a:chExt cx="2753553" cy="1634217"/>
            </a:xfrm>
          </p:grpSpPr>
          <p:sp>
            <p:nvSpPr>
              <p:cNvPr id="116" name="圆角矩形 115"/>
              <p:cNvSpPr/>
              <p:nvPr/>
            </p:nvSpPr>
            <p:spPr>
              <a:xfrm>
                <a:off x="8489590" y="1211043"/>
                <a:ext cx="2753553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7FBF4"/>
              </a:solidFill>
              <a:ln w="937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17" name="圆角矩形 116"/>
              <p:cNvSpPr/>
              <p:nvPr/>
            </p:nvSpPr>
            <p:spPr>
              <a:xfrm>
                <a:off x="8603571" y="1269020"/>
                <a:ext cx="2528255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8630926" y="1285764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8598589" y="1265227"/>
                <a:ext cx="26161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8968136" y="1275883"/>
                <a:ext cx="173957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Verification </a:t>
                </a:r>
                <a:r>
                  <a:rPr lang="en-US" altLang="zh-CN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Utility</a:t>
                </a:r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Profiling</a:t>
                </a:r>
                <a:endParaRPr lang="zh-CN" altLang="en-US" sz="10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1" name="圆角矩形 120"/>
              <p:cNvSpPr/>
              <p:nvPr/>
            </p:nvSpPr>
            <p:spPr>
              <a:xfrm>
                <a:off x="8603570" y="1550320"/>
                <a:ext cx="1143439" cy="705786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8574102" y="1563828"/>
                <a:ext cx="125395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1. </a:t>
                </a:r>
                <a:r>
                  <a:rPr lang="zh-CN" altLang="en-US" sz="700" b="1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Historical VeriEQL Logs</a:t>
                </a:r>
                <a:endParaRPr lang="zh-CN" altLang="en-US" sz="700" b="1" dirty="0">
                  <a:solidFill>
                    <a:srgbClr val="6E9835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endPara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8770650" y="2035610"/>
                <a:ext cx="110158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runtime / states / </a:t>
                </a:r>
                <a:r>
                  <a:rPr lang="en-US" altLang="zh-CN" sz="7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prefixes</a:t>
                </a:r>
                <a:endParaRPr lang="zh-CN" altLang="en-US" sz="7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7" name="任意形状 126"/>
              <p:cNvSpPr/>
              <p:nvPr/>
            </p:nvSpPr>
            <p:spPr>
              <a:xfrm>
                <a:off x="9759715" y="1891898"/>
                <a:ext cx="181027" cy="6697"/>
              </a:xfrm>
              <a:custGeom>
                <a:avLst/>
                <a:gdLst>
                  <a:gd name="csX0" fmla="*/ 0 w 181027"/>
                  <a:gd name="csY0" fmla="*/ 0 h 6697"/>
                  <a:gd name="csX1" fmla="*/ 181028 w 181027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27" h="6697">
                    <a:moveTo>
                      <a:pt x="0" y="0"/>
                    </a:moveTo>
                    <a:lnTo>
                      <a:pt x="181028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28" name="圆角矩形 127"/>
              <p:cNvSpPr/>
              <p:nvPr/>
            </p:nvSpPr>
            <p:spPr>
              <a:xfrm>
                <a:off x="9949661" y="1552008"/>
                <a:ext cx="1180654" cy="704097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10138522" y="1578801"/>
                <a:ext cx="88517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2. </a:t>
                </a:r>
                <a:r>
                  <a:rPr lang="en-US" altLang="zh-CN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Utility</a:t>
                </a:r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Profiling</a:t>
                </a:r>
                <a:endParaRPr lang="zh-CN" altLang="en-US" sz="700" b="1" spc="0" baseline="0" dirty="0">
                  <a:solidFill>
                    <a:srgbClr val="6E9835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7" name="文本框 136"/>
              <p:cNvSpPr txBox="1"/>
              <p:nvPr/>
            </p:nvSpPr>
            <p:spPr>
              <a:xfrm>
                <a:off x="10225670" y="2018906"/>
                <a:ext cx="76976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7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Determined</a:t>
                </a:r>
                <a:r>
                  <a:rPr lang="zh-CN" altLang="en-US" sz="7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rate</a:t>
                </a:r>
                <a:endParaRPr lang="zh-CN" altLang="en-US" sz="7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9" name="任意形状 138"/>
              <p:cNvSpPr/>
              <p:nvPr/>
            </p:nvSpPr>
            <p:spPr>
              <a:xfrm>
                <a:off x="10552318" y="2277436"/>
                <a:ext cx="6704" cy="154045"/>
              </a:xfrm>
              <a:custGeom>
                <a:avLst/>
                <a:gdLst>
                  <a:gd name="csX0" fmla="*/ 0 w 6704"/>
                  <a:gd name="csY0" fmla="*/ 0 h 154045"/>
                  <a:gd name="csX1" fmla="*/ 0 w 6704"/>
                  <a:gd name="csY1" fmla="*/ 154045 h 154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54045">
                    <a:moveTo>
                      <a:pt x="0" y="0"/>
                    </a:moveTo>
                    <a:lnTo>
                      <a:pt x="0" y="154045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40" name="圆角矩形 139"/>
              <p:cNvSpPr/>
              <p:nvPr/>
            </p:nvSpPr>
            <p:spPr>
              <a:xfrm>
                <a:off x="8958922" y="2441102"/>
                <a:ext cx="1783460" cy="334880"/>
              </a:xfrm>
              <a:prstGeom prst="roundRect">
                <a:avLst>
                  <a:gd name="adj" fmla="val 16017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9225978" y="2449491"/>
                <a:ext cx="12458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3. Dynamic Budget Policy π</a:t>
                </a:r>
                <a:endParaRPr lang="zh-CN" altLang="en-US" sz="700" b="1" spc="0" baseline="0" dirty="0">
                  <a:solidFill>
                    <a:srgbClr val="6E9835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1901260" y="3024027"/>
              <a:ext cx="144462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offline profiling → online budget routing</a:t>
              </a:r>
              <a:endParaRPr lang="zh-CN" altLang="en-US" sz="600" i="1" spc="0" baseline="0">
                <a:solidFill>
                  <a:srgbClr val="6F46C7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7863336" y="3004313"/>
              <a:ext cx="178606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offline trained model → non-determined completion</a:t>
              </a:r>
              <a:endParaRPr lang="zh-CN" altLang="en-US" sz="600" i="1" spc="0" baseline="0" dirty="0">
                <a:solidFill>
                  <a:srgbClr val="6F46C7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151" name="图形 4"/>
          <p:cNvGrpSpPr/>
          <p:nvPr/>
        </p:nvGrpSpPr>
        <p:grpSpPr>
          <a:xfrm>
            <a:off x="725504" y="3204630"/>
            <a:ext cx="10740989" cy="3040715"/>
            <a:chOff x="725504" y="3204630"/>
            <a:chExt cx="10740989" cy="3040715"/>
          </a:xfrm>
        </p:grpSpPr>
        <p:sp>
          <p:nvSpPr>
            <p:cNvPr id="153" name="文本框 152"/>
            <p:cNvSpPr txBox="1"/>
            <p:nvPr/>
          </p:nvSpPr>
          <p:spPr>
            <a:xfrm>
              <a:off x="4797682" y="3212952"/>
              <a:ext cx="31000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Stage II. Online SQL Equivalence Judgment</a:t>
              </a:r>
              <a:endParaRPr lang="zh-CN" altLang="en-US" sz="1200" b="1" spc="0" baseline="0" dirty="0">
                <a:solidFill>
                  <a:srgbClr val="4D8D2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725504" y="3204630"/>
              <a:ext cx="10740989" cy="3040715"/>
            </a:xfrm>
            <a:prstGeom prst="roundRect">
              <a:avLst>
                <a:gd name="adj" fmla="val 3086"/>
              </a:avLst>
            </a:prstGeom>
            <a:solidFill>
              <a:srgbClr val="F8FCF7"/>
            </a:solidFill>
            <a:ln w="10719" cap="flat">
              <a:solidFill>
                <a:srgbClr val="8FCD9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100" dirty="0"/>
            </a:p>
          </p:txBody>
        </p:sp>
        <p:grpSp>
          <p:nvGrpSpPr>
            <p:cNvPr id="154" name="图形 4"/>
            <p:cNvGrpSpPr/>
            <p:nvPr/>
          </p:nvGrpSpPr>
          <p:grpSpPr>
            <a:xfrm>
              <a:off x="978516" y="3526115"/>
              <a:ext cx="2060122" cy="2595504"/>
              <a:chOff x="978516" y="3526115"/>
              <a:chExt cx="2060122" cy="2595504"/>
            </a:xfrm>
          </p:grpSpPr>
          <p:sp>
            <p:nvSpPr>
              <p:cNvPr id="155" name="圆角矩形 154"/>
              <p:cNvSpPr/>
              <p:nvPr/>
            </p:nvSpPr>
            <p:spPr>
              <a:xfrm>
                <a:off x="978516" y="3526115"/>
                <a:ext cx="2060122" cy="2595504"/>
              </a:xfrm>
              <a:prstGeom prst="roundRect">
                <a:avLst>
                  <a:gd name="adj" fmla="val 3870"/>
                </a:avLst>
              </a:prstGeom>
              <a:solidFill>
                <a:srgbClr val="F7FBFF"/>
              </a:solidFill>
              <a:ln w="937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56" name="圆角矩形 155"/>
              <p:cNvSpPr/>
              <p:nvPr/>
            </p:nvSpPr>
            <p:spPr>
              <a:xfrm>
                <a:off x="1054036" y="3606486"/>
                <a:ext cx="1890735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4EFFF"/>
              </a:solidFill>
              <a:ln w="803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1072955" y="3629928"/>
                <a:ext cx="187732" cy="187533"/>
              </a:xfrm>
              <a:prstGeom prst="ellipse">
                <a:avLst/>
              </a:prstGeom>
              <a:solidFill>
                <a:srgbClr val="4F79B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58" name="文本框 157"/>
              <p:cNvSpPr txBox="1"/>
              <p:nvPr/>
            </p:nvSpPr>
            <p:spPr>
              <a:xfrm>
                <a:off x="1048562" y="3604701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1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233183" y="3597023"/>
                <a:ext cx="17299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Dynamic</a:t>
                </a:r>
                <a:r>
                  <a:rPr lang="zh-CN" altLang="en-US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Budget</a:t>
                </a:r>
                <a:r>
                  <a:rPr lang="zh-CN" altLang="en-US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Allocation</a:t>
                </a:r>
                <a:endParaRPr lang="zh-CN" altLang="en-US" sz="1000" b="1" spc="0" baseline="0" dirty="0">
                  <a:solidFill>
                    <a:srgbClr val="4C7BC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1" name="圆角矩形 160"/>
              <p:cNvSpPr/>
              <p:nvPr/>
            </p:nvSpPr>
            <p:spPr>
              <a:xfrm>
                <a:off x="1013808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162" name="图形 4"/>
              <p:cNvGrpSpPr/>
              <p:nvPr/>
            </p:nvGrpSpPr>
            <p:grpSpPr>
              <a:xfrm>
                <a:off x="1103383" y="4208869"/>
                <a:ext cx="112639" cy="126584"/>
                <a:chOff x="1103383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3" name="椭圆 162"/>
                <p:cNvSpPr/>
                <p:nvPr/>
              </p:nvSpPr>
              <p:spPr>
                <a:xfrm>
                  <a:off x="1103383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64" name="任意形状 163"/>
                <p:cNvSpPr/>
                <p:nvPr/>
              </p:nvSpPr>
              <p:spPr>
                <a:xfrm>
                  <a:off x="1103383" y="4228560"/>
                  <a:ext cx="112639" cy="106893"/>
                </a:xfrm>
                <a:custGeom>
                  <a:avLst/>
                  <a:gdLst>
                    <a:gd name="csX0" fmla="*/ 72 w 112639"/>
                    <a:gd name="csY0" fmla="*/ 565 h 106893"/>
                    <a:gd name="csX1" fmla="*/ 72 w 112639"/>
                    <a:gd name="csY1" fmla="*/ 82142 h 106893"/>
                    <a:gd name="csX2" fmla="*/ 56392 w 112639"/>
                    <a:gd name="csY2" fmla="*/ 107459 h 106893"/>
                    <a:gd name="csX3" fmla="*/ 112711 w 112639"/>
                    <a:gd name="csY3" fmla="*/ 82142 h 106893"/>
                    <a:gd name="csX4" fmla="*/ 112711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72" y="565"/>
                      </a:moveTo>
                      <a:lnTo>
                        <a:pt x="72" y="82142"/>
                      </a:lnTo>
                      <a:cubicBezTo>
                        <a:pt x="72" y="96207"/>
                        <a:pt x="25416" y="107459"/>
                        <a:pt x="56392" y="107459"/>
                      </a:cubicBezTo>
                      <a:cubicBezTo>
                        <a:pt x="87367" y="107459"/>
                        <a:pt x="112711" y="96207"/>
                        <a:pt x="112711" y="82142"/>
                      </a:cubicBezTo>
                      <a:lnTo>
                        <a:pt x="112711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65" name="椭圆 164"/>
                <p:cNvSpPr/>
                <p:nvPr/>
              </p:nvSpPr>
              <p:spPr>
                <a:xfrm>
                  <a:off x="1103383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166" name="文本框 165"/>
              <p:cNvSpPr txBox="1"/>
              <p:nvPr/>
            </p:nvSpPr>
            <p:spPr>
              <a:xfrm>
                <a:off x="1161799" y="4185967"/>
                <a:ext cx="40588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 A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7" name="圆角矩形 166"/>
              <p:cNvSpPr/>
              <p:nvPr/>
            </p:nvSpPr>
            <p:spPr>
              <a:xfrm>
                <a:off x="1670872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168" name="图形 4"/>
              <p:cNvGrpSpPr/>
              <p:nvPr/>
            </p:nvGrpSpPr>
            <p:grpSpPr>
              <a:xfrm>
                <a:off x="1760448" y="4208869"/>
                <a:ext cx="112639" cy="126584"/>
                <a:chOff x="1760448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9" name="椭圆 168"/>
                <p:cNvSpPr/>
                <p:nvPr/>
              </p:nvSpPr>
              <p:spPr>
                <a:xfrm>
                  <a:off x="1760448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0" name="任意形状 169"/>
                <p:cNvSpPr/>
                <p:nvPr/>
              </p:nvSpPr>
              <p:spPr>
                <a:xfrm>
                  <a:off x="1760448" y="4228560"/>
                  <a:ext cx="112639" cy="106893"/>
                </a:xfrm>
                <a:custGeom>
                  <a:avLst/>
                  <a:gdLst>
                    <a:gd name="csX0" fmla="*/ 170 w 112639"/>
                    <a:gd name="csY0" fmla="*/ 565 h 106893"/>
                    <a:gd name="csX1" fmla="*/ 170 w 112639"/>
                    <a:gd name="csY1" fmla="*/ 82142 h 106893"/>
                    <a:gd name="csX2" fmla="*/ 56490 w 112639"/>
                    <a:gd name="csY2" fmla="*/ 107459 h 106893"/>
                    <a:gd name="csX3" fmla="*/ 112809 w 112639"/>
                    <a:gd name="csY3" fmla="*/ 82142 h 106893"/>
                    <a:gd name="csX4" fmla="*/ 112809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170" y="565"/>
                      </a:moveTo>
                      <a:lnTo>
                        <a:pt x="170" y="82142"/>
                      </a:lnTo>
                      <a:cubicBezTo>
                        <a:pt x="170" y="96207"/>
                        <a:pt x="25514" y="107459"/>
                        <a:pt x="56490" y="107459"/>
                      </a:cubicBezTo>
                      <a:cubicBezTo>
                        <a:pt x="87465" y="107459"/>
                        <a:pt x="112809" y="96207"/>
                        <a:pt x="112809" y="82142"/>
                      </a:cubicBezTo>
                      <a:lnTo>
                        <a:pt x="112809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1" name="椭圆 170"/>
                <p:cNvSpPr/>
                <p:nvPr/>
              </p:nvSpPr>
              <p:spPr>
                <a:xfrm>
                  <a:off x="1760448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172" name="文本框 171"/>
              <p:cNvSpPr txBox="1"/>
              <p:nvPr/>
            </p:nvSpPr>
            <p:spPr>
              <a:xfrm>
                <a:off x="1835666" y="4190728"/>
                <a:ext cx="40107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 B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73" name="圆角矩形 172"/>
              <p:cNvSpPr/>
              <p:nvPr/>
            </p:nvSpPr>
            <p:spPr>
              <a:xfrm>
                <a:off x="2327937" y="4122202"/>
                <a:ext cx="6168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174" name="图形 4"/>
              <p:cNvGrpSpPr/>
              <p:nvPr/>
            </p:nvGrpSpPr>
            <p:grpSpPr>
              <a:xfrm>
                <a:off x="2448622" y="4189178"/>
                <a:ext cx="167618" cy="170789"/>
                <a:chOff x="2448622" y="4189178"/>
                <a:chExt cx="167618" cy="170789"/>
              </a:xfrm>
              <a:solidFill>
                <a:srgbClr val="000000"/>
              </a:solidFill>
            </p:grpSpPr>
            <p:sp>
              <p:nvSpPr>
                <p:cNvPr id="175" name="矩形 174"/>
                <p:cNvSpPr/>
                <p:nvPr/>
              </p:nvSpPr>
              <p:spPr>
                <a:xfrm>
                  <a:off x="2502260" y="4189178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>
                  <a:off x="244862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>
                  <a:off x="256260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8" name="任意形状 177"/>
                <p:cNvSpPr/>
                <p:nvPr/>
              </p:nvSpPr>
              <p:spPr>
                <a:xfrm>
                  <a:off x="2475441" y="4242759"/>
                  <a:ext cx="113980" cy="63627"/>
                </a:xfrm>
                <a:custGeom>
                  <a:avLst/>
                  <a:gdLst>
                    <a:gd name="csX0" fmla="*/ 53909 w 113980"/>
                    <a:gd name="csY0" fmla="*/ 563 h 63627"/>
                    <a:gd name="csX1" fmla="*/ 53909 w 113980"/>
                    <a:gd name="csY1" fmla="*/ 40749 h 63627"/>
                    <a:gd name="csX2" fmla="*/ 272 w 113980"/>
                    <a:gd name="csY2" fmla="*/ 40749 h 63627"/>
                    <a:gd name="csX3" fmla="*/ 114252 w 113980"/>
                    <a:gd name="csY3" fmla="*/ 40749 h 63627"/>
                    <a:gd name="csX4" fmla="*/ 272 w 113980"/>
                    <a:gd name="csY4" fmla="*/ 40749 h 63627"/>
                    <a:gd name="csX5" fmla="*/ 272 w 113980"/>
                    <a:gd name="csY5" fmla="*/ 64191 h 63627"/>
                    <a:gd name="csX6" fmla="*/ 114252 w 113980"/>
                    <a:gd name="csY6" fmla="*/ 40749 h 63627"/>
                    <a:gd name="csX7" fmla="*/ 114252 w 113980"/>
                    <a:gd name="csY7" fmla="*/ 64191 h 636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3980" h="63627">
                      <a:moveTo>
                        <a:pt x="53909" y="563"/>
                      </a:moveTo>
                      <a:lnTo>
                        <a:pt x="53909" y="40749"/>
                      </a:lnTo>
                      <a:moveTo>
                        <a:pt x="272" y="40749"/>
                      </a:moveTo>
                      <a:lnTo>
                        <a:pt x="114252" y="40749"/>
                      </a:lnTo>
                      <a:moveTo>
                        <a:pt x="272" y="40749"/>
                      </a:moveTo>
                      <a:lnTo>
                        <a:pt x="272" y="64191"/>
                      </a:lnTo>
                      <a:moveTo>
                        <a:pt x="114252" y="40749"/>
                      </a:moveTo>
                      <a:lnTo>
                        <a:pt x="114252" y="64191"/>
                      </a:lnTo>
                    </a:path>
                  </a:pathLst>
                </a:custGeom>
                <a:noFill/>
                <a:ln w="737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179" name="文本框 178"/>
              <p:cNvSpPr txBox="1"/>
              <p:nvPr/>
            </p:nvSpPr>
            <p:spPr>
              <a:xfrm>
                <a:off x="2571690" y="4188697"/>
                <a:ext cx="42672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Schema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0" name="任意形状 179"/>
              <p:cNvSpPr/>
              <p:nvPr/>
            </p:nvSpPr>
            <p:spPr>
              <a:xfrm>
                <a:off x="1295407" y="4443688"/>
                <a:ext cx="1347652" cy="133952"/>
              </a:xfrm>
              <a:custGeom>
                <a:avLst/>
                <a:gdLst>
                  <a:gd name="csX0" fmla="*/ 0 w 1347652"/>
                  <a:gd name="csY0" fmla="*/ 0 h 133952"/>
                  <a:gd name="csX1" fmla="*/ 0 w 1347652"/>
                  <a:gd name="csY1" fmla="*/ 133952 h 133952"/>
                  <a:gd name="csX2" fmla="*/ 1347652 w 1347652"/>
                  <a:gd name="csY2" fmla="*/ 133952 h 133952"/>
                  <a:gd name="csX3" fmla="*/ 1347652 w 1347652"/>
                  <a:gd name="csY3" fmla="*/ 0 h 133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7652" h="133952">
                    <a:moveTo>
                      <a:pt x="0" y="0"/>
                    </a:moveTo>
                    <a:lnTo>
                      <a:pt x="0" y="133952"/>
                    </a:lnTo>
                    <a:lnTo>
                      <a:pt x="1347652" y="133952"/>
                    </a:lnTo>
                    <a:lnTo>
                      <a:pt x="1347652" y="0"/>
                    </a:lnTo>
                  </a:path>
                </a:pathLst>
              </a:custGeom>
              <a:noFill/>
              <a:ln w="13399" cap="rnd">
                <a:solidFill>
                  <a:srgbClr val="99BDE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1" name="任意形状 180"/>
              <p:cNvSpPr/>
              <p:nvPr/>
            </p:nvSpPr>
            <p:spPr>
              <a:xfrm>
                <a:off x="1952471" y="4443688"/>
                <a:ext cx="6704" cy="221021"/>
              </a:xfrm>
              <a:custGeom>
                <a:avLst/>
                <a:gdLst>
                  <a:gd name="csX0" fmla="*/ 0 w 6704"/>
                  <a:gd name="csY0" fmla="*/ 0 h 221021"/>
                  <a:gd name="csX1" fmla="*/ 0 w 6704"/>
                  <a:gd name="csY1" fmla="*/ 221021 h 2210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221021">
                    <a:moveTo>
                      <a:pt x="0" y="0"/>
                    </a:moveTo>
                    <a:lnTo>
                      <a:pt x="0" y="221021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82" name="圆角矩形 181"/>
              <p:cNvSpPr/>
              <p:nvPr/>
            </p:nvSpPr>
            <p:spPr>
              <a:xfrm>
                <a:off x="1214064" y="4679070"/>
                <a:ext cx="1475042" cy="401856"/>
              </a:xfrm>
              <a:prstGeom prst="roundRect">
                <a:avLst>
                  <a:gd name="adj" fmla="val 13347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3" name="文本框 182"/>
              <p:cNvSpPr txBox="1"/>
              <p:nvPr/>
            </p:nvSpPr>
            <p:spPr>
              <a:xfrm>
                <a:off x="1213755" y="4690056"/>
                <a:ext cx="1510971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Structure</a:t>
                </a:r>
                <a:r>
                  <a:rPr lang="zh-CN" altLang="en-US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Feature</a:t>
                </a:r>
                <a:r>
                  <a:rPr lang="zh-CN" altLang="en-US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Extraction</a:t>
                </a:r>
                <a:endParaRPr lang="zh-CN" altLang="en-US" sz="7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6" name="任意形状 185"/>
              <p:cNvSpPr/>
              <p:nvPr/>
            </p:nvSpPr>
            <p:spPr>
              <a:xfrm>
                <a:off x="1950078" y="5079961"/>
                <a:ext cx="6704" cy="174137"/>
              </a:xfrm>
              <a:custGeom>
                <a:avLst/>
                <a:gdLst>
                  <a:gd name="csX0" fmla="*/ 0 w 6704"/>
                  <a:gd name="csY0" fmla="*/ 0 h 174137"/>
                  <a:gd name="csX1" fmla="*/ 0 w 6704"/>
                  <a:gd name="csY1" fmla="*/ 174138 h 174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74137">
                    <a:moveTo>
                      <a:pt x="0" y="0"/>
                    </a:moveTo>
                    <a:lnTo>
                      <a:pt x="0" y="174138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7" name="圆角矩形 186"/>
              <p:cNvSpPr/>
              <p:nvPr/>
            </p:nvSpPr>
            <p:spPr>
              <a:xfrm>
                <a:off x="1214064" y="5267494"/>
                <a:ext cx="1475042" cy="549204"/>
              </a:xfrm>
              <a:prstGeom prst="roundRect">
                <a:avLst>
                  <a:gd name="adj" fmla="val 9766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8" name="文本框 187"/>
              <p:cNvSpPr txBox="1"/>
              <p:nvPr/>
            </p:nvSpPr>
            <p:spPr>
              <a:xfrm>
                <a:off x="1647115" y="5406857"/>
                <a:ext cx="9749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Budget</a:t>
                </a:r>
                <a:r>
                  <a:rPr lang="zh-CN" altLang="en-US" sz="8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800" b="1" spc="0" baseline="0" dirty="0" err="1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Alocation</a:t>
                </a:r>
                <a:endPara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0" name="文本框 189"/>
              <p:cNvSpPr txBox="1"/>
              <p:nvPr/>
            </p:nvSpPr>
            <p:spPr>
              <a:xfrm>
                <a:off x="1575996" y="5571316"/>
                <a:ext cx="534121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5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</a:t>
                </a:r>
                <a:r>
                  <a:rPr lang="zh-CN" altLang="en-US" sz="5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5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= </a:t>
                </a:r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π</a:t>
                </a:r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(x</a:t>
                </a:r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，</a:t>
                </a:r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P)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191" name="图形 4"/>
            <p:cNvGrpSpPr/>
            <p:nvPr/>
          </p:nvGrpSpPr>
          <p:grpSpPr>
            <a:xfrm>
              <a:off x="3204586" y="3526115"/>
              <a:ext cx="3434497" cy="2581269"/>
              <a:chOff x="3204586" y="3526115"/>
              <a:chExt cx="3434497" cy="2581269"/>
            </a:xfrm>
          </p:grpSpPr>
          <p:sp>
            <p:nvSpPr>
              <p:cNvPr id="192" name="圆角矩形 191"/>
              <p:cNvSpPr/>
              <p:nvPr/>
            </p:nvSpPr>
            <p:spPr>
              <a:xfrm>
                <a:off x="3204586" y="3526115"/>
                <a:ext cx="3434497" cy="2581269"/>
              </a:xfrm>
              <a:prstGeom prst="roundRect">
                <a:avLst>
                  <a:gd name="adj" fmla="val 3696"/>
                </a:avLst>
              </a:prstGeom>
              <a:solidFill>
                <a:srgbClr val="F7FBF4"/>
              </a:solidFill>
              <a:ln w="9379" cap="flat">
                <a:solidFill>
                  <a:srgbClr val="A5CF78"/>
                </a:solidFill>
                <a:prstDash val="solid"/>
                <a:miter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93" name="圆角矩形 192"/>
              <p:cNvSpPr/>
              <p:nvPr/>
            </p:nvSpPr>
            <p:spPr>
              <a:xfrm>
                <a:off x="3481151" y="3606486"/>
                <a:ext cx="3057361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94" name="椭圆 193"/>
              <p:cNvSpPr/>
              <p:nvPr/>
            </p:nvSpPr>
            <p:spPr>
              <a:xfrm>
                <a:off x="3494561" y="3629928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3470168" y="3622667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2</a:t>
                </a:r>
                <a:endParaRPr lang="zh-CN" altLang="en-US" sz="900" b="1" spc="0" baseline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3793228" y="3603303"/>
                <a:ext cx="274305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Budgeted VeriEQL Verification</a:t>
                </a:r>
                <a:endParaRPr lang="zh-CN" altLang="en-US" sz="10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7" name="圆角矩形 196"/>
              <p:cNvSpPr/>
              <p:nvPr/>
            </p:nvSpPr>
            <p:spPr>
              <a:xfrm>
                <a:off x="3494561" y="3946358"/>
                <a:ext cx="703997" cy="1980260"/>
              </a:xfrm>
              <a:prstGeom prst="roundRect">
                <a:avLst>
                  <a:gd name="adj" fmla="val 7619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01" name="文本框 200"/>
              <p:cNvSpPr txBox="1"/>
              <p:nvPr/>
            </p:nvSpPr>
            <p:spPr>
              <a:xfrm>
                <a:off x="3779993" y="4019320"/>
                <a:ext cx="26321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Q₁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3779993" y="4364435"/>
                <a:ext cx="26321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Q₂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3714347" y="4752730"/>
                <a:ext cx="42672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Schema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3677341" y="5112403"/>
                <a:ext cx="53572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Bound = Bₜ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3721412" y="5436818"/>
                <a:ext cx="5036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Integrity</a:t>
                </a:r>
                <a:endParaRPr lang="en-US" altLang="zh-CN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60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Constraint</a:t>
                </a:r>
                <a:endParaRPr lang="zh-CN" altLang="en-US" sz="6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7" name="任意形状 216"/>
              <p:cNvSpPr/>
              <p:nvPr/>
            </p:nvSpPr>
            <p:spPr>
              <a:xfrm>
                <a:off x="4198558" y="4953897"/>
                <a:ext cx="174323" cy="6697"/>
              </a:xfrm>
              <a:custGeom>
                <a:avLst/>
                <a:gdLst>
                  <a:gd name="csX0" fmla="*/ 0 w 174323"/>
                  <a:gd name="csY0" fmla="*/ 0 h 6697"/>
                  <a:gd name="csX1" fmla="*/ 174323 w 174323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4323" h="6697">
                    <a:moveTo>
                      <a:pt x="0" y="0"/>
                    </a:moveTo>
                    <a:lnTo>
                      <a:pt x="174323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18" name="圆角矩形 217"/>
              <p:cNvSpPr/>
              <p:nvPr/>
            </p:nvSpPr>
            <p:spPr>
              <a:xfrm>
                <a:off x="4366177" y="3951824"/>
                <a:ext cx="1407994" cy="1980870"/>
              </a:xfrm>
              <a:prstGeom prst="roundRect">
                <a:avLst>
                  <a:gd name="adj" fmla="val 3809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4558208" y="3981718"/>
                <a:ext cx="120898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VeriEQL Verifier</a:t>
                </a:r>
                <a:endParaRPr lang="zh-CN" altLang="en-US" sz="10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0" name="文本框 219"/>
              <p:cNvSpPr txBox="1"/>
              <p:nvPr/>
            </p:nvSpPr>
            <p:spPr>
              <a:xfrm>
                <a:off x="4574387" y="4145512"/>
                <a:ext cx="118333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700" dirty="0">
                    <a:solidFill>
                      <a:srgbClr val="444444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online bounded verification</a:t>
                </a:r>
                <a:endParaRPr lang="zh-CN" altLang="en-US" sz="700" dirty="0">
                  <a:solidFill>
                    <a:srgbClr val="44444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2" name="圆角矩形 221"/>
              <p:cNvSpPr/>
              <p:nvPr/>
            </p:nvSpPr>
            <p:spPr>
              <a:xfrm>
                <a:off x="4500941" y="4541580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3" name="文本框 222"/>
              <p:cNvSpPr txBox="1"/>
              <p:nvPr/>
            </p:nvSpPr>
            <p:spPr>
              <a:xfrm>
                <a:off x="4595079" y="4558192"/>
                <a:ext cx="808235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Symbolic DB Generator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4" name="任意形状 223"/>
              <p:cNvSpPr/>
              <p:nvPr/>
            </p:nvSpPr>
            <p:spPr>
              <a:xfrm>
                <a:off x="5070174" y="4775806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333333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5" name="圆角矩形 224"/>
              <p:cNvSpPr/>
              <p:nvPr/>
            </p:nvSpPr>
            <p:spPr>
              <a:xfrm>
                <a:off x="4500941" y="4856367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6" name="文本框 225"/>
              <p:cNvSpPr txBox="1"/>
              <p:nvPr/>
            </p:nvSpPr>
            <p:spPr>
              <a:xfrm>
                <a:off x="4741497" y="4872980"/>
                <a:ext cx="574196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Query Encoder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7" name="任意形状 226"/>
              <p:cNvSpPr/>
              <p:nvPr/>
            </p:nvSpPr>
            <p:spPr>
              <a:xfrm>
                <a:off x="5070174" y="5086685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333333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8" name="圆角矩形 227"/>
              <p:cNvSpPr/>
              <p:nvPr/>
            </p:nvSpPr>
            <p:spPr>
              <a:xfrm>
                <a:off x="4500941" y="5171155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>
                <a:off x="4705727" y="5187767"/>
                <a:ext cx="631904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Equality Checker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30" name="任意形状 229"/>
              <p:cNvSpPr/>
              <p:nvPr/>
            </p:nvSpPr>
            <p:spPr>
              <a:xfrm>
                <a:off x="5070174" y="5381935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333333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31" name="圆角矩形 230"/>
              <p:cNvSpPr/>
              <p:nvPr/>
            </p:nvSpPr>
            <p:spPr>
              <a:xfrm>
                <a:off x="4500941" y="5485943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32" name="文本框 231"/>
              <p:cNvSpPr txBox="1"/>
              <p:nvPr/>
            </p:nvSpPr>
            <p:spPr>
              <a:xfrm>
                <a:off x="4703409" y="5502555"/>
                <a:ext cx="635110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Constraint Solver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33" name="任意形状 232"/>
              <p:cNvSpPr/>
              <p:nvPr/>
            </p:nvSpPr>
            <p:spPr>
              <a:xfrm>
                <a:off x="5774172" y="4343223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23954B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34" name="圆角矩形 233"/>
              <p:cNvSpPr/>
              <p:nvPr/>
            </p:nvSpPr>
            <p:spPr>
              <a:xfrm>
                <a:off x="5921676" y="4061924"/>
                <a:ext cx="616835" cy="575994"/>
              </a:xfrm>
              <a:prstGeom prst="roundRect">
                <a:avLst>
                  <a:gd name="adj" fmla="val 9312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38" name="文本框 237"/>
              <p:cNvSpPr txBox="1"/>
              <p:nvPr/>
            </p:nvSpPr>
            <p:spPr>
              <a:xfrm>
                <a:off x="5965919" y="4431661"/>
                <a:ext cx="572593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Determined</a:t>
                </a:r>
                <a:endParaRPr lang="zh-CN" altLang="en-US" sz="6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41" name="任意形状 240"/>
              <p:cNvSpPr/>
              <p:nvPr/>
            </p:nvSpPr>
            <p:spPr>
              <a:xfrm>
                <a:off x="5774172" y="5086658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DF8127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42" name="圆角矩形 241"/>
              <p:cNvSpPr/>
              <p:nvPr/>
            </p:nvSpPr>
            <p:spPr>
              <a:xfrm>
                <a:off x="5921676" y="4805359"/>
                <a:ext cx="616835" cy="629575"/>
              </a:xfrm>
              <a:prstGeom prst="roundRect">
                <a:avLst>
                  <a:gd name="adj" fmla="val 8695"/>
                </a:avLst>
              </a:prstGeom>
              <a:solidFill>
                <a:srgbClr val="FFFFFF"/>
              </a:solidFill>
              <a:ln w="7369" cap="flat">
                <a:solidFill>
                  <a:srgbClr val="E8AA6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46" name="文本框 245"/>
              <p:cNvSpPr txBox="1"/>
              <p:nvPr/>
            </p:nvSpPr>
            <p:spPr>
              <a:xfrm>
                <a:off x="5906608" y="5180594"/>
                <a:ext cx="631904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b="1" spc="0" baseline="0" dirty="0">
                    <a:solidFill>
                      <a:srgbClr val="DB7B24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Non-determined</a:t>
                </a:r>
                <a:endParaRPr lang="zh-CN" altLang="en-US" sz="500" b="1" dirty="0">
                  <a:solidFill>
                    <a:srgbClr val="DB7B2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283" name="图形 4"/>
            <p:cNvGrpSpPr/>
            <p:nvPr/>
          </p:nvGrpSpPr>
          <p:grpSpPr>
            <a:xfrm>
              <a:off x="9186883" y="3526115"/>
              <a:ext cx="2052954" cy="2573520"/>
              <a:chOff x="9186883" y="3526115"/>
              <a:chExt cx="2052954" cy="2573520"/>
            </a:xfrm>
          </p:grpSpPr>
          <p:sp>
            <p:nvSpPr>
              <p:cNvPr id="284" name="圆角矩形 283"/>
              <p:cNvSpPr/>
              <p:nvPr/>
            </p:nvSpPr>
            <p:spPr>
              <a:xfrm>
                <a:off x="9186883" y="3526115"/>
                <a:ext cx="1994427" cy="2573520"/>
              </a:xfrm>
              <a:prstGeom prst="roundRect">
                <a:avLst>
                  <a:gd name="adj" fmla="val 4210"/>
                </a:avLst>
              </a:prstGeom>
              <a:solidFill>
                <a:srgbClr val="F6F6F6"/>
              </a:solidFill>
              <a:ln w="937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85" name="圆角矩形 284"/>
              <p:cNvSpPr/>
              <p:nvPr/>
            </p:nvSpPr>
            <p:spPr>
              <a:xfrm>
                <a:off x="9254252" y="3606486"/>
                <a:ext cx="1877360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E7E7"/>
              </a:solidFill>
              <a:ln w="803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86" name="椭圆 285"/>
              <p:cNvSpPr/>
              <p:nvPr/>
            </p:nvSpPr>
            <p:spPr>
              <a:xfrm>
                <a:off x="9254251" y="3647290"/>
                <a:ext cx="187732" cy="187533"/>
              </a:xfrm>
              <a:prstGeom prst="ellipse">
                <a:avLst/>
              </a:prstGeom>
              <a:solidFill>
                <a:srgbClr val="6D6D6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87" name="文本框 286"/>
              <p:cNvSpPr txBox="1"/>
              <p:nvPr/>
            </p:nvSpPr>
            <p:spPr>
              <a:xfrm>
                <a:off x="9277747" y="3622667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4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8" name="文本框 287"/>
              <p:cNvSpPr txBox="1"/>
              <p:nvPr/>
            </p:nvSpPr>
            <p:spPr>
              <a:xfrm>
                <a:off x="9488041" y="3603303"/>
                <a:ext cx="175179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66666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Source-aware Final Outputs</a:t>
                </a:r>
                <a:endParaRPr lang="zh-CN" altLang="en-US" sz="1000" b="1" spc="0" baseline="0" dirty="0">
                  <a:solidFill>
                    <a:srgbClr val="66666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9" name="圆角矩形 288"/>
              <p:cNvSpPr/>
              <p:nvPr/>
            </p:nvSpPr>
            <p:spPr>
              <a:xfrm>
                <a:off x="9516691" y="4209271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93" name="文本框 292"/>
              <p:cNvSpPr txBox="1"/>
              <p:nvPr/>
            </p:nvSpPr>
            <p:spPr>
              <a:xfrm>
                <a:off x="10097376" y="4264544"/>
                <a:ext cx="50847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Formal</a:t>
                </a:r>
                <a:endParaRPr lang="zh-CN" altLang="en-US" sz="8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9996421" y="4436798"/>
                <a:ext cx="667170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From</a:t>
                </a:r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formal result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6" name="圆角矩形 295"/>
              <p:cNvSpPr/>
              <p:nvPr/>
            </p:nvSpPr>
            <p:spPr>
              <a:xfrm>
                <a:off x="9516691" y="4832149"/>
                <a:ext cx="1448223" cy="488925"/>
              </a:xfrm>
              <a:prstGeom prst="roundRect">
                <a:avLst>
                  <a:gd name="adj" fmla="val 10970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309" name="任意形状 308"/>
              <p:cNvSpPr/>
              <p:nvPr/>
            </p:nvSpPr>
            <p:spPr>
              <a:xfrm>
                <a:off x="9875852" y="5136247"/>
                <a:ext cx="54013" cy="40721"/>
              </a:xfrm>
              <a:custGeom>
                <a:avLst/>
                <a:gdLst>
                  <a:gd name="csX0" fmla="*/ 1283 w 54013"/>
                  <a:gd name="csY0" fmla="*/ 22564 h 40721"/>
                  <a:gd name="csX1" fmla="*/ 19628 w 54013"/>
                  <a:gd name="csY1" fmla="*/ 41398 h 40721"/>
                  <a:gd name="csX2" fmla="*/ 55297 w 54013"/>
                  <a:gd name="csY2" fmla="*/ 677 h 407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4013" h="40721">
                    <a:moveTo>
                      <a:pt x="1283" y="22564"/>
                    </a:moveTo>
                    <a:lnTo>
                      <a:pt x="19628" y="41398"/>
                    </a:lnTo>
                    <a:lnTo>
                      <a:pt x="55297" y="677"/>
                    </a:lnTo>
                  </a:path>
                </a:pathLst>
              </a:custGeom>
              <a:noFill/>
              <a:ln w="14256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310" name="文本框 309"/>
              <p:cNvSpPr txBox="1"/>
              <p:nvPr/>
            </p:nvSpPr>
            <p:spPr>
              <a:xfrm>
                <a:off x="9994411" y="4900817"/>
                <a:ext cx="82266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model-assisted</a:t>
                </a:r>
                <a:endParaRPr lang="zh-CN" altLang="en-US" sz="800" b="1" spc="0" baseline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1" name="文本框 310"/>
              <p:cNvSpPr txBox="1"/>
              <p:nvPr/>
            </p:nvSpPr>
            <p:spPr>
              <a:xfrm>
                <a:off x="10011259" y="5071488"/>
                <a:ext cx="611065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from model </a:t>
                </a:r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vote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3" name="圆角矩形 312"/>
              <p:cNvSpPr/>
              <p:nvPr/>
            </p:nvSpPr>
            <p:spPr>
              <a:xfrm>
                <a:off x="9516691" y="5468422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C9C9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317" name="文本框 316"/>
              <p:cNvSpPr txBox="1"/>
              <p:nvPr/>
            </p:nvSpPr>
            <p:spPr>
              <a:xfrm>
                <a:off x="10056813" y="5530392"/>
                <a:ext cx="60625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>
                    <a:solidFill>
                      <a:srgbClr val="66666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uncertain</a:t>
                </a:r>
                <a:endParaRPr lang="zh-CN" altLang="en-US" sz="800" b="1" spc="0" baseline="0">
                  <a:solidFill>
                    <a:srgbClr val="66666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8" name="文本框 317"/>
              <p:cNvSpPr txBox="1"/>
              <p:nvPr/>
            </p:nvSpPr>
            <p:spPr>
              <a:xfrm>
                <a:off x="9966880" y="5699080"/>
                <a:ext cx="878767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no stable completion result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319" name="任意形状 318"/>
            <p:cNvSpPr/>
            <p:nvPr/>
          </p:nvSpPr>
          <p:spPr>
            <a:xfrm>
              <a:off x="2695134" y="5542096"/>
              <a:ext cx="336824" cy="45719"/>
            </a:xfrm>
            <a:custGeom>
              <a:avLst/>
              <a:gdLst>
                <a:gd name="csX0" fmla="*/ 0 w 750930"/>
                <a:gd name="csY0" fmla="*/ 0 h 6697"/>
                <a:gd name="csX1" fmla="*/ 750931 w 750930"/>
                <a:gd name="csY1" fmla="*/ 0 h 6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50930" h="6697">
                  <a:moveTo>
                    <a:pt x="0" y="0"/>
                  </a:moveTo>
                  <a:lnTo>
                    <a:pt x="750931" y="0"/>
                  </a:lnTo>
                </a:path>
              </a:pathLst>
            </a:custGeom>
            <a:ln w="13399" cap="rnd">
              <a:solidFill>
                <a:srgbClr val="222222"/>
              </a:solidFill>
              <a:prstDash val="solid"/>
              <a:round/>
              <a:tailEnd type="stealth"/>
            </a:ln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320" name="文本框 319"/>
            <p:cNvSpPr txBox="1"/>
            <p:nvPr/>
          </p:nvSpPr>
          <p:spPr>
            <a:xfrm>
              <a:off x="2689106" y="5301521"/>
              <a:ext cx="39305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 dirty="0">
                  <a:solidFill>
                    <a:srgbClr val="00000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budget</a:t>
              </a:r>
              <a:endParaRPr lang="zh-CN" altLang="en-US" sz="600" i="1" spc="0" baseline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2758035" y="5390422"/>
              <a:ext cx="24397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>
                  <a:solidFill>
                    <a:srgbClr val="00000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Bₜ</a:t>
              </a:r>
              <a:endParaRPr lang="zh-CN" altLang="en-US" sz="600" i="1" spc="0" baseline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24" name="任意形状 323"/>
            <p:cNvSpPr/>
            <p:nvPr/>
          </p:nvSpPr>
          <p:spPr>
            <a:xfrm>
              <a:off x="8756369" y="5059869"/>
              <a:ext cx="522969" cy="6697"/>
            </a:xfrm>
            <a:custGeom>
              <a:avLst/>
              <a:gdLst>
                <a:gd name="csX0" fmla="*/ 0 w 522969"/>
                <a:gd name="csY0" fmla="*/ 0 h 6697"/>
                <a:gd name="csX1" fmla="*/ 522970 w 522969"/>
                <a:gd name="csY1" fmla="*/ 0 h 6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22969" h="6697">
                  <a:moveTo>
                    <a:pt x="0" y="0"/>
                  </a:moveTo>
                  <a:lnTo>
                    <a:pt x="522970" y="0"/>
                  </a:lnTo>
                </a:path>
              </a:pathLst>
            </a:custGeom>
            <a:ln w="13399" cap="rnd">
              <a:solidFill>
                <a:srgbClr val="222222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325" name="任意形状 324"/>
            <p:cNvSpPr/>
            <p:nvPr/>
          </p:nvSpPr>
          <p:spPr>
            <a:xfrm>
              <a:off x="8958116" y="5602284"/>
              <a:ext cx="522969" cy="80371"/>
            </a:xfrm>
            <a:custGeom>
              <a:avLst/>
              <a:gdLst>
                <a:gd name="csX0" fmla="*/ 0 w 522969"/>
                <a:gd name="csY0" fmla="*/ 0 h 80371"/>
                <a:gd name="csX1" fmla="*/ 254780 w 522969"/>
                <a:gd name="csY1" fmla="*/ 0 h 80371"/>
                <a:gd name="csX2" fmla="*/ 254780 w 522969"/>
                <a:gd name="csY2" fmla="*/ 80371 h 80371"/>
                <a:gd name="csX3" fmla="*/ 522970 w 522969"/>
                <a:gd name="csY3" fmla="*/ 80371 h 803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2969" h="80371">
                  <a:moveTo>
                    <a:pt x="0" y="0"/>
                  </a:moveTo>
                  <a:lnTo>
                    <a:pt x="254780" y="0"/>
                  </a:lnTo>
                  <a:lnTo>
                    <a:pt x="254780" y="80371"/>
                  </a:lnTo>
                  <a:lnTo>
                    <a:pt x="522970" y="80371"/>
                  </a:lnTo>
                </a:path>
              </a:pathLst>
            </a:custGeom>
            <a:noFill/>
            <a:ln w="13399" cap="rnd">
              <a:solidFill>
                <a:srgbClr val="666666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100"/>
            </a:p>
          </p:txBody>
        </p:sp>
      </p:grpSp>
      <p:sp>
        <p:nvSpPr>
          <p:cNvPr id="330" name="圆角矩形 329"/>
          <p:cNvSpPr/>
          <p:nvPr/>
        </p:nvSpPr>
        <p:spPr>
          <a:xfrm>
            <a:off x="2084107" y="2298247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accent6">
              <a:lumMod val="20000"/>
              <a:lumOff val="80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100"/>
          </a:p>
        </p:txBody>
      </p:sp>
      <p:sp>
        <p:nvSpPr>
          <p:cNvPr id="332" name="文本框 331"/>
          <p:cNvSpPr txBox="1"/>
          <p:nvPr/>
        </p:nvSpPr>
        <p:spPr>
          <a:xfrm>
            <a:off x="2236738" y="2254467"/>
            <a:ext cx="5020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 spc="0" baseline="0" dirty="0">
                <a:solidFill>
                  <a:srgbClr val="7A4D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equivalent</a:t>
            </a:r>
            <a:endParaRPr lang="zh-CN" altLang="en-US" sz="500" spc="0" baseline="0" dirty="0">
              <a:solidFill>
                <a:srgbClr val="7A4DC6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2084105" y="2440731"/>
            <a:ext cx="757635" cy="105864"/>
          </a:xfrm>
          <a:prstGeom prst="roundRect">
            <a:avLst>
              <a:gd name="adj" fmla="val 14598"/>
            </a:avLst>
          </a:prstGeom>
          <a:solidFill>
            <a:srgbClr val="FCE6CB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100"/>
          </a:p>
        </p:txBody>
      </p:sp>
      <p:sp>
        <p:nvSpPr>
          <p:cNvPr id="334" name="圆角矩形 333"/>
          <p:cNvSpPr/>
          <p:nvPr/>
        </p:nvSpPr>
        <p:spPr>
          <a:xfrm>
            <a:off x="2084105" y="2584753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bg1">
              <a:lumMod val="85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100"/>
          </a:p>
        </p:txBody>
      </p:sp>
      <p:sp>
        <p:nvSpPr>
          <p:cNvPr id="335" name="文本框 334"/>
          <p:cNvSpPr txBox="1"/>
          <p:nvPr/>
        </p:nvSpPr>
        <p:spPr>
          <a:xfrm>
            <a:off x="2167809" y="2412436"/>
            <a:ext cx="6719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 spc="0" baseline="0" dirty="0">
                <a:solidFill>
                  <a:srgbClr val="7A4D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counterexample</a:t>
            </a:r>
            <a:endParaRPr lang="zh-CN" altLang="en-US" sz="600" spc="0" baseline="0" dirty="0">
              <a:solidFill>
                <a:srgbClr val="7A4DC6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2167809" y="2553292"/>
            <a:ext cx="6687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 dirty="0">
                <a:solidFill>
                  <a:srgbClr val="7A4D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non-determined</a:t>
            </a:r>
            <a:endParaRPr lang="zh-CN" altLang="en-US" sz="500" spc="0" baseline="0" dirty="0">
              <a:solidFill>
                <a:srgbClr val="7A4DC6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pic>
        <p:nvPicPr>
          <p:cNvPr id="613" name="图形 6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4322" y="2018906"/>
            <a:ext cx="237200" cy="237200"/>
          </a:xfrm>
          <a:prstGeom prst="rect">
            <a:avLst/>
          </a:prstGeom>
        </p:spPr>
      </p:pic>
      <p:pic>
        <p:nvPicPr>
          <p:cNvPr id="615" name="图形 6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875" y="2026372"/>
            <a:ext cx="269555" cy="229734"/>
          </a:xfrm>
          <a:prstGeom prst="rect">
            <a:avLst/>
          </a:prstGeom>
        </p:spPr>
      </p:pic>
      <p:pic>
        <p:nvPicPr>
          <p:cNvPr id="617" name="图形 6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0873" y="2048606"/>
            <a:ext cx="217580" cy="243690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3433" y="1789308"/>
            <a:ext cx="208671" cy="189701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2622" y="1767953"/>
            <a:ext cx="208672" cy="20867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6496" y="2502927"/>
            <a:ext cx="217755" cy="21775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469090" y="4903985"/>
            <a:ext cx="86433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Extract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x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form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S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，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q</a:t>
            </a:r>
            <a:r>
              <a:rPr lang="en-US" altLang="zh-CN" sz="500" spc="0" baseline="-250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1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，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q</a:t>
            </a:r>
            <a:r>
              <a:rPr lang="en-US" altLang="zh-CN" sz="500" spc="0" baseline="-250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2</a:t>
            </a:r>
            <a:endParaRPr lang="zh-CN" altLang="en-US" sz="500" spc="0" baseline="-25000" dirty="0">
              <a:solidFill>
                <a:srgbClr val="222222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0577" y="5616700"/>
            <a:ext cx="142986" cy="142986"/>
          </a:xfrm>
          <a:prstGeom prst="rect">
            <a:avLst/>
          </a:prstGeom>
        </p:spPr>
      </p:pic>
      <p:grpSp>
        <p:nvGrpSpPr>
          <p:cNvPr id="579" name="图形 4"/>
          <p:cNvGrpSpPr/>
          <p:nvPr/>
        </p:nvGrpSpPr>
        <p:grpSpPr>
          <a:xfrm>
            <a:off x="6769646" y="3541248"/>
            <a:ext cx="2302530" cy="2598035"/>
            <a:chOff x="7381834" y="3709002"/>
            <a:chExt cx="2375874" cy="2694913"/>
          </a:xfrm>
        </p:grpSpPr>
        <p:sp>
          <p:nvSpPr>
            <p:cNvPr id="580" name="圆角矩形 579"/>
            <p:cNvSpPr/>
            <p:nvPr/>
          </p:nvSpPr>
          <p:spPr>
            <a:xfrm>
              <a:off x="7381834" y="3709002"/>
              <a:ext cx="2375874" cy="2694913"/>
            </a:xfrm>
            <a:prstGeom prst="roundRect">
              <a:avLst>
                <a:gd name="adj" fmla="val 3888"/>
              </a:avLst>
            </a:prstGeom>
            <a:solidFill>
              <a:srgbClr val="FFF8F1"/>
            </a:solidFill>
            <a:ln w="13194" cap="flat">
              <a:solidFill>
                <a:srgbClr val="EDC39A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81" name="圆角矩形 580"/>
            <p:cNvSpPr/>
            <p:nvPr/>
          </p:nvSpPr>
          <p:spPr>
            <a:xfrm>
              <a:off x="7487428" y="3768400"/>
              <a:ext cx="2166422" cy="250786"/>
            </a:xfrm>
            <a:prstGeom prst="roundRect">
              <a:avLst>
                <a:gd name="adj" fmla="val 26315"/>
              </a:avLst>
            </a:prstGeom>
            <a:solidFill>
              <a:srgbClr val="FCE6D0"/>
            </a:solidFill>
            <a:ln w="13194" cap="flat">
              <a:solidFill>
                <a:srgbClr val="EDC39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82" name="椭圆 581"/>
            <p:cNvSpPr/>
            <p:nvPr/>
          </p:nvSpPr>
          <p:spPr>
            <a:xfrm>
              <a:off x="7529713" y="3783965"/>
              <a:ext cx="224388" cy="224388"/>
            </a:xfrm>
            <a:prstGeom prst="ellipse">
              <a:avLst/>
            </a:prstGeom>
            <a:solidFill>
              <a:srgbClr val="D88437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83" name="文本框 582"/>
            <p:cNvSpPr txBox="1"/>
            <p:nvPr/>
          </p:nvSpPr>
          <p:spPr>
            <a:xfrm>
              <a:off x="7527573" y="3772416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3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4" name="文本框 583"/>
            <p:cNvSpPr txBox="1"/>
            <p:nvPr/>
          </p:nvSpPr>
          <p:spPr>
            <a:xfrm>
              <a:off x="7754029" y="3757979"/>
              <a:ext cx="189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spc="0" baseline="0" dirty="0">
                  <a:solidFill>
                    <a:srgbClr val="EE7519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Status-aware </a:t>
              </a:r>
              <a:r>
                <a:rPr lang="en-US" altLang="zh-CN" sz="1000" b="1" spc="0" baseline="0" dirty="0">
                  <a:solidFill>
                    <a:srgbClr val="EE7519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Completion</a:t>
              </a:r>
              <a:endParaRPr lang="zh-CN" altLang="en-US" sz="1000" b="1" spc="0" baseline="0" dirty="0">
                <a:solidFill>
                  <a:srgbClr val="EE751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5" name="圆角矩形 584"/>
            <p:cNvSpPr/>
            <p:nvPr/>
          </p:nvSpPr>
          <p:spPr>
            <a:xfrm>
              <a:off x="7527026" y="417097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586" name="图形 4"/>
            <p:cNvGrpSpPr/>
            <p:nvPr/>
          </p:nvGrpSpPr>
          <p:grpSpPr>
            <a:xfrm>
              <a:off x="7686738" y="4297692"/>
              <a:ext cx="147304" cy="147304"/>
              <a:chOff x="7686738" y="4297692"/>
              <a:chExt cx="147304" cy="147304"/>
            </a:xfrm>
            <a:solidFill>
              <a:srgbClr val="000000"/>
            </a:solidFill>
          </p:grpSpPr>
          <p:sp>
            <p:nvSpPr>
              <p:cNvPr id="624" name="椭圆 623"/>
              <p:cNvSpPr/>
              <p:nvPr/>
            </p:nvSpPr>
            <p:spPr>
              <a:xfrm>
                <a:off x="7686738" y="4297692"/>
                <a:ext cx="147304" cy="147304"/>
              </a:xfrm>
              <a:prstGeom prst="ellipse">
                <a:avLst/>
              </a:prstGeom>
              <a:noFill/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5" name="任意形状 624"/>
              <p:cNvSpPr/>
              <p:nvPr/>
            </p:nvSpPr>
            <p:spPr>
              <a:xfrm>
                <a:off x="7760390" y="4322243"/>
                <a:ext cx="6599" cy="49101"/>
              </a:xfrm>
              <a:custGeom>
                <a:avLst/>
                <a:gdLst>
                  <a:gd name="csX0" fmla="*/ 1087 w 6599"/>
                  <a:gd name="csY0" fmla="*/ 49738 h 49101"/>
                  <a:gd name="csX1" fmla="*/ 1087 w 6599"/>
                  <a:gd name="csY1" fmla="*/ 637 h 491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49101">
                    <a:moveTo>
                      <a:pt x="1087" y="49738"/>
                    </a:moveTo>
                    <a:lnTo>
                      <a:pt x="1087" y="637"/>
                    </a:lnTo>
                  </a:path>
                </a:pathLst>
              </a:custGeom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6" name="任意形状 625"/>
              <p:cNvSpPr/>
              <p:nvPr/>
            </p:nvSpPr>
            <p:spPr>
              <a:xfrm>
                <a:off x="7760390" y="4346794"/>
                <a:ext cx="36826" cy="24550"/>
              </a:xfrm>
              <a:custGeom>
                <a:avLst/>
                <a:gdLst>
                  <a:gd name="csX0" fmla="*/ 1086 w 36826"/>
                  <a:gd name="csY0" fmla="*/ 25186 h 24550"/>
                  <a:gd name="csX1" fmla="*/ 37912 w 36826"/>
                  <a:gd name="csY1" fmla="*/ 636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826" h="24550">
                    <a:moveTo>
                      <a:pt x="1086" y="25186"/>
                    </a:moveTo>
                    <a:lnTo>
                      <a:pt x="37912" y="636"/>
                    </a:lnTo>
                  </a:path>
                </a:pathLst>
              </a:custGeom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587" name="文本框 586"/>
            <p:cNvSpPr txBox="1"/>
            <p:nvPr/>
          </p:nvSpPr>
          <p:spPr>
            <a:xfrm>
              <a:off x="7994494" y="4219430"/>
              <a:ext cx="12009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Non-determined state z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8" name="文本框 587"/>
            <p:cNvSpPr txBox="1"/>
            <p:nvPr/>
          </p:nvSpPr>
          <p:spPr>
            <a:xfrm>
              <a:off x="7717684" y="4413745"/>
              <a:ext cx="179728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timeout / unsupported / runtime / conversion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9" name="任意形状 588"/>
            <p:cNvSpPr/>
            <p:nvPr/>
          </p:nvSpPr>
          <p:spPr>
            <a:xfrm>
              <a:off x="8569771" y="4712150"/>
              <a:ext cx="6599" cy="184790"/>
            </a:xfrm>
            <a:custGeom>
              <a:avLst/>
              <a:gdLst>
                <a:gd name="csX0" fmla="*/ 0 w 6599"/>
                <a:gd name="csY0" fmla="*/ 0 h 184790"/>
                <a:gd name="csX1" fmla="*/ 0 w 6599"/>
                <a:gd name="csY1" fmla="*/ 184790 h 184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84790">
                  <a:moveTo>
                    <a:pt x="0" y="0"/>
                  </a:moveTo>
                  <a:lnTo>
                    <a:pt x="0" y="184790"/>
                  </a:lnTo>
                </a:path>
              </a:pathLst>
            </a:custGeom>
            <a:ln w="16493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90" name="圆角矩形 589"/>
            <p:cNvSpPr/>
            <p:nvPr/>
          </p:nvSpPr>
          <p:spPr>
            <a:xfrm>
              <a:off x="7527026" y="492333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591" name="图形 4"/>
            <p:cNvGrpSpPr/>
            <p:nvPr/>
          </p:nvGrpSpPr>
          <p:grpSpPr>
            <a:xfrm>
              <a:off x="7688057" y="5057972"/>
              <a:ext cx="221748" cy="190069"/>
              <a:chOff x="7688057" y="5057972"/>
              <a:chExt cx="221748" cy="190069"/>
            </a:xfrm>
            <a:solidFill>
              <a:srgbClr val="000000"/>
            </a:solidFill>
          </p:grpSpPr>
          <p:sp>
            <p:nvSpPr>
              <p:cNvPr id="620" name="圆角矩形 619"/>
              <p:cNvSpPr/>
              <p:nvPr/>
            </p:nvSpPr>
            <p:spPr>
              <a:xfrm>
                <a:off x="7688057" y="5057972"/>
                <a:ext cx="221748" cy="137272"/>
              </a:xfrm>
              <a:prstGeom prst="roundRect">
                <a:avLst>
                  <a:gd name="adj" fmla="val 23077"/>
                </a:avLst>
              </a:prstGeom>
              <a:noFill/>
              <a:ln w="12666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1" name="任意形状 620"/>
              <p:cNvSpPr/>
              <p:nvPr/>
            </p:nvSpPr>
            <p:spPr>
              <a:xfrm>
                <a:off x="7740855" y="5195245"/>
                <a:ext cx="52797" cy="52797"/>
              </a:xfrm>
              <a:custGeom>
                <a:avLst/>
                <a:gdLst>
                  <a:gd name="csX0" fmla="*/ 11653 w 52797"/>
                  <a:gd name="csY0" fmla="*/ 752 h 52797"/>
                  <a:gd name="csX1" fmla="*/ 1093 w 52797"/>
                  <a:gd name="csY1" fmla="*/ 53549 h 52797"/>
                  <a:gd name="csX2" fmla="*/ 53891 w 52797"/>
                  <a:gd name="csY2" fmla="*/ 752 h 52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797" h="52797">
                    <a:moveTo>
                      <a:pt x="11653" y="752"/>
                    </a:moveTo>
                    <a:lnTo>
                      <a:pt x="1093" y="53549"/>
                    </a:lnTo>
                    <a:lnTo>
                      <a:pt x="53891" y="752"/>
                    </a:lnTo>
                  </a:path>
                </a:pathLst>
              </a:custGeom>
              <a:noFill/>
              <a:ln w="12666" cap="flat">
                <a:solidFill>
                  <a:srgbClr val="2D336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2" name="任意形状 621"/>
              <p:cNvSpPr/>
              <p:nvPr/>
            </p:nvSpPr>
            <p:spPr>
              <a:xfrm>
                <a:off x="7730295" y="5100210"/>
                <a:ext cx="137272" cy="6599"/>
              </a:xfrm>
              <a:custGeom>
                <a:avLst/>
                <a:gdLst>
                  <a:gd name="csX0" fmla="*/ 1092 w 137272"/>
                  <a:gd name="csY0" fmla="*/ 757 h 6599"/>
                  <a:gd name="csX1" fmla="*/ 138365 w 137272"/>
                  <a:gd name="csY1" fmla="*/ 757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7272" h="6599">
                    <a:moveTo>
                      <a:pt x="1092" y="757"/>
                    </a:moveTo>
                    <a:lnTo>
                      <a:pt x="138365" y="757"/>
                    </a:lnTo>
                  </a:path>
                </a:pathLst>
              </a:custGeom>
              <a:ln w="1055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3" name="任意形状 622"/>
              <p:cNvSpPr/>
              <p:nvPr/>
            </p:nvSpPr>
            <p:spPr>
              <a:xfrm>
                <a:off x="7730295" y="5137168"/>
                <a:ext cx="105594" cy="6599"/>
              </a:xfrm>
              <a:custGeom>
                <a:avLst/>
                <a:gdLst>
                  <a:gd name="csX0" fmla="*/ 1093 w 105594"/>
                  <a:gd name="csY0" fmla="*/ 755 h 6599"/>
                  <a:gd name="csX1" fmla="*/ 106687 w 105594"/>
                  <a:gd name="csY1" fmla="*/ 755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5594" h="6599">
                    <a:moveTo>
                      <a:pt x="1093" y="755"/>
                    </a:moveTo>
                    <a:lnTo>
                      <a:pt x="106687" y="755"/>
                    </a:lnTo>
                  </a:path>
                </a:pathLst>
              </a:custGeom>
              <a:ln w="1055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592" name="文本框 591"/>
            <p:cNvSpPr txBox="1"/>
            <p:nvPr/>
          </p:nvSpPr>
          <p:spPr>
            <a:xfrm>
              <a:off x="8033145" y="4996149"/>
              <a:ext cx="11208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Prompt Construction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3" name="文本框 592"/>
            <p:cNvSpPr txBox="1"/>
            <p:nvPr/>
          </p:nvSpPr>
          <p:spPr>
            <a:xfrm>
              <a:off x="7964257" y="5194023"/>
              <a:ext cx="120898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SQL pair + schema + state z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4" name="任意形状 593"/>
            <p:cNvSpPr/>
            <p:nvPr/>
          </p:nvSpPr>
          <p:spPr>
            <a:xfrm>
              <a:off x="8569771" y="5464510"/>
              <a:ext cx="6599" cy="171590"/>
            </a:xfrm>
            <a:custGeom>
              <a:avLst/>
              <a:gdLst>
                <a:gd name="csX0" fmla="*/ 0 w 6599"/>
                <a:gd name="csY0" fmla="*/ 0 h 171590"/>
                <a:gd name="csX1" fmla="*/ 0 w 6599"/>
                <a:gd name="csY1" fmla="*/ 171591 h 171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71590">
                  <a:moveTo>
                    <a:pt x="0" y="0"/>
                  </a:moveTo>
                  <a:lnTo>
                    <a:pt x="0" y="171591"/>
                  </a:lnTo>
                </a:path>
              </a:pathLst>
            </a:custGeom>
            <a:ln w="16493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95" name="圆角矩形 594"/>
            <p:cNvSpPr/>
            <p:nvPr/>
          </p:nvSpPr>
          <p:spPr>
            <a:xfrm>
              <a:off x="7527026" y="5662500"/>
              <a:ext cx="956949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597" name="文本框 596"/>
            <p:cNvSpPr txBox="1"/>
            <p:nvPr/>
          </p:nvSpPr>
          <p:spPr>
            <a:xfrm>
              <a:off x="7874788" y="5797686"/>
              <a:ext cx="666919" cy="3511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Local SFT</a:t>
              </a:r>
              <a:r>
                <a:rPr lang="zh-CN" altLang="en-US" sz="8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 </a:t>
              </a:r>
              <a:endParaRPr lang="en-US" altLang="zh-CN" sz="8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Model </a:t>
              </a:r>
              <a:r>
                <a:rPr lang="en-US" altLang="zh-CN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8" name="圆角矩形 597"/>
            <p:cNvSpPr/>
            <p:nvPr/>
          </p:nvSpPr>
          <p:spPr>
            <a:xfrm>
              <a:off x="8615969" y="5662500"/>
              <a:ext cx="996547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600" name="文本框 599"/>
            <p:cNvSpPr txBox="1"/>
            <p:nvPr/>
          </p:nvSpPr>
          <p:spPr>
            <a:xfrm>
              <a:off x="8866139" y="5789394"/>
              <a:ext cx="789320" cy="223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Majority</a:t>
              </a:r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 </a:t>
              </a:r>
              <a:r>
                <a:rPr lang="en-US" altLang="zh-CN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vote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pic>
        <p:nvPicPr>
          <p:cNvPr id="57" name="图形 5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9759" y="5269075"/>
            <a:ext cx="127341" cy="127341"/>
          </a:xfrm>
          <a:prstGeom prst="rect">
            <a:avLst/>
          </a:prstGeom>
        </p:spPr>
      </p:pic>
      <p:pic>
        <p:nvPicPr>
          <p:cNvPr id="85" name="图形 84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50401" y="4808988"/>
            <a:ext cx="183672" cy="183672"/>
          </a:xfrm>
          <a:prstGeom prst="rect">
            <a:avLst/>
          </a:prstGeom>
        </p:spPr>
      </p:pic>
      <p:pic>
        <p:nvPicPr>
          <p:cNvPr id="87" name="图形 86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1516" y="4071541"/>
            <a:ext cx="174261" cy="174261"/>
          </a:xfrm>
          <a:prstGeom prst="rect">
            <a:avLst/>
          </a:prstGeom>
        </p:spPr>
      </p:pic>
      <p:pic>
        <p:nvPicPr>
          <p:cNvPr id="88" name="图形 87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3650" y="4415958"/>
            <a:ext cx="174261" cy="174261"/>
          </a:xfrm>
          <a:prstGeom prst="rect">
            <a:avLst/>
          </a:prstGeom>
        </p:spPr>
      </p:pic>
      <p:cxnSp>
        <p:nvCxnSpPr>
          <p:cNvPr id="104" name="肘形连接符 103"/>
          <p:cNvCxnSpPr/>
          <p:nvPr/>
        </p:nvCxnSpPr>
        <p:spPr>
          <a:xfrm rot="16200000" flipH="1">
            <a:off x="7447824" y="3076363"/>
            <a:ext cx="756830" cy="141637"/>
          </a:xfrm>
          <a:prstGeom prst="bentConnector3">
            <a:avLst/>
          </a:prstGeom>
          <a:ln w="12700" cap="rnd">
            <a:solidFill>
              <a:srgbClr val="7A4D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文本框 577"/>
          <p:cNvSpPr txBox="1"/>
          <p:nvPr/>
        </p:nvSpPr>
        <p:spPr>
          <a:xfrm>
            <a:off x="9559190" y="2599489"/>
            <a:ext cx="6751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7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B</a:t>
            </a:r>
            <a:r>
              <a:rPr lang="zh-CN" altLang="en-US" sz="7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7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= </a:t>
            </a:r>
            <a:r>
              <a:rPr lang="zh-CN" altLang="en-US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π</a:t>
            </a:r>
            <a:r>
              <a:rPr lang="en-US" altLang="zh-CN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(x</a:t>
            </a:r>
            <a:r>
              <a:rPr lang="zh-CN" altLang="en-US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，</a:t>
            </a:r>
            <a:r>
              <a:rPr lang="en-US" altLang="zh-CN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P)</a:t>
            </a:r>
            <a:endParaRPr lang="zh-CN" altLang="en-US" sz="700" spc="0" baseline="0" dirty="0">
              <a:solidFill>
                <a:srgbClr val="222222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pic>
        <p:nvPicPr>
          <p:cNvPr id="632" name="图形 631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75187" y="5532490"/>
            <a:ext cx="285143" cy="285143"/>
          </a:xfrm>
          <a:prstGeom prst="rect">
            <a:avLst/>
          </a:prstGeom>
        </p:spPr>
      </p:pic>
      <p:pic>
        <p:nvPicPr>
          <p:cNvPr id="635" name="图形 634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91898" y="4917377"/>
            <a:ext cx="381317" cy="381317"/>
          </a:xfrm>
          <a:prstGeom prst="rect">
            <a:avLst/>
          </a:prstGeom>
        </p:spPr>
      </p:pic>
      <p:pic>
        <p:nvPicPr>
          <p:cNvPr id="637" name="图形 636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89300" y="5564955"/>
            <a:ext cx="284942" cy="284942"/>
          </a:xfrm>
          <a:prstGeom prst="rect">
            <a:avLst/>
          </a:prstGeom>
        </p:spPr>
      </p:pic>
      <p:pic>
        <p:nvPicPr>
          <p:cNvPr id="638" name="图形 63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8141" y="5417989"/>
            <a:ext cx="217755" cy="217755"/>
          </a:xfrm>
          <a:prstGeom prst="rect">
            <a:avLst/>
          </a:prstGeom>
        </p:spPr>
      </p:pic>
      <p:pic>
        <p:nvPicPr>
          <p:cNvPr id="639" name="图形 638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94117" y="4858707"/>
            <a:ext cx="284942" cy="284942"/>
          </a:xfrm>
          <a:prstGeom prst="rect">
            <a:avLst/>
          </a:prstGeom>
        </p:spPr>
      </p:pic>
      <p:cxnSp>
        <p:nvCxnSpPr>
          <p:cNvPr id="328" name="肘形连接符 327"/>
          <p:cNvCxnSpPr>
            <a:stCxn id="242" idx="2"/>
            <a:endCxn id="595" idx="1"/>
          </p:cNvCxnSpPr>
          <p:nvPr/>
        </p:nvCxnSpPr>
        <p:spPr>
          <a:xfrm rot="16200000" flipH="1">
            <a:off x="6429097" y="5235931"/>
            <a:ext cx="282257" cy="680262"/>
          </a:xfrm>
          <a:prstGeom prst="bentConnector2">
            <a:avLst/>
          </a:prstGeom>
          <a:ln w="12700" cap="flat" cmpd="sng" algn="ctr">
            <a:solidFill>
              <a:srgbClr val="A4CF78"/>
            </a:solidFill>
            <a:prstDash val="dash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7" name="图形 336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075655" y="4173054"/>
            <a:ext cx="284942" cy="284942"/>
          </a:xfrm>
          <a:prstGeom prst="rect">
            <a:avLst/>
          </a:prstGeom>
        </p:spPr>
      </p:pic>
      <p:pic>
        <p:nvPicPr>
          <p:cNvPr id="338" name="图形 337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608255" y="4325454"/>
            <a:ext cx="284942" cy="284942"/>
          </a:xfrm>
          <a:prstGeom prst="rect">
            <a:avLst/>
          </a:prstGeom>
        </p:spPr>
      </p:pic>
      <p:pic>
        <p:nvPicPr>
          <p:cNvPr id="340" name="图形 339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12437" y="1963444"/>
            <a:ext cx="359544" cy="328851"/>
          </a:xfrm>
          <a:prstGeom prst="rect">
            <a:avLst/>
          </a:prstGeom>
        </p:spPr>
      </p:pic>
      <p:pic>
        <p:nvPicPr>
          <p:cNvPr id="342" name="图形 341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585936" y="1978246"/>
            <a:ext cx="330008" cy="330008"/>
          </a:xfrm>
          <a:prstGeom prst="rect">
            <a:avLst/>
          </a:prstGeom>
        </p:spPr>
      </p:pic>
      <p:pic>
        <p:nvPicPr>
          <p:cNvPr id="343" name="图形 342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89398" y="5503051"/>
            <a:ext cx="330008" cy="330008"/>
          </a:xfrm>
          <a:prstGeom prst="rect">
            <a:avLst/>
          </a:prstGeom>
        </p:spPr>
      </p:pic>
      <p:pic>
        <p:nvPicPr>
          <p:cNvPr id="344" name="图形 34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6843" y="4755248"/>
            <a:ext cx="208671" cy="189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图形 4"/>
          <p:cNvGrpSpPr/>
          <p:nvPr/>
        </p:nvGrpSpPr>
        <p:grpSpPr>
          <a:xfrm>
            <a:off x="725504" y="900651"/>
            <a:ext cx="10740989" cy="2325873"/>
            <a:chOff x="725504" y="900651"/>
            <a:chExt cx="10740989" cy="2325873"/>
          </a:xfrm>
        </p:grpSpPr>
        <p:sp>
          <p:nvSpPr>
            <p:cNvPr id="11" name="圆角矩形 10"/>
            <p:cNvSpPr/>
            <p:nvPr/>
          </p:nvSpPr>
          <p:spPr>
            <a:xfrm>
              <a:off x="725504" y="900651"/>
              <a:ext cx="10740989" cy="2103049"/>
            </a:xfrm>
            <a:prstGeom prst="roundRect">
              <a:avLst>
                <a:gd name="adj" fmla="val 4463"/>
              </a:avLst>
            </a:prstGeom>
            <a:solidFill>
              <a:srgbClr val="FCFAFF"/>
            </a:solidFill>
            <a:ln w="10719" cap="flat">
              <a:solidFill>
                <a:srgbClr val="B89AE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100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446768" y="949159"/>
              <a:ext cx="39496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Stage I. Offline Construction, Profiling and SFT Training</a:t>
              </a:r>
              <a:endParaRPr lang="zh-CN" altLang="en-US" sz="1200" b="1" spc="0" baseline="0" dirty="0">
                <a:solidFill>
                  <a:srgbClr val="6F46C7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grpSp>
          <p:nvGrpSpPr>
            <p:cNvPr id="13" name="图形 4"/>
            <p:cNvGrpSpPr/>
            <p:nvPr/>
          </p:nvGrpSpPr>
          <p:grpSpPr>
            <a:xfrm>
              <a:off x="839485" y="1215439"/>
              <a:ext cx="7522715" cy="1634217"/>
              <a:chOff x="839485" y="1215439"/>
              <a:chExt cx="7522715" cy="1634217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839485" y="1215439"/>
                <a:ext cx="7522715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CFAFF"/>
              </a:solidFill>
              <a:ln w="937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930276" y="1269020"/>
                <a:ext cx="7297830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FE6FF"/>
              </a:solidFill>
              <a:ln w="803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986644" y="1289030"/>
                <a:ext cx="187732" cy="187533"/>
              </a:xfrm>
              <a:prstGeom prst="ellipse">
                <a:avLst/>
              </a:prstGeom>
              <a:solidFill>
                <a:srgbClr val="7A4DC6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50334" y="1258909"/>
                <a:ext cx="268022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3384652" y="1256633"/>
                <a:ext cx="26003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SFT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Data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Construction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and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Model</a:t>
                </a:r>
                <a:r>
                  <a:rPr lang="zh-CN" altLang="en-US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Training</a:t>
                </a:r>
                <a:endParaRPr lang="zh-CN" altLang="en-US" sz="10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933351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975499" y="1578801"/>
                <a:ext cx="7601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1.</a:t>
                </a:r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Pair 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Construction</a:t>
                </a:r>
                <a:endParaRPr lang="zh-CN" altLang="en-US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1020513" y="1938781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BF8FF"/>
              </a:solidFill>
              <a:ln w="6699" cap="flat">
                <a:solidFill>
                  <a:srgbClr val="D7C5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23" name="图形 4"/>
              <p:cNvGrpSpPr/>
              <p:nvPr/>
            </p:nvGrpSpPr>
            <p:grpSpPr>
              <a:xfrm>
                <a:off x="1079246" y="1991290"/>
                <a:ext cx="265897" cy="222851"/>
                <a:chOff x="1079246" y="1991290"/>
                <a:chExt cx="265897" cy="222851"/>
              </a:xfrm>
              <a:solidFill>
                <a:srgbClr val="000000"/>
              </a:solidFill>
            </p:grpSpPr>
            <p:sp>
              <p:nvSpPr>
                <p:cNvPr id="24" name="任意形状 23"/>
                <p:cNvSpPr/>
                <p:nvPr/>
              </p:nvSpPr>
              <p:spPr>
                <a:xfrm>
                  <a:off x="1079246" y="1991290"/>
                  <a:ext cx="148040" cy="186461"/>
                </a:xfrm>
                <a:custGeom>
                  <a:avLst/>
                  <a:gdLst>
                    <a:gd name="csX0" fmla="*/ 19373 w 148040"/>
                    <a:gd name="csY0" fmla="*/ 233 h 186461"/>
                    <a:gd name="csX1" fmla="*/ 109485 w 148040"/>
                    <a:gd name="csY1" fmla="*/ 233 h 186461"/>
                    <a:gd name="csX2" fmla="*/ 148104 w 148040"/>
                    <a:gd name="csY2" fmla="*/ 38811 h 186461"/>
                    <a:gd name="csX3" fmla="*/ 148104 w 148040"/>
                    <a:gd name="csY3" fmla="*/ 167405 h 186461"/>
                    <a:gd name="csX4" fmla="*/ 128795 w 148040"/>
                    <a:gd name="csY4" fmla="*/ 186694 h 186461"/>
                    <a:gd name="csX5" fmla="*/ 19373 w 148040"/>
                    <a:gd name="csY5" fmla="*/ 186694 h 186461"/>
                    <a:gd name="csX6" fmla="*/ 64 w 148040"/>
                    <a:gd name="csY6" fmla="*/ 167405 h 186461"/>
                    <a:gd name="csX7" fmla="*/ 64 w 148040"/>
                    <a:gd name="csY7" fmla="*/ 19522 h 186461"/>
                    <a:gd name="csX8" fmla="*/ 19373 w 148040"/>
                    <a:gd name="csY8" fmla="*/ 233 h 1864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48040" h="186461">
                      <a:moveTo>
                        <a:pt x="19373" y="233"/>
                      </a:moveTo>
                      <a:lnTo>
                        <a:pt x="109485" y="233"/>
                      </a:lnTo>
                      <a:lnTo>
                        <a:pt x="148104" y="38811"/>
                      </a:lnTo>
                      <a:lnTo>
                        <a:pt x="148104" y="167405"/>
                      </a:lnTo>
                      <a:cubicBezTo>
                        <a:pt x="148104" y="178058"/>
                        <a:pt x="139459" y="186694"/>
                        <a:pt x="128795" y="186694"/>
                      </a:cubicBezTo>
                      <a:lnTo>
                        <a:pt x="19373" y="186694"/>
                      </a:lnTo>
                      <a:cubicBezTo>
                        <a:pt x="8709" y="186694"/>
                        <a:pt x="64" y="178058"/>
                        <a:pt x="64" y="167405"/>
                      </a:cubicBezTo>
                      <a:lnTo>
                        <a:pt x="64" y="19522"/>
                      </a:lnTo>
                      <a:cubicBezTo>
                        <a:pt x="64" y="8869"/>
                        <a:pt x="8709" y="233"/>
                        <a:pt x="19373" y="233"/>
                      </a:cubicBezTo>
                      <a:close/>
                    </a:path>
                  </a:pathLst>
                </a:custGeom>
                <a:solidFill>
                  <a:srgbClr val="FBF7FF"/>
                </a:solidFill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5" name="任意形状 24"/>
                <p:cNvSpPr/>
                <p:nvPr/>
              </p:nvSpPr>
              <p:spPr>
                <a:xfrm>
                  <a:off x="1188668" y="1991290"/>
                  <a:ext cx="38619" cy="41793"/>
                </a:xfrm>
                <a:custGeom>
                  <a:avLst/>
                  <a:gdLst>
                    <a:gd name="csX0" fmla="*/ 55 w 38619"/>
                    <a:gd name="csY0" fmla="*/ 244 h 41793"/>
                    <a:gd name="csX1" fmla="*/ 55 w 38619"/>
                    <a:gd name="csY1" fmla="*/ 42038 h 41793"/>
                    <a:gd name="csX2" fmla="*/ 38674 w 38619"/>
                    <a:gd name="csY2" fmla="*/ 42038 h 417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619" h="41793">
                      <a:moveTo>
                        <a:pt x="55" y="244"/>
                      </a:moveTo>
                      <a:lnTo>
                        <a:pt x="55" y="42038"/>
                      </a:lnTo>
                      <a:lnTo>
                        <a:pt x="38674" y="42038"/>
                      </a:lnTo>
                    </a:path>
                  </a:pathLst>
                </a:custGeom>
                <a:noFill/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6" name="任意形状 25"/>
                <p:cNvSpPr/>
                <p:nvPr/>
              </p:nvSpPr>
              <p:spPr>
                <a:xfrm>
                  <a:off x="1121084" y="2062017"/>
                  <a:ext cx="70802" cy="57867"/>
                </a:xfrm>
                <a:custGeom>
                  <a:avLst/>
                  <a:gdLst>
                    <a:gd name="csX0" fmla="*/ 63 w 70802"/>
                    <a:gd name="csY0" fmla="*/ 232 h 57867"/>
                    <a:gd name="csX1" fmla="*/ 57992 w 70802"/>
                    <a:gd name="csY1" fmla="*/ 232 h 57867"/>
                    <a:gd name="csX2" fmla="*/ 63 w 70802"/>
                    <a:gd name="csY2" fmla="*/ 29165 h 57867"/>
                    <a:gd name="csX3" fmla="*/ 70865 w 70802"/>
                    <a:gd name="csY3" fmla="*/ 29165 h 57867"/>
                    <a:gd name="csX4" fmla="*/ 63 w 70802"/>
                    <a:gd name="csY4" fmla="*/ 58099 h 57867"/>
                    <a:gd name="csX5" fmla="*/ 45119 w 70802"/>
                    <a:gd name="csY5" fmla="*/ 58099 h 578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70802" h="57867">
                      <a:moveTo>
                        <a:pt x="63" y="232"/>
                      </a:moveTo>
                      <a:lnTo>
                        <a:pt x="57992" y="232"/>
                      </a:lnTo>
                      <a:moveTo>
                        <a:pt x="63" y="29165"/>
                      </a:moveTo>
                      <a:lnTo>
                        <a:pt x="70865" y="29165"/>
                      </a:lnTo>
                      <a:moveTo>
                        <a:pt x="63" y="58099"/>
                      </a:moveTo>
                      <a:lnTo>
                        <a:pt x="45119" y="58099"/>
                      </a:lnTo>
                    </a:path>
                  </a:pathLst>
                </a:custGeom>
                <a:noFill/>
                <a:ln w="6110" cap="rnd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7" name="圆角矩形 26"/>
                <p:cNvSpPr/>
                <p:nvPr/>
              </p:nvSpPr>
              <p:spPr>
                <a:xfrm>
                  <a:off x="1166140" y="2116670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1080327" y="2075642"/>
                  <a:ext cx="264816" cy="1384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b="1" spc="0" baseline="0" dirty="0">
                      <a:solidFill>
                        <a:schemeClr val="bg1"/>
                      </a:solidFill>
                      <a:latin typeface="Arial" panose="020B0704020202020204"/>
                      <a:cs typeface="Arial" panose="020B0704020202020204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b="1" spc="0" baseline="0" dirty="0">
                    <a:solidFill>
                      <a:schemeClr val="bg1"/>
                    </a:solidFill>
                    <a:latin typeface="Arial" panose="020B0704020202020204"/>
                    <a:cs typeface="Arial" panose="020B0704020202020204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1177828" y="1970985"/>
                <a:ext cx="67358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b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LeetCode SQL</a:t>
                </a:r>
                <a:endParaRPr lang="zh-CN" altLang="en-US" sz="600" b="1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21869" y="2051213"/>
                <a:ext cx="561372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human-written</a:t>
                </a:r>
                <a:endParaRPr lang="zh-CN" altLang="en-US" sz="5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1020513" y="2347335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7FBFF"/>
              </a:solidFill>
              <a:ln w="6699" cap="flat">
                <a:solidFill>
                  <a:srgbClr val="C8DA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32" name="图形 4"/>
              <p:cNvGrpSpPr/>
              <p:nvPr/>
            </p:nvGrpSpPr>
            <p:grpSpPr>
              <a:xfrm>
                <a:off x="1076028" y="2412704"/>
                <a:ext cx="288290" cy="216330"/>
                <a:chOff x="1076028" y="2412704"/>
                <a:chExt cx="288290" cy="216330"/>
              </a:xfrm>
              <a:solidFill>
                <a:srgbClr val="000000"/>
              </a:solidFill>
            </p:grpSpPr>
            <p:sp>
              <p:nvSpPr>
                <p:cNvPr id="33" name="椭圆 32"/>
                <p:cNvSpPr/>
                <p:nvPr/>
              </p:nvSpPr>
              <p:spPr>
                <a:xfrm>
                  <a:off x="1076028" y="2412704"/>
                  <a:ext cx="128730" cy="51437"/>
                </a:xfrm>
                <a:prstGeom prst="ellipse">
                  <a:avLst/>
                </a:prstGeom>
                <a:solidFill>
                  <a:srgbClr val="F6FAFF"/>
                </a:solidFill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4" name="任意形状 33"/>
                <p:cNvSpPr/>
                <p:nvPr/>
              </p:nvSpPr>
              <p:spPr>
                <a:xfrm>
                  <a:off x="1076028" y="2438423"/>
                  <a:ext cx="128730" cy="131808"/>
                </a:xfrm>
                <a:custGeom>
                  <a:avLst/>
                  <a:gdLst>
                    <a:gd name="csX0" fmla="*/ 66 w 128730"/>
                    <a:gd name="csY0" fmla="*/ 292 h 131808"/>
                    <a:gd name="csX1" fmla="*/ 66 w 128730"/>
                    <a:gd name="csY1" fmla="*/ 103167 h 131808"/>
                    <a:gd name="csX2" fmla="*/ 64431 w 128730"/>
                    <a:gd name="csY2" fmla="*/ 132101 h 131808"/>
                    <a:gd name="csX3" fmla="*/ 128797 w 128730"/>
                    <a:gd name="csY3" fmla="*/ 103167 h 131808"/>
                    <a:gd name="csX4" fmla="*/ 128797 w 128730"/>
                    <a:gd name="csY4" fmla="*/ 292 h 1318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8730" h="131808">
                      <a:moveTo>
                        <a:pt x="66" y="292"/>
                      </a:moveTo>
                      <a:lnTo>
                        <a:pt x="66" y="103167"/>
                      </a:lnTo>
                      <a:cubicBezTo>
                        <a:pt x="66" y="119242"/>
                        <a:pt x="29030" y="132101"/>
                        <a:pt x="64431" y="132101"/>
                      </a:cubicBezTo>
                      <a:cubicBezTo>
                        <a:pt x="99832" y="132101"/>
                        <a:pt x="128797" y="119242"/>
                        <a:pt x="128797" y="103167"/>
                      </a:cubicBezTo>
                      <a:lnTo>
                        <a:pt x="128797" y="292"/>
                      </a:lnTo>
                    </a:path>
                  </a:pathLst>
                </a:cu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1076028" y="2464142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1076028" y="2515579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>
                  <a:off x="1182231" y="2531654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099502" y="2490535"/>
                  <a:ext cx="264816" cy="1384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b="1" spc="0" baseline="0" dirty="0">
                      <a:solidFill>
                        <a:srgbClr val="FFFFFF"/>
                      </a:solidFill>
                      <a:latin typeface="Arial" panose="020B0704020202020204"/>
                      <a:cs typeface="Arial" panose="020B0704020202020204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b="1" spc="0" baseline="0" dirty="0">
                    <a:solidFill>
                      <a:srgbClr val="FFFFFF"/>
                    </a:solidFill>
                    <a:latin typeface="Arial" panose="020B0704020202020204"/>
                    <a:cs typeface="Arial" panose="020B0704020202020204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39" name="文本框 38"/>
              <p:cNvSpPr txBox="1"/>
              <p:nvPr/>
            </p:nvSpPr>
            <p:spPr>
              <a:xfrm>
                <a:off x="1294484" y="2386237"/>
                <a:ext cx="46358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b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SynSQL</a:t>
                </a:r>
                <a:endParaRPr lang="zh-CN" altLang="en-US" sz="700" b="1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204532" y="2484505"/>
                <a:ext cx="633507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candidate queries</a:t>
                </a:r>
                <a:endParaRPr lang="zh-CN" altLang="en-US" sz="5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1" name="任意形状 40"/>
              <p:cNvSpPr/>
              <p:nvPr/>
            </p:nvSpPr>
            <p:spPr>
              <a:xfrm>
                <a:off x="1865310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1992700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960451" y="1578801"/>
                <a:ext cx="102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2. Formal Labeling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by VeriEQL</a:t>
                </a:r>
                <a:endParaRPr lang="zh-CN" altLang="en-US" sz="800" b="1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50" name="任意形状 49"/>
              <p:cNvSpPr/>
              <p:nvPr/>
            </p:nvSpPr>
            <p:spPr>
              <a:xfrm>
                <a:off x="2924658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3052048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3092642" y="1578801"/>
                <a:ext cx="8739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3. Labeled SQL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Pairs</a:t>
                </a:r>
                <a:endParaRPr lang="zh-CN" altLang="en-US" sz="800" b="1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3249118" y="2276761"/>
                <a:ext cx="6719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</a:t>
                </a:r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upervised</a:t>
                </a:r>
                <a:endParaRPr lang="en-US" altLang="zh-CN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training pairs</a:t>
                </a:r>
                <a:endParaRPr lang="zh-CN" altLang="en-US" sz="70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2" name="任意形状 61"/>
              <p:cNvSpPr/>
              <p:nvPr/>
            </p:nvSpPr>
            <p:spPr>
              <a:xfrm>
                <a:off x="3984007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4111397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4092124" y="1578801"/>
                <a:ext cx="105349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4. Trace </a:t>
                </a:r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Distillation</a:t>
                </a:r>
                <a:endParaRPr lang="zh-CN" altLang="en-US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grpSp>
            <p:nvGrpSpPr>
              <p:cNvPr id="66" name="图形 4"/>
              <p:cNvGrpSpPr/>
              <p:nvPr/>
            </p:nvGrpSpPr>
            <p:grpSpPr>
              <a:xfrm>
                <a:off x="4372881" y="1965571"/>
                <a:ext cx="418804" cy="418359"/>
                <a:chOff x="4372881" y="1965571"/>
                <a:chExt cx="418804" cy="418359"/>
              </a:xfrm>
              <a:solidFill>
                <a:srgbClr val="000000"/>
              </a:solidFill>
            </p:grpSpPr>
            <p:sp>
              <p:nvSpPr>
                <p:cNvPr id="67" name="任意形状 66"/>
                <p:cNvSpPr/>
                <p:nvPr/>
              </p:nvSpPr>
              <p:spPr>
                <a:xfrm>
                  <a:off x="4372881" y="1965571"/>
                  <a:ext cx="418804" cy="418359"/>
                </a:xfrm>
                <a:custGeom>
                  <a:avLst/>
                  <a:gdLst>
                    <a:gd name="csX0" fmla="*/ 98 w 418804"/>
                    <a:gd name="csY0" fmla="*/ 208951 h 418359"/>
                    <a:gd name="csX1" fmla="*/ 209501 w 418804"/>
                    <a:gd name="csY1" fmla="*/ 418131 h 418359"/>
                    <a:gd name="csX2" fmla="*/ 418903 w 418804"/>
                    <a:gd name="csY2" fmla="*/ 208951 h 418359"/>
                    <a:gd name="csX3" fmla="*/ 209501 w 418804"/>
                    <a:gd name="csY3" fmla="*/ -229 h 418359"/>
                    <a:gd name="csX4" fmla="*/ 98 w 418804"/>
                    <a:gd name="csY4" fmla="*/ 208951 h 4183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18804" h="418359">
                      <a:moveTo>
                        <a:pt x="98" y="208951"/>
                      </a:moveTo>
                      <a:cubicBezTo>
                        <a:pt x="98" y="324478"/>
                        <a:pt x="93851" y="418131"/>
                        <a:pt x="209501" y="418131"/>
                      </a:cubicBezTo>
                      <a:cubicBezTo>
                        <a:pt x="325150" y="418131"/>
                        <a:pt x="418903" y="324478"/>
                        <a:pt x="418903" y="208951"/>
                      </a:cubicBezTo>
                      <a:cubicBezTo>
                        <a:pt x="418903" y="93424"/>
                        <a:pt x="325150" y="-229"/>
                        <a:pt x="209501" y="-229"/>
                      </a:cubicBezTo>
                      <a:cubicBezTo>
                        <a:pt x="93851" y="-229"/>
                        <a:pt x="98" y="93424"/>
                        <a:pt x="98" y="2089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68" name="任意形状 67"/>
                <p:cNvSpPr/>
                <p:nvPr/>
              </p:nvSpPr>
              <p:spPr>
                <a:xfrm>
                  <a:off x="4438691" y="2100346"/>
                  <a:ext cx="178081" cy="182624"/>
                </a:xfrm>
                <a:custGeom>
                  <a:avLst/>
                  <a:gdLst>
                    <a:gd name="csX0" fmla="*/ 61720 w 178081"/>
                    <a:gd name="csY0" fmla="*/ -268 h 182624"/>
                    <a:gd name="csX1" fmla="*/ 26540 w 178081"/>
                    <a:gd name="csY1" fmla="*/ -268 h 182624"/>
                    <a:gd name="csX2" fmla="*/ 20677 w 178081"/>
                    <a:gd name="csY2" fmla="*/ 3111 h 182624"/>
                    <a:gd name="csX3" fmla="*/ 1129 w 178081"/>
                    <a:gd name="csY3" fmla="*/ 36925 h 182624"/>
                    <a:gd name="csX4" fmla="*/ 1129 w 178081"/>
                    <a:gd name="csY4" fmla="*/ 43692 h 182624"/>
                    <a:gd name="csX5" fmla="*/ 81351 w 178081"/>
                    <a:gd name="csY5" fmla="*/ 182357 h 182624"/>
                    <a:gd name="csX6" fmla="*/ 120353 w 178081"/>
                    <a:gd name="csY6" fmla="*/ 182357 h 182624"/>
                    <a:gd name="csX7" fmla="*/ 178305 w 178081"/>
                    <a:gd name="csY7" fmla="*/ 133722 h 182624"/>
                    <a:gd name="csX8" fmla="*/ 61720 w 178081"/>
                    <a:gd name="csY8" fmla="*/ -268 h 1826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8081" h="182624">
                      <a:moveTo>
                        <a:pt x="61720" y="-268"/>
                      </a:moveTo>
                      <a:lnTo>
                        <a:pt x="26540" y="-268"/>
                      </a:lnTo>
                      <a:cubicBezTo>
                        <a:pt x="24122" y="-268"/>
                        <a:pt x="21888" y="1020"/>
                        <a:pt x="20677" y="3111"/>
                      </a:cubicBezTo>
                      <a:lnTo>
                        <a:pt x="1129" y="36925"/>
                      </a:lnTo>
                      <a:cubicBezTo>
                        <a:pt x="-79" y="39019"/>
                        <a:pt x="-79" y="41597"/>
                        <a:pt x="1129" y="43692"/>
                      </a:cubicBezTo>
                      <a:lnTo>
                        <a:pt x="81351" y="182357"/>
                      </a:lnTo>
                      <a:lnTo>
                        <a:pt x="120353" y="182357"/>
                      </a:lnTo>
                      <a:lnTo>
                        <a:pt x="178305" y="133722"/>
                      </a:lnTo>
                      <a:lnTo>
                        <a:pt x="61720" y="-268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69" name="任意形状 68"/>
                <p:cNvSpPr/>
                <p:nvPr/>
              </p:nvSpPr>
              <p:spPr>
                <a:xfrm>
                  <a:off x="4458236" y="2066522"/>
                  <a:ext cx="248115" cy="216459"/>
                </a:xfrm>
                <a:custGeom>
                  <a:avLst/>
                  <a:gdLst>
                    <a:gd name="csX0" fmla="*/ 18608 w 248115"/>
                    <a:gd name="csY0" fmla="*/ 141825 h 216459"/>
                    <a:gd name="csX1" fmla="*/ 1007 w 248115"/>
                    <a:gd name="csY1" fmla="*/ 172261 h 216459"/>
                    <a:gd name="csX2" fmla="*/ 1007 w 248115"/>
                    <a:gd name="csY2" fmla="*/ 179028 h 216459"/>
                    <a:gd name="csX3" fmla="*/ 20555 w 248115"/>
                    <a:gd name="csY3" fmla="*/ 212842 h 216459"/>
                    <a:gd name="csX4" fmla="*/ 26418 w 248115"/>
                    <a:gd name="csY4" fmla="*/ 216230 h 216459"/>
                    <a:gd name="csX5" fmla="*/ 100683 w 248115"/>
                    <a:gd name="csY5" fmla="*/ 216230 h 216459"/>
                    <a:gd name="csX6" fmla="*/ 18597 w 248115"/>
                    <a:gd name="csY6" fmla="*/ 141825 h 216459"/>
                    <a:gd name="csX7" fmla="*/ 229717 w 248115"/>
                    <a:gd name="csY7" fmla="*/ 74166 h 216459"/>
                    <a:gd name="csX8" fmla="*/ 247306 w 248115"/>
                    <a:gd name="csY8" fmla="*/ 43741 h 216459"/>
                    <a:gd name="csX9" fmla="*/ 247306 w 248115"/>
                    <a:gd name="csY9" fmla="*/ 36974 h 216459"/>
                    <a:gd name="csX10" fmla="*/ 227759 w 248115"/>
                    <a:gd name="csY10" fmla="*/ 3160 h 216459"/>
                    <a:gd name="csX11" fmla="*/ 221895 w 248115"/>
                    <a:gd name="csY11" fmla="*/ -229 h 216459"/>
                    <a:gd name="csX12" fmla="*/ 61567 w 248115"/>
                    <a:gd name="csY12" fmla="*/ -156 h 216459"/>
                    <a:gd name="csX13" fmla="*/ 42061 w 248115"/>
                    <a:gd name="csY13" fmla="*/ 33585 h 216459"/>
                    <a:gd name="csX14" fmla="*/ 55253 w 248115"/>
                    <a:gd name="csY14" fmla="*/ 108032 h 216459"/>
                    <a:gd name="csX15" fmla="*/ 229717 w 248115"/>
                    <a:gd name="csY15" fmla="*/ 74166 h 2164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48115" h="216459">
                      <a:moveTo>
                        <a:pt x="18608" y="141825"/>
                      </a:moveTo>
                      <a:lnTo>
                        <a:pt x="1007" y="172261"/>
                      </a:lnTo>
                      <a:cubicBezTo>
                        <a:pt x="-205" y="174354"/>
                        <a:pt x="-205" y="176935"/>
                        <a:pt x="1007" y="179028"/>
                      </a:cubicBezTo>
                      <a:lnTo>
                        <a:pt x="20555" y="212842"/>
                      </a:lnTo>
                      <a:cubicBezTo>
                        <a:pt x="21755" y="214944"/>
                        <a:pt x="23995" y="216239"/>
                        <a:pt x="26418" y="216230"/>
                      </a:cubicBezTo>
                      <a:lnTo>
                        <a:pt x="100683" y="216230"/>
                      </a:lnTo>
                      <a:lnTo>
                        <a:pt x="18597" y="141825"/>
                      </a:lnTo>
                      <a:close/>
                      <a:moveTo>
                        <a:pt x="229717" y="74166"/>
                      </a:moveTo>
                      <a:lnTo>
                        <a:pt x="247306" y="43741"/>
                      </a:lnTo>
                      <a:cubicBezTo>
                        <a:pt x="248517" y="41647"/>
                        <a:pt x="248517" y="39068"/>
                        <a:pt x="247306" y="36974"/>
                      </a:cubicBezTo>
                      <a:lnTo>
                        <a:pt x="227759" y="3160"/>
                      </a:lnTo>
                      <a:cubicBezTo>
                        <a:pt x="226549" y="1067"/>
                        <a:pt x="224315" y="-224"/>
                        <a:pt x="221895" y="-229"/>
                      </a:cubicBezTo>
                      <a:lnTo>
                        <a:pt x="61567" y="-156"/>
                      </a:lnTo>
                      <a:lnTo>
                        <a:pt x="42061" y="33585"/>
                      </a:lnTo>
                      <a:lnTo>
                        <a:pt x="55253" y="108032"/>
                      </a:lnTo>
                      <a:lnTo>
                        <a:pt x="229717" y="74166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0" name="任意形状 69"/>
                <p:cNvSpPr/>
                <p:nvPr/>
              </p:nvSpPr>
              <p:spPr>
                <a:xfrm>
                  <a:off x="4500188" y="2032708"/>
                  <a:ext cx="207140" cy="284097"/>
                </a:xfrm>
                <a:custGeom>
                  <a:avLst/>
                  <a:gdLst>
                    <a:gd name="csX0" fmla="*/ 105598 w 207140"/>
                    <a:gd name="csY0" fmla="*/ 33596 h 284097"/>
                    <a:gd name="csX1" fmla="*/ 88008 w 207140"/>
                    <a:gd name="csY1" fmla="*/ 3160 h 284097"/>
                    <a:gd name="csX2" fmla="*/ 82145 w 207140"/>
                    <a:gd name="csY2" fmla="*/ -229 h 284097"/>
                    <a:gd name="csX3" fmla="*/ 43050 w 207140"/>
                    <a:gd name="csY3" fmla="*/ -229 h 284097"/>
                    <a:gd name="csX4" fmla="*/ 37186 w 207140"/>
                    <a:gd name="csY4" fmla="*/ 3150 h 284097"/>
                    <a:gd name="csX5" fmla="*/ 19408 w 207140"/>
                    <a:gd name="csY5" fmla="*/ 33909 h 284097"/>
                    <a:gd name="csX6" fmla="*/ 49 w 207140"/>
                    <a:gd name="csY6" fmla="*/ 67399 h 284097"/>
                    <a:gd name="csX7" fmla="*/ 105598 w 207140"/>
                    <a:gd name="csY7" fmla="*/ 33596 h 284097"/>
                    <a:gd name="csX8" fmla="*/ 58692 w 207140"/>
                    <a:gd name="csY8" fmla="*/ 250055 h 284097"/>
                    <a:gd name="csX9" fmla="*/ 76271 w 207140"/>
                    <a:gd name="csY9" fmla="*/ 280491 h 284097"/>
                    <a:gd name="csX10" fmla="*/ 82135 w 207140"/>
                    <a:gd name="csY10" fmla="*/ 283869 h 284097"/>
                    <a:gd name="csX11" fmla="*/ 121230 w 207140"/>
                    <a:gd name="csY11" fmla="*/ 283869 h 284097"/>
                    <a:gd name="csX12" fmla="*/ 127093 w 207140"/>
                    <a:gd name="csY12" fmla="*/ 280491 h 284097"/>
                    <a:gd name="csX13" fmla="*/ 207190 w 207140"/>
                    <a:gd name="csY13" fmla="*/ 141752 h 284097"/>
                    <a:gd name="csX14" fmla="*/ 187694 w 207140"/>
                    <a:gd name="csY14" fmla="*/ 108001 h 284097"/>
                    <a:gd name="csX15" fmla="*/ 116560 w 207140"/>
                    <a:gd name="csY15" fmla="*/ 82199 h 284097"/>
                    <a:gd name="csX16" fmla="*/ 58682 w 207140"/>
                    <a:gd name="csY16" fmla="*/ 250055 h 2840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07140" h="284097">
                      <a:moveTo>
                        <a:pt x="105598" y="33596"/>
                      </a:moveTo>
                      <a:lnTo>
                        <a:pt x="88008" y="3160"/>
                      </a:lnTo>
                      <a:cubicBezTo>
                        <a:pt x="86802" y="1064"/>
                        <a:pt x="84566" y="-229"/>
                        <a:pt x="82145" y="-229"/>
                      </a:cubicBezTo>
                      <a:lnTo>
                        <a:pt x="43050" y="-229"/>
                      </a:lnTo>
                      <a:cubicBezTo>
                        <a:pt x="40629" y="-239"/>
                        <a:pt x="38389" y="1051"/>
                        <a:pt x="37186" y="3150"/>
                      </a:cubicBezTo>
                      <a:lnTo>
                        <a:pt x="19408" y="33909"/>
                      </a:lnTo>
                      <a:lnTo>
                        <a:pt x="49" y="67399"/>
                      </a:lnTo>
                      <a:lnTo>
                        <a:pt x="105598" y="33596"/>
                      </a:lnTo>
                      <a:close/>
                      <a:moveTo>
                        <a:pt x="58692" y="250055"/>
                      </a:moveTo>
                      <a:lnTo>
                        <a:pt x="76271" y="280491"/>
                      </a:lnTo>
                      <a:cubicBezTo>
                        <a:pt x="77482" y="282581"/>
                        <a:pt x="79717" y="283869"/>
                        <a:pt x="82135" y="283869"/>
                      </a:cubicBezTo>
                      <a:lnTo>
                        <a:pt x="121230" y="283869"/>
                      </a:lnTo>
                      <a:cubicBezTo>
                        <a:pt x="123647" y="283867"/>
                        <a:pt x="125881" y="282580"/>
                        <a:pt x="127093" y="280491"/>
                      </a:cubicBezTo>
                      <a:lnTo>
                        <a:pt x="207190" y="141752"/>
                      </a:lnTo>
                      <a:lnTo>
                        <a:pt x="187694" y="108001"/>
                      </a:lnTo>
                      <a:lnTo>
                        <a:pt x="116560" y="82199"/>
                      </a:lnTo>
                      <a:lnTo>
                        <a:pt x="58682" y="250055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1" name="任意形状 70"/>
                <p:cNvSpPr/>
                <p:nvPr/>
              </p:nvSpPr>
              <p:spPr>
                <a:xfrm>
                  <a:off x="4664370" y="2140937"/>
                  <a:ext cx="61516" cy="108219"/>
                </a:xfrm>
                <a:custGeom>
                  <a:avLst/>
                  <a:gdLst>
                    <a:gd name="csX0" fmla="*/ -161 w 61516"/>
                    <a:gd name="csY0" fmla="*/ 107944 h 108219"/>
                    <a:gd name="csX1" fmla="*/ 35029 w 61516"/>
                    <a:gd name="csY1" fmla="*/ 107944 h 108219"/>
                    <a:gd name="csX2" fmla="*/ 40892 w 61516"/>
                    <a:gd name="csY2" fmla="*/ 104555 h 108219"/>
                    <a:gd name="csX3" fmla="*/ 60440 w 61516"/>
                    <a:gd name="csY3" fmla="*/ 70741 h 108219"/>
                    <a:gd name="csX4" fmla="*/ 60440 w 61516"/>
                    <a:gd name="csY4" fmla="*/ 63974 h 108219"/>
                    <a:gd name="csX5" fmla="*/ 42662 w 61516"/>
                    <a:gd name="csY5" fmla="*/ 33214 h 108219"/>
                    <a:gd name="csX6" fmla="*/ 23313 w 61516"/>
                    <a:gd name="csY6" fmla="*/ -275 h 108219"/>
                    <a:gd name="csX7" fmla="*/ -150 w 61516"/>
                    <a:gd name="csY7" fmla="*/ 107944 h 1082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61516" h="108219">
                      <a:moveTo>
                        <a:pt x="-161" y="107944"/>
                      </a:moveTo>
                      <a:lnTo>
                        <a:pt x="35029" y="107944"/>
                      </a:lnTo>
                      <a:cubicBezTo>
                        <a:pt x="37448" y="107944"/>
                        <a:pt x="39688" y="106647"/>
                        <a:pt x="40892" y="104555"/>
                      </a:cubicBezTo>
                      <a:lnTo>
                        <a:pt x="60440" y="70741"/>
                      </a:lnTo>
                      <a:cubicBezTo>
                        <a:pt x="61661" y="68650"/>
                        <a:pt x="61661" y="66065"/>
                        <a:pt x="60440" y="63974"/>
                      </a:cubicBezTo>
                      <a:lnTo>
                        <a:pt x="42662" y="33214"/>
                      </a:lnTo>
                      <a:lnTo>
                        <a:pt x="23313" y="-275"/>
                      </a:lnTo>
                      <a:lnTo>
                        <a:pt x="-150" y="107944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2" name="任意形状 71"/>
                <p:cNvSpPr/>
                <p:nvPr/>
              </p:nvSpPr>
              <p:spPr>
                <a:xfrm>
                  <a:off x="4464914" y="2107573"/>
                  <a:ext cx="117652" cy="168818"/>
                </a:xfrm>
                <a:custGeom>
                  <a:avLst/>
                  <a:gdLst>
                    <a:gd name="csX0" fmla="*/ 98516 w 117652"/>
                    <a:gd name="csY0" fmla="*/ 168236 h 168818"/>
                    <a:gd name="csX1" fmla="*/ 20513 w 117652"/>
                    <a:gd name="csY1" fmla="*/ 168550 h 168818"/>
                    <a:gd name="csX2" fmla="*/ 39841 w 117652"/>
                    <a:gd name="csY2" fmla="*/ 134768 h 168818"/>
                    <a:gd name="csX3" fmla="*/ 78895 w 117652"/>
                    <a:gd name="csY3" fmla="*/ 134600 h 168818"/>
                    <a:gd name="csX4" fmla="*/ 233 w 117652"/>
                    <a:gd name="csY4" fmla="*/ -195 h 168818"/>
                    <a:gd name="csX5" fmla="*/ 39307 w 117652"/>
                    <a:gd name="csY5" fmla="*/ -268 h 168818"/>
                    <a:gd name="csX6" fmla="*/ 117885 w 117652"/>
                    <a:gd name="csY6" fmla="*/ 134370 h 168818"/>
                    <a:gd name="csX7" fmla="*/ 98516 w 117652"/>
                    <a:gd name="csY7" fmla="*/ 168236 h 1688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7652" h="168818">
                      <a:moveTo>
                        <a:pt x="98516" y="168236"/>
                      </a:moveTo>
                      <a:lnTo>
                        <a:pt x="20513" y="168550"/>
                      </a:lnTo>
                      <a:lnTo>
                        <a:pt x="39841" y="134768"/>
                      </a:lnTo>
                      <a:lnTo>
                        <a:pt x="78895" y="134600"/>
                      </a:lnTo>
                      <a:lnTo>
                        <a:pt x="233" y="-195"/>
                      </a:lnTo>
                      <a:lnTo>
                        <a:pt x="39307" y="-268"/>
                      </a:lnTo>
                      <a:lnTo>
                        <a:pt x="117885" y="134370"/>
                      </a:lnTo>
                      <a:lnTo>
                        <a:pt x="98516" y="1682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3" name="任意形状 72"/>
                <p:cNvSpPr/>
                <p:nvPr/>
              </p:nvSpPr>
              <p:spPr>
                <a:xfrm>
                  <a:off x="4503978" y="2039945"/>
                  <a:ext cx="195163" cy="101316"/>
                </a:xfrm>
                <a:custGeom>
                  <a:avLst/>
                  <a:gdLst>
                    <a:gd name="csX0" fmla="*/ 54 w 195163"/>
                    <a:gd name="csY0" fmla="*/ 67592 h 101316"/>
                    <a:gd name="csX1" fmla="*/ 38783 w 195163"/>
                    <a:gd name="csY1" fmla="*/ -35 h 101316"/>
                    <a:gd name="csX2" fmla="*/ 58404 w 195163"/>
                    <a:gd name="csY2" fmla="*/ 33580 h 101316"/>
                    <a:gd name="csX3" fmla="*/ 39034 w 195163"/>
                    <a:gd name="csY3" fmla="*/ 67436 h 101316"/>
                    <a:gd name="csX4" fmla="*/ 195217 w 195163"/>
                    <a:gd name="csY4" fmla="*/ 66798 h 101316"/>
                    <a:gd name="csX5" fmla="*/ 175743 w 195163"/>
                    <a:gd name="csY5" fmla="*/ 100632 h 101316"/>
                    <a:gd name="csX6" fmla="*/ 19738 w 195163"/>
                    <a:gd name="csY6" fmla="*/ 101281 h 101316"/>
                    <a:gd name="csX7" fmla="*/ 54 w 195163"/>
                    <a:gd name="csY7" fmla="*/ 67603 h 1013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95163" h="101316">
                      <a:moveTo>
                        <a:pt x="54" y="67592"/>
                      </a:moveTo>
                      <a:lnTo>
                        <a:pt x="38783" y="-35"/>
                      </a:lnTo>
                      <a:lnTo>
                        <a:pt x="58404" y="33580"/>
                      </a:lnTo>
                      <a:lnTo>
                        <a:pt x="39034" y="67436"/>
                      </a:lnTo>
                      <a:lnTo>
                        <a:pt x="195217" y="66798"/>
                      </a:lnTo>
                      <a:lnTo>
                        <a:pt x="175743" y="100632"/>
                      </a:lnTo>
                      <a:lnTo>
                        <a:pt x="19738" y="101281"/>
                      </a:lnTo>
                      <a:lnTo>
                        <a:pt x="54" y="676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4" name="任意形状 73"/>
                <p:cNvSpPr/>
                <p:nvPr/>
              </p:nvSpPr>
              <p:spPr>
                <a:xfrm>
                  <a:off x="4563197" y="2140603"/>
                  <a:ext cx="155743" cy="169236"/>
                </a:xfrm>
                <a:custGeom>
                  <a:avLst/>
                  <a:gdLst>
                    <a:gd name="csX0" fmla="*/ 116443 w 155743"/>
                    <a:gd name="csY0" fmla="*/ -345 h 169236"/>
                    <a:gd name="csX1" fmla="*/ 155706 w 155743"/>
                    <a:gd name="csY1" fmla="*/ 66969 h 169236"/>
                    <a:gd name="csX2" fmla="*/ 116757 w 155743"/>
                    <a:gd name="csY2" fmla="*/ 67147 h 169236"/>
                    <a:gd name="csX3" fmla="*/ 97095 w 155743"/>
                    <a:gd name="csY3" fmla="*/ 33448 h 169236"/>
                    <a:gd name="csX4" fmla="*/ 19563 w 155743"/>
                    <a:gd name="csY4" fmla="*/ 168892 h 169236"/>
                    <a:gd name="csX5" fmla="*/ -37 w 155743"/>
                    <a:gd name="csY5" fmla="*/ 135131 h 169236"/>
                    <a:gd name="csX6" fmla="*/ 77400 w 155743"/>
                    <a:gd name="csY6" fmla="*/ -167 h 169236"/>
                    <a:gd name="csX7" fmla="*/ 116454 w 155743"/>
                    <a:gd name="csY7" fmla="*/ -345 h 1692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5743" h="169236">
                      <a:moveTo>
                        <a:pt x="116443" y="-345"/>
                      </a:moveTo>
                      <a:lnTo>
                        <a:pt x="155706" y="66969"/>
                      </a:lnTo>
                      <a:lnTo>
                        <a:pt x="116757" y="67147"/>
                      </a:lnTo>
                      <a:lnTo>
                        <a:pt x="97095" y="33448"/>
                      </a:lnTo>
                      <a:lnTo>
                        <a:pt x="19563" y="168892"/>
                      </a:lnTo>
                      <a:lnTo>
                        <a:pt x="-37" y="135131"/>
                      </a:lnTo>
                      <a:lnTo>
                        <a:pt x="77400" y="-167"/>
                      </a:lnTo>
                      <a:lnTo>
                        <a:pt x="116454" y="-3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5" name="任意形状 74"/>
                <p:cNvSpPr/>
                <p:nvPr/>
              </p:nvSpPr>
              <p:spPr>
                <a:xfrm>
                  <a:off x="4523662" y="2140780"/>
                  <a:ext cx="116982" cy="101441"/>
                </a:xfrm>
                <a:custGeom>
                  <a:avLst/>
                  <a:gdLst>
                    <a:gd name="csX0" fmla="*/ 59003 w 116982"/>
                    <a:gd name="csY0" fmla="*/ 101164 h 101441"/>
                    <a:gd name="csX1" fmla="*/ 117081 w 116982"/>
                    <a:gd name="csY1" fmla="*/ -267 h 101441"/>
                    <a:gd name="csX2" fmla="*/ 99 w 116982"/>
                    <a:gd name="csY2" fmla="*/ 214 h 101441"/>
                    <a:gd name="csX3" fmla="*/ 59003 w 116982"/>
                    <a:gd name="csY3" fmla="*/ 101174 h 10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6982" h="101441">
                      <a:moveTo>
                        <a:pt x="59003" y="101164"/>
                      </a:moveTo>
                      <a:lnTo>
                        <a:pt x="117081" y="-267"/>
                      </a:lnTo>
                      <a:lnTo>
                        <a:pt x="99" y="214"/>
                      </a:lnTo>
                      <a:lnTo>
                        <a:pt x="59003" y="101174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6" name="任意形状 75"/>
                <p:cNvSpPr/>
                <p:nvPr/>
              </p:nvSpPr>
              <p:spPr>
                <a:xfrm>
                  <a:off x="4503988" y="2100806"/>
                  <a:ext cx="82441" cy="141416"/>
                </a:xfrm>
                <a:custGeom>
                  <a:avLst/>
                  <a:gdLst>
                    <a:gd name="csX0" fmla="*/ 78762 w 82441"/>
                    <a:gd name="csY0" fmla="*/ 141184 h 141416"/>
                    <a:gd name="csX1" fmla="*/ 183 w 82441"/>
                    <a:gd name="csY1" fmla="*/ 6546 h 141416"/>
                    <a:gd name="csX2" fmla="*/ 4057 w 82441"/>
                    <a:gd name="csY2" fmla="*/ -221 h 141416"/>
                    <a:gd name="csX3" fmla="*/ 82625 w 82441"/>
                    <a:gd name="csY3" fmla="*/ 134428 h 141416"/>
                    <a:gd name="csX4" fmla="*/ 78762 w 82441"/>
                    <a:gd name="csY4" fmla="*/ 141195 h 1414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2441" h="141416">
                      <a:moveTo>
                        <a:pt x="78762" y="141184"/>
                      </a:moveTo>
                      <a:lnTo>
                        <a:pt x="183" y="6546"/>
                      </a:lnTo>
                      <a:lnTo>
                        <a:pt x="4057" y="-221"/>
                      </a:lnTo>
                      <a:lnTo>
                        <a:pt x="82625" y="134428"/>
                      </a:lnTo>
                      <a:lnTo>
                        <a:pt x="78762" y="141195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7" name="任意形状 76"/>
                <p:cNvSpPr/>
                <p:nvPr/>
              </p:nvSpPr>
              <p:spPr>
                <a:xfrm>
                  <a:off x="4523651" y="2140613"/>
                  <a:ext cx="159951" cy="7384"/>
                </a:xfrm>
                <a:custGeom>
                  <a:avLst/>
                  <a:gdLst>
                    <a:gd name="csX0" fmla="*/ 49 w 159951"/>
                    <a:gd name="csY0" fmla="*/ 490 h 7384"/>
                    <a:gd name="csX1" fmla="*/ 156075 w 159951"/>
                    <a:gd name="csY1" fmla="*/ -159 h 7384"/>
                    <a:gd name="csX2" fmla="*/ 160001 w 159951"/>
                    <a:gd name="csY2" fmla="*/ 6577 h 7384"/>
                    <a:gd name="csX3" fmla="*/ 3986 w 159951"/>
                    <a:gd name="csY3" fmla="*/ 7225 h 7384"/>
                    <a:gd name="csX4" fmla="*/ 49 w 159951"/>
                    <a:gd name="csY4" fmla="*/ 490 h 73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9951" h="7384">
                      <a:moveTo>
                        <a:pt x="49" y="490"/>
                      </a:moveTo>
                      <a:lnTo>
                        <a:pt x="156075" y="-159"/>
                      </a:lnTo>
                      <a:lnTo>
                        <a:pt x="160001" y="6577"/>
                      </a:lnTo>
                      <a:lnTo>
                        <a:pt x="3986" y="7225"/>
                      </a:lnTo>
                      <a:lnTo>
                        <a:pt x="49" y="490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78" name="任意形状 77"/>
                <p:cNvSpPr/>
                <p:nvPr/>
              </p:nvSpPr>
              <p:spPr>
                <a:xfrm>
                  <a:off x="4555407" y="2140760"/>
                  <a:ext cx="85237" cy="135328"/>
                </a:xfrm>
                <a:custGeom>
                  <a:avLst/>
                  <a:gdLst>
                    <a:gd name="csX0" fmla="*/ 85299 w 85237"/>
                    <a:gd name="csY0" fmla="*/ -306 h 135328"/>
                    <a:gd name="csX1" fmla="*/ 7862 w 85237"/>
                    <a:gd name="csY1" fmla="*/ 134991 h 135328"/>
                    <a:gd name="csX2" fmla="*/ 62 w 85237"/>
                    <a:gd name="csY2" fmla="*/ 135023 h 135328"/>
                    <a:gd name="csX3" fmla="*/ 77510 w 85237"/>
                    <a:gd name="csY3" fmla="*/ -264 h 135328"/>
                    <a:gd name="csX4" fmla="*/ 85299 w 85237"/>
                    <a:gd name="csY4" fmla="*/ -306 h 1353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5237" h="135328">
                      <a:moveTo>
                        <a:pt x="85299" y="-306"/>
                      </a:moveTo>
                      <a:lnTo>
                        <a:pt x="7862" y="134991"/>
                      </a:lnTo>
                      <a:lnTo>
                        <a:pt x="62" y="135023"/>
                      </a:lnTo>
                      <a:lnTo>
                        <a:pt x="77510" y="-264"/>
                      </a:lnTo>
                      <a:lnTo>
                        <a:pt x="85299" y="-306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79" name="文本框 78"/>
              <p:cNvSpPr txBox="1"/>
              <p:nvPr/>
            </p:nvSpPr>
            <p:spPr>
              <a:xfrm>
                <a:off x="4177146" y="2291003"/>
                <a:ext cx="8274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teacher-generated</a:t>
                </a:r>
                <a:endParaRPr lang="en-US" altLang="zh-CN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explanations</a:t>
                </a:r>
                <a:endParaRPr lang="zh-CN" altLang="en-US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81" name="任意形状 80"/>
              <p:cNvSpPr/>
              <p:nvPr/>
            </p:nvSpPr>
            <p:spPr>
              <a:xfrm>
                <a:off x="5043355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5170745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5217053" y="1578801"/>
                <a:ext cx="83067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5. SFT </a:t>
                </a:r>
                <a:r>
                  <a:rPr lang="en-US" altLang="zh-CN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Dataset</a:t>
                </a:r>
                <a:endParaRPr lang="zh-CN" altLang="en-US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5487610" y="2364305"/>
                <a:ext cx="3898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i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</a:t>
                </a:r>
                <a:r>
                  <a:rPr lang="en-US" altLang="zh-CN" sz="700" i="1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_sft</a:t>
                </a:r>
                <a:endParaRPr lang="zh-CN" altLang="en-US" sz="700" i="1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1" name="任意形状 90"/>
              <p:cNvSpPr/>
              <p:nvPr/>
            </p:nvSpPr>
            <p:spPr>
              <a:xfrm>
                <a:off x="6102704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6230094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326435" y="1578801"/>
                <a:ext cx="77296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6. Supervised</a:t>
                </a:r>
                <a:endParaRPr lang="en-US" altLang="zh-CN" sz="800" b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6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Fine-tuning</a:t>
                </a:r>
                <a:endParaRPr lang="zh-CN" altLang="en-US" sz="800" b="1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6" name="任意形状 95"/>
              <p:cNvSpPr/>
              <p:nvPr/>
            </p:nvSpPr>
            <p:spPr>
              <a:xfrm>
                <a:off x="6491579" y="1978967"/>
                <a:ext cx="411939" cy="411501"/>
              </a:xfrm>
              <a:custGeom>
                <a:avLst/>
                <a:gdLst>
                  <a:gd name="csX0" fmla="*/ 414 w 411939"/>
                  <a:gd name="csY0" fmla="*/ -227 h 411501"/>
                  <a:gd name="csX1" fmla="*/ 412353 w 411939"/>
                  <a:gd name="csY1" fmla="*/ -227 h 411501"/>
                  <a:gd name="csX2" fmla="*/ 412353 w 411939"/>
                  <a:gd name="csY2" fmla="*/ 411274 h 411501"/>
                  <a:gd name="csX3" fmla="*/ 414 w 411939"/>
                  <a:gd name="csY3" fmla="*/ 411274 h 4115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11939" h="411501">
                    <a:moveTo>
                      <a:pt x="414" y="-227"/>
                    </a:moveTo>
                    <a:lnTo>
                      <a:pt x="412353" y="-227"/>
                    </a:lnTo>
                    <a:lnTo>
                      <a:pt x="412353" y="411274"/>
                    </a:lnTo>
                    <a:lnTo>
                      <a:pt x="414" y="411274"/>
                    </a:lnTo>
                    <a:close/>
                  </a:path>
                </a:pathLst>
              </a:custGeom>
              <a:solidFill>
                <a:srgbClr val="FFFFFF">
                  <a:alpha val="1000"/>
                </a:srgbClr>
              </a:solidFill>
              <a:ln w="4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6406115" y="2270910"/>
                <a:ext cx="819455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Local</a:t>
                </a:r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SFT</a:t>
                </a:r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tuning</a:t>
                </a:r>
                <a:endParaRPr lang="zh-CN" altLang="en-US" sz="700" spc="0" baseline="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01" name="任意形状 100"/>
              <p:cNvSpPr/>
              <p:nvPr/>
            </p:nvSpPr>
            <p:spPr>
              <a:xfrm>
                <a:off x="7162052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7289442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397959" y="1578801"/>
                <a:ext cx="7473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 dirty="0">
                    <a:solidFill>
                      <a:srgbClr val="6F47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7. Local SFT</a:t>
                </a:r>
                <a:endParaRPr lang="en-US" altLang="zh-CN" sz="800" b="1" spc="0" baseline="0" dirty="0">
                  <a:solidFill>
                    <a:srgbClr val="6F47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800" b="1" dirty="0">
                    <a:solidFill>
                      <a:srgbClr val="6F47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   Model </a:t>
                </a:r>
                <a:r>
                  <a:rPr lang="zh-CN" altLang="en-US" sz="800" b="1" i="1" dirty="0">
                    <a:solidFill>
                      <a:srgbClr val="6F47C7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</a:t>
                </a:r>
                <a:endParaRPr lang="zh-CN" altLang="en-US" sz="800" b="1" i="1" dirty="0">
                  <a:solidFill>
                    <a:srgbClr val="6F47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7288427" y="2353609"/>
                <a:ext cx="9363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altLang="zh-CN" sz="700" spc="0" baseline="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</a:t>
                </a:r>
                <a:r>
                  <a:rPr lang="zh-CN" altLang="en-US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or non-determined </a:t>
                </a:r>
                <a:r>
                  <a:rPr lang="en-US" altLang="zh-CN" sz="700" dirty="0">
                    <a:solidFill>
                      <a:srgbClr val="7A4DC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states</a:t>
                </a:r>
                <a:endParaRPr lang="zh-CN" altLang="en-US" sz="700" dirty="0">
                  <a:solidFill>
                    <a:srgbClr val="7A4DC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115" name="图形 4"/>
            <p:cNvGrpSpPr/>
            <p:nvPr/>
          </p:nvGrpSpPr>
          <p:grpSpPr>
            <a:xfrm>
              <a:off x="8489590" y="1211043"/>
              <a:ext cx="2753553" cy="1634217"/>
              <a:chOff x="8489590" y="1211043"/>
              <a:chExt cx="2753553" cy="1634217"/>
            </a:xfrm>
          </p:grpSpPr>
          <p:sp>
            <p:nvSpPr>
              <p:cNvPr id="116" name="圆角矩形 115"/>
              <p:cNvSpPr/>
              <p:nvPr/>
            </p:nvSpPr>
            <p:spPr>
              <a:xfrm>
                <a:off x="8489590" y="1211043"/>
                <a:ext cx="2753553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7FBF4"/>
              </a:solidFill>
              <a:ln w="937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17" name="圆角矩形 116"/>
              <p:cNvSpPr/>
              <p:nvPr/>
            </p:nvSpPr>
            <p:spPr>
              <a:xfrm>
                <a:off x="8603571" y="1269020"/>
                <a:ext cx="2528255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8630926" y="1285764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8598589" y="1265227"/>
                <a:ext cx="26161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8968136" y="1275883"/>
                <a:ext cx="173957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Verification </a:t>
                </a:r>
                <a:r>
                  <a:rPr lang="en-US" altLang="zh-CN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Utility</a:t>
                </a:r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Profiling</a:t>
                </a:r>
                <a:endParaRPr lang="zh-CN" altLang="en-US" sz="10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1" name="圆角矩形 120"/>
              <p:cNvSpPr/>
              <p:nvPr/>
            </p:nvSpPr>
            <p:spPr>
              <a:xfrm>
                <a:off x="8603570" y="1550320"/>
                <a:ext cx="1143439" cy="705786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8574102" y="1563828"/>
                <a:ext cx="125395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1. </a:t>
                </a:r>
                <a:r>
                  <a:rPr lang="zh-CN" altLang="en-US" sz="700" b="1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Historical VeriEQL Logs</a:t>
                </a:r>
                <a:endParaRPr lang="zh-CN" altLang="en-US" sz="700" b="1" dirty="0">
                  <a:solidFill>
                    <a:srgbClr val="6E9835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pPr algn="l"/>
                <a:endPara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8770650" y="2035610"/>
                <a:ext cx="110158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runtime / states / </a:t>
                </a:r>
                <a:r>
                  <a:rPr lang="en-US" altLang="zh-CN" sz="7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prefixes</a:t>
                </a:r>
                <a:endParaRPr lang="zh-CN" altLang="en-US" sz="7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7" name="任意形状 126"/>
              <p:cNvSpPr/>
              <p:nvPr/>
            </p:nvSpPr>
            <p:spPr>
              <a:xfrm>
                <a:off x="9759715" y="1891898"/>
                <a:ext cx="181027" cy="6697"/>
              </a:xfrm>
              <a:custGeom>
                <a:avLst/>
                <a:gdLst>
                  <a:gd name="csX0" fmla="*/ 0 w 181027"/>
                  <a:gd name="csY0" fmla="*/ 0 h 6697"/>
                  <a:gd name="csX1" fmla="*/ 181028 w 181027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27" h="6697">
                    <a:moveTo>
                      <a:pt x="0" y="0"/>
                    </a:moveTo>
                    <a:lnTo>
                      <a:pt x="181028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28" name="圆角矩形 127"/>
              <p:cNvSpPr/>
              <p:nvPr/>
            </p:nvSpPr>
            <p:spPr>
              <a:xfrm>
                <a:off x="9949661" y="1552008"/>
                <a:ext cx="1180654" cy="704097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10138522" y="1578801"/>
                <a:ext cx="885179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2. </a:t>
                </a:r>
                <a:r>
                  <a:rPr lang="en-US" altLang="zh-CN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Utility</a:t>
                </a:r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Profiling</a:t>
                </a:r>
                <a:endParaRPr lang="zh-CN" altLang="en-US" sz="700" b="1" spc="0" baseline="0" dirty="0">
                  <a:solidFill>
                    <a:srgbClr val="6E9835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7" name="文本框 136"/>
              <p:cNvSpPr txBox="1"/>
              <p:nvPr/>
            </p:nvSpPr>
            <p:spPr>
              <a:xfrm>
                <a:off x="10225670" y="2018906"/>
                <a:ext cx="769763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7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Determined</a:t>
                </a:r>
                <a:r>
                  <a:rPr lang="zh-CN" altLang="en-US" sz="7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rate</a:t>
                </a:r>
                <a:endParaRPr lang="zh-CN" altLang="en-US" sz="7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9" name="任意形状 138"/>
              <p:cNvSpPr/>
              <p:nvPr/>
            </p:nvSpPr>
            <p:spPr>
              <a:xfrm>
                <a:off x="10552318" y="2277436"/>
                <a:ext cx="6704" cy="154045"/>
              </a:xfrm>
              <a:custGeom>
                <a:avLst/>
                <a:gdLst>
                  <a:gd name="csX0" fmla="*/ 0 w 6704"/>
                  <a:gd name="csY0" fmla="*/ 0 h 154045"/>
                  <a:gd name="csX1" fmla="*/ 0 w 6704"/>
                  <a:gd name="csY1" fmla="*/ 154045 h 154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54045">
                    <a:moveTo>
                      <a:pt x="0" y="0"/>
                    </a:moveTo>
                    <a:lnTo>
                      <a:pt x="0" y="154045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40" name="圆角矩形 139"/>
              <p:cNvSpPr/>
              <p:nvPr/>
            </p:nvSpPr>
            <p:spPr>
              <a:xfrm>
                <a:off x="8958922" y="2441102"/>
                <a:ext cx="1783460" cy="334880"/>
              </a:xfrm>
              <a:prstGeom prst="roundRect">
                <a:avLst>
                  <a:gd name="adj" fmla="val 16017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9225978" y="2449491"/>
                <a:ext cx="124585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b="1" spc="0" baseline="0" dirty="0">
                    <a:solidFill>
                      <a:srgbClr val="6E9835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3. Dynamic Budget Policy π</a:t>
                </a:r>
                <a:endParaRPr lang="zh-CN" altLang="en-US" sz="700" b="1" spc="0" baseline="0" dirty="0">
                  <a:solidFill>
                    <a:srgbClr val="6E9835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2462922" y="3041858"/>
              <a:ext cx="144462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offline profiling → online budget routing</a:t>
              </a:r>
              <a:endParaRPr lang="zh-CN" altLang="en-US" sz="600" i="1" spc="0" baseline="0" dirty="0">
                <a:solidFill>
                  <a:srgbClr val="6F46C7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7863336" y="3004313"/>
              <a:ext cx="178606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 dirty="0">
                  <a:solidFill>
                    <a:srgbClr val="6F46C7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offline trained model → non-determined completion</a:t>
              </a:r>
              <a:endParaRPr lang="zh-CN" altLang="en-US" sz="600" i="1" spc="0" baseline="0" dirty="0">
                <a:solidFill>
                  <a:srgbClr val="6F46C7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151" name="图形 4"/>
          <p:cNvGrpSpPr/>
          <p:nvPr/>
        </p:nvGrpSpPr>
        <p:grpSpPr>
          <a:xfrm>
            <a:off x="725504" y="3204630"/>
            <a:ext cx="10740989" cy="3040715"/>
            <a:chOff x="725504" y="3204630"/>
            <a:chExt cx="10740989" cy="3040715"/>
          </a:xfrm>
        </p:grpSpPr>
        <p:sp>
          <p:nvSpPr>
            <p:cNvPr id="153" name="文本框 152"/>
            <p:cNvSpPr txBox="1"/>
            <p:nvPr/>
          </p:nvSpPr>
          <p:spPr>
            <a:xfrm>
              <a:off x="4797682" y="3212952"/>
              <a:ext cx="31000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Stage II. Online SQL Equivalence Judgment</a:t>
              </a:r>
              <a:endParaRPr lang="zh-CN" altLang="en-US" sz="1200" b="1" spc="0" baseline="0" dirty="0">
                <a:solidFill>
                  <a:srgbClr val="4D8D2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725504" y="3204630"/>
              <a:ext cx="10740989" cy="3040715"/>
            </a:xfrm>
            <a:prstGeom prst="roundRect">
              <a:avLst>
                <a:gd name="adj" fmla="val 3086"/>
              </a:avLst>
            </a:prstGeom>
            <a:solidFill>
              <a:srgbClr val="F8FCF7"/>
            </a:solidFill>
            <a:ln w="10719" cap="flat">
              <a:solidFill>
                <a:srgbClr val="8FCD9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100" dirty="0"/>
            </a:p>
          </p:txBody>
        </p:sp>
        <p:grpSp>
          <p:nvGrpSpPr>
            <p:cNvPr id="154" name="图形 4"/>
            <p:cNvGrpSpPr/>
            <p:nvPr/>
          </p:nvGrpSpPr>
          <p:grpSpPr>
            <a:xfrm>
              <a:off x="978516" y="3526115"/>
              <a:ext cx="2060122" cy="2595504"/>
              <a:chOff x="978516" y="3526115"/>
              <a:chExt cx="2060122" cy="2595504"/>
            </a:xfrm>
          </p:grpSpPr>
          <p:sp>
            <p:nvSpPr>
              <p:cNvPr id="155" name="圆角矩形 154"/>
              <p:cNvSpPr/>
              <p:nvPr/>
            </p:nvSpPr>
            <p:spPr>
              <a:xfrm>
                <a:off x="978516" y="3526115"/>
                <a:ext cx="2060122" cy="2595504"/>
              </a:xfrm>
              <a:prstGeom prst="roundRect">
                <a:avLst>
                  <a:gd name="adj" fmla="val 3870"/>
                </a:avLst>
              </a:prstGeom>
              <a:solidFill>
                <a:srgbClr val="F7FBFF"/>
              </a:solidFill>
              <a:ln w="937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56" name="圆角矩形 155"/>
              <p:cNvSpPr/>
              <p:nvPr/>
            </p:nvSpPr>
            <p:spPr>
              <a:xfrm>
                <a:off x="1054036" y="3606486"/>
                <a:ext cx="1890735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4EFFF"/>
              </a:solidFill>
              <a:ln w="803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1072955" y="3629928"/>
                <a:ext cx="187732" cy="187533"/>
              </a:xfrm>
              <a:prstGeom prst="ellipse">
                <a:avLst/>
              </a:prstGeom>
              <a:solidFill>
                <a:srgbClr val="4F79B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58" name="文本框 157"/>
              <p:cNvSpPr txBox="1"/>
              <p:nvPr/>
            </p:nvSpPr>
            <p:spPr>
              <a:xfrm>
                <a:off x="1048562" y="3604701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1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233183" y="3597023"/>
                <a:ext cx="172996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Dynamic</a:t>
                </a:r>
                <a:r>
                  <a:rPr lang="zh-CN" altLang="en-US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Budget</a:t>
                </a:r>
                <a:r>
                  <a:rPr lang="zh-CN" altLang="en-US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b="1" dirty="0">
                    <a:solidFill>
                      <a:srgbClr val="4C7BC0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Allocation</a:t>
                </a:r>
                <a:endParaRPr lang="zh-CN" altLang="en-US" sz="1000" b="1" spc="0" baseline="0" dirty="0">
                  <a:solidFill>
                    <a:srgbClr val="4C7BC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1" name="圆角矩形 160"/>
              <p:cNvSpPr/>
              <p:nvPr/>
            </p:nvSpPr>
            <p:spPr>
              <a:xfrm>
                <a:off x="1013808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162" name="图形 4"/>
              <p:cNvGrpSpPr/>
              <p:nvPr/>
            </p:nvGrpSpPr>
            <p:grpSpPr>
              <a:xfrm>
                <a:off x="1103383" y="4208869"/>
                <a:ext cx="112639" cy="126584"/>
                <a:chOff x="1103383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3" name="椭圆 162"/>
                <p:cNvSpPr/>
                <p:nvPr/>
              </p:nvSpPr>
              <p:spPr>
                <a:xfrm>
                  <a:off x="1103383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64" name="任意形状 163"/>
                <p:cNvSpPr/>
                <p:nvPr/>
              </p:nvSpPr>
              <p:spPr>
                <a:xfrm>
                  <a:off x="1103383" y="4228560"/>
                  <a:ext cx="112639" cy="106893"/>
                </a:xfrm>
                <a:custGeom>
                  <a:avLst/>
                  <a:gdLst>
                    <a:gd name="csX0" fmla="*/ 72 w 112639"/>
                    <a:gd name="csY0" fmla="*/ 565 h 106893"/>
                    <a:gd name="csX1" fmla="*/ 72 w 112639"/>
                    <a:gd name="csY1" fmla="*/ 82142 h 106893"/>
                    <a:gd name="csX2" fmla="*/ 56392 w 112639"/>
                    <a:gd name="csY2" fmla="*/ 107459 h 106893"/>
                    <a:gd name="csX3" fmla="*/ 112711 w 112639"/>
                    <a:gd name="csY3" fmla="*/ 82142 h 106893"/>
                    <a:gd name="csX4" fmla="*/ 112711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72" y="565"/>
                      </a:moveTo>
                      <a:lnTo>
                        <a:pt x="72" y="82142"/>
                      </a:lnTo>
                      <a:cubicBezTo>
                        <a:pt x="72" y="96207"/>
                        <a:pt x="25416" y="107459"/>
                        <a:pt x="56392" y="107459"/>
                      </a:cubicBezTo>
                      <a:cubicBezTo>
                        <a:pt x="87367" y="107459"/>
                        <a:pt x="112711" y="96207"/>
                        <a:pt x="112711" y="82142"/>
                      </a:cubicBezTo>
                      <a:lnTo>
                        <a:pt x="112711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65" name="椭圆 164"/>
                <p:cNvSpPr/>
                <p:nvPr/>
              </p:nvSpPr>
              <p:spPr>
                <a:xfrm>
                  <a:off x="1103383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166" name="文本框 165"/>
              <p:cNvSpPr txBox="1"/>
              <p:nvPr/>
            </p:nvSpPr>
            <p:spPr>
              <a:xfrm>
                <a:off x="1161799" y="4185967"/>
                <a:ext cx="40588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 A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7" name="圆角矩形 166"/>
              <p:cNvSpPr/>
              <p:nvPr/>
            </p:nvSpPr>
            <p:spPr>
              <a:xfrm>
                <a:off x="1670872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168" name="图形 4"/>
              <p:cNvGrpSpPr/>
              <p:nvPr/>
            </p:nvGrpSpPr>
            <p:grpSpPr>
              <a:xfrm>
                <a:off x="1760448" y="4208869"/>
                <a:ext cx="112639" cy="126584"/>
                <a:chOff x="1760448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9" name="椭圆 168"/>
                <p:cNvSpPr/>
                <p:nvPr/>
              </p:nvSpPr>
              <p:spPr>
                <a:xfrm>
                  <a:off x="1760448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0" name="任意形状 169"/>
                <p:cNvSpPr/>
                <p:nvPr/>
              </p:nvSpPr>
              <p:spPr>
                <a:xfrm>
                  <a:off x="1760448" y="4228560"/>
                  <a:ext cx="112639" cy="106893"/>
                </a:xfrm>
                <a:custGeom>
                  <a:avLst/>
                  <a:gdLst>
                    <a:gd name="csX0" fmla="*/ 170 w 112639"/>
                    <a:gd name="csY0" fmla="*/ 565 h 106893"/>
                    <a:gd name="csX1" fmla="*/ 170 w 112639"/>
                    <a:gd name="csY1" fmla="*/ 82142 h 106893"/>
                    <a:gd name="csX2" fmla="*/ 56490 w 112639"/>
                    <a:gd name="csY2" fmla="*/ 107459 h 106893"/>
                    <a:gd name="csX3" fmla="*/ 112809 w 112639"/>
                    <a:gd name="csY3" fmla="*/ 82142 h 106893"/>
                    <a:gd name="csX4" fmla="*/ 112809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170" y="565"/>
                      </a:moveTo>
                      <a:lnTo>
                        <a:pt x="170" y="82142"/>
                      </a:lnTo>
                      <a:cubicBezTo>
                        <a:pt x="170" y="96207"/>
                        <a:pt x="25514" y="107459"/>
                        <a:pt x="56490" y="107459"/>
                      </a:cubicBezTo>
                      <a:cubicBezTo>
                        <a:pt x="87465" y="107459"/>
                        <a:pt x="112809" y="96207"/>
                        <a:pt x="112809" y="82142"/>
                      </a:cubicBezTo>
                      <a:lnTo>
                        <a:pt x="112809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1" name="椭圆 170"/>
                <p:cNvSpPr/>
                <p:nvPr/>
              </p:nvSpPr>
              <p:spPr>
                <a:xfrm>
                  <a:off x="1760448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172" name="文本框 171"/>
              <p:cNvSpPr txBox="1"/>
              <p:nvPr/>
            </p:nvSpPr>
            <p:spPr>
              <a:xfrm>
                <a:off x="1835666" y="4190728"/>
                <a:ext cx="40107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 B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73" name="圆角矩形 172"/>
              <p:cNvSpPr/>
              <p:nvPr/>
            </p:nvSpPr>
            <p:spPr>
              <a:xfrm>
                <a:off x="2327937" y="4122202"/>
                <a:ext cx="6168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grpSp>
            <p:nvGrpSpPr>
              <p:cNvPr id="174" name="图形 4"/>
              <p:cNvGrpSpPr/>
              <p:nvPr/>
            </p:nvGrpSpPr>
            <p:grpSpPr>
              <a:xfrm>
                <a:off x="2448622" y="4189178"/>
                <a:ext cx="167618" cy="170789"/>
                <a:chOff x="2448622" y="4189178"/>
                <a:chExt cx="167618" cy="170789"/>
              </a:xfrm>
              <a:solidFill>
                <a:srgbClr val="000000"/>
              </a:solidFill>
            </p:grpSpPr>
            <p:sp>
              <p:nvSpPr>
                <p:cNvPr id="175" name="矩形 174"/>
                <p:cNvSpPr/>
                <p:nvPr/>
              </p:nvSpPr>
              <p:spPr>
                <a:xfrm>
                  <a:off x="2502260" y="4189178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>
                  <a:off x="244862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>
                  <a:off x="256260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  <p:sp>
              <p:nvSpPr>
                <p:cNvPr id="178" name="任意形状 177"/>
                <p:cNvSpPr/>
                <p:nvPr/>
              </p:nvSpPr>
              <p:spPr>
                <a:xfrm>
                  <a:off x="2475441" y="4242759"/>
                  <a:ext cx="113980" cy="63627"/>
                </a:xfrm>
                <a:custGeom>
                  <a:avLst/>
                  <a:gdLst>
                    <a:gd name="csX0" fmla="*/ 53909 w 113980"/>
                    <a:gd name="csY0" fmla="*/ 563 h 63627"/>
                    <a:gd name="csX1" fmla="*/ 53909 w 113980"/>
                    <a:gd name="csY1" fmla="*/ 40749 h 63627"/>
                    <a:gd name="csX2" fmla="*/ 272 w 113980"/>
                    <a:gd name="csY2" fmla="*/ 40749 h 63627"/>
                    <a:gd name="csX3" fmla="*/ 114252 w 113980"/>
                    <a:gd name="csY3" fmla="*/ 40749 h 63627"/>
                    <a:gd name="csX4" fmla="*/ 272 w 113980"/>
                    <a:gd name="csY4" fmla="*/ 40749 h 63627"/>
                    <a:gd name="csX5" fmla="*/ 272 w 113980"/>
                    <a:gd name="csY5" fmla="*/ 64191 h 63627"/>
                    <a:gd name="csX6" fmla="*/ 114252 w 113980"/>
                    <a:gd name="csY6" fmla="*/ 40749 h 63627"/>
                    <a:gd name="csX7" fmla="*/ 114252 w 113980"/>
                    <a:gd name="csY7" fmla="*/ 64191 h 636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3980" h="63627">
                      <a:moveTo>
                        <a:pt x="53909" y="563"/>
                      </a:moveTo>
                      <a:lnTo>
                        <a:pt x="53909" y="40749"/>
                      </a:lnTo>
                      <a:moveTo>
                        <a:pt x="272" y="40749"/>
                      </a:moveTo>
                      <a:lnTo>
                        <a:pt x="114252" y="40749"/>
                      </a:lnTo>
                      <a:moveTo>
                        <a:pt x="272" y="40749"/>
                      </a:moveTo>
                      <a:lnTo>
                        <a:pt x="272" y="64191"/>
                      </a:lnTo>
                      <a:moveTo>
                        <a:pt x="114252" y="40749"/>
                      </a:moveTo>
                      <a:lnTo>
                        <a:pt x="114252" y="64191"/>
                      </a:lnTo>
                    </a:path>
                  </a:pathLst>
                </a:custGeom>
                <a:noFill/>
                <a:ln w="737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100"/>
                </a:p>
              </p:txBody>
            </p:sp>
          </p:grpSp>
          <p:sp>
            <p:nvSpPr>
              <p:cNvPr id="179" name="文本框 178"/>
              <p:cNvSpPr txBox="1"/>
              <p:nvPr/>
            </p:nvSpPr>
            <p:spPr>
              <a:xfrm>
                <a:off x="2571690" y="4188697"/>
                <a:ext cx="42672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Schema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0" name="任意形状 179"/>
              <p:cNvSpPr/>
              <p:nvPr/>
            </p:nvSpPr>
            <p:spPr>
              <a:xfrm>
                <a:off x="1295407" y="4443688"/>
                <a:ext cx="1347652" cy="133952"/>
              </a:xfrm>
              <a:custGeom>
                <a:avLst/>
                <a:gdLst>
                  <a:gd name="csX0" fmla="*/ 0 w 1347652"/>
                  <a:gd name="csY0" fmla="*/ 0 h 133952"/>
                  <a:gd name="csX1" fmla="*/ 0 w 1347652"/>
                  <a:gd name="csY1" fmla="*/ 133952 h 133952"/>
                  <a:gd name="csX2" fmla="*/ 1347652 w 1347652"/>
                  <a:gd name="csY2" fmla="*/ 133952 h 133952"/>
                  <a:gd name="csX3" fmla="*/ 1347652 w 1347652"/>
                  <a:gd name="csY3" fmla="*/ 0 h 133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7652" h="133952">
                    <a:moveTo>
                      <a:pt x="0" y="0"/>
                    </a:moveTo>
                    <a:lnTo>
                      <a:pt x="0" y="133952"/>
                    </a:lnTo>
                    <a:lnTo>
                      <a:pt x="1347652" y="133952"/>
                    </a:lnTo>
                    <a:lnTo>
                      <a:pt x="1347652" y="0"/>
                    </a:lnTo>
                  </a:path>
                </a:pathLst>
              </a:custGeom>
              <a:noFill/>
              <a:ln w="13399" cap="rnd">
                <a:solidFill>
                  <a:srgbClr val="99BDE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1" name="任意形状 180"/>
              <p:cNvSpPr/>
              <p:nvPr/>
            </p:nvSpPr>
            <p:spPr>
              <a:xfrm>
                <a:off x="1952471" y="4443688"/>
                <a:ext cx="6704" cy="221021"/>
              </a:xfrm>
              <a:custGeom>
                <a:avLst/>
                <a:gdLst>
                  <a:gd name="csX0" fmla="*/ 0 w 6704"/>
                  <a:gd name="csY0" fmla="*/ 0 h 221021"/>
                  <a:gd name="csX1" fmla="*/ 0 w 6704"/>
                  <a:gd name="csY1" fmla="*/ 221021 h 2210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221021">
                    <a:moveTo>
                      <a:pt x="0" y="0"/>
                    </a:moveTo>
                    <a:lnTo>
                      <a:pt x="0" y="221021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82" name="圆角矩形 181"/>
              <p:cNvSpPr/>
              <p:nvPr/>
            </p:nvSpPr>
            <p:spPr>
              <a:xfrm>
                <a:off x="1214064" y="4679070"/>
                <a:ext cx="1475042" cy="401856"/>
              </a:xfrm>
              <a:prstGeom prst="roundRect">
                <a:avLst>
                  <a:gd name="adj" fmla="val 13347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3" name="文本框 182"/>
              <p:cNvSpPr txBox="1"/>
              <p:nvPr/>
            </p:nvSpPr>
            <p:spPr>
              <a:xfrm>
                <a:off x="1213755" y="4690056"/>
                <a:ext cx="1510971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Structure</a:t>
                </a:r>
                <a:r>
                  <a:rPr lang="zh-CN" altLang="en-US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Feature</a:t>
                </a:r>
                <a:r>
                  <a:rPr lang="zh-CN" altLang="en-US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7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Extraction</a:t>
                </a:r>
                <a:endParaRPr lang="zh-CN" altLang="en-US" sz="7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6" name="任意形状 185"/>
              <p:cNvSpPr/>
              <p:nvPr/>
            </p:nvSpPr>
            <p:spPr>
              <a:xfrm>
                <a:off x="1950078" y="5079961"/>
                <a:ext cx="6704" cy="174137"/>
              </a:xfrm>
              <a:custGeom>
                <a:avLst/>
                <a:gdLst>
                  <a:gd name="csX0" fmla="*/ 0 w 6704"/>
                  <a:gd name="csY0" fmla="*/ 0 h 174137"/>
                  <a:gd name="csX1" fmla="*/ 0 w 6704"/>
                  <a:gd name="csY1" fmla="*/ 174138 h 174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74137">
                    <a:moveTo>
                      <a:pt x="0" y="0"/>
                    </a:moveTo>
                    <a:lnTo>
                      <a:pt x="0" y="174138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7" name="圆角矩形 186"/>
              <p:cNvSpPr/>
              <p:nvPr/>
            </p:nvSpPr>
            <p:spPr>
              <a:xfrm>
                <a:off x="1214064" y="5267494"/>
                <a:ext cx="1475042" cy="549204"/>
              </a:xfrm>
              <a:prstGeom prst="roundRect">
                <a:avLst>
                  <a:gd name="adj" fmla="val 9766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88" name="文本框 187"/>
              <p:cNvSpPr txBox="1"/>
              <p:nvPr/>
            </p:nvSpPr>
            <p:spPr>
              <a:xfrm>
                <a:off x="1647115" y="5406857"/>
                <a:ext cx="97494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Budget</a:t>
                </a:r>
                <a:r>
                  <a:rPr lang="zh-CN" altLang="en-US" sz="800" b="1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800" b="1" spc="0" baseline="0" dirty="0" err="1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Alocation</a:t>
                </a:r>
                <a:endPara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0" name="文本框 189"/>
              <p:cNvSpPr txBox="1"/>
              <p:nvPr/>
            </p:nvSpPr>
            <p:spPr>
              <a:xfrm>
                <a:off x="1575996" y="5571316"/>
                <a:ext cx="534121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5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</a:t>
                </a:r>
                <a:r>
                  <a:rPr lang="zh-CN" altLang="en-US" sz="5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50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= </a:t>
                </a:r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π</a:t>
                </a:r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(x</a:t>
                </a:r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，</a:t>
                </a:r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P)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191" name="图形 4"/>
            <p:cNvGrpSpPr/>
            <p:nvPr/>
          </p:nvGrpSpPr>
          <p:grpSpPr>
            <a:xfrm>
              <a:off x="3204586" y="3526115"/>
              <a:ext cx="3434497" cy="2581269"/>
              <a:chOff x="3204586" y="3526115"/>
              <a:chExt cx="3434497" cy="2581269"/>
            </a:xfrm>
          </p:grpSpPr>
          <p:sp>
            <p:nvSpPr>
              <p:cNvPr id="192" name="圆角矩形 191"/>
              <p:cNvSpPr/>
              <p:nvPr/>
            </p:nvSpPr>
            <p:spPr>
              <a:xfrm>
                <a:off x="3204586" y="3526115"/>
                <a:ext cx="3434497" cy="2581269"/>
              </a:xfrm>
              <a:prstGeom prst="roundRect">
                <a:avLst>
                  <a:gd name="adj" fmla="val 3696"/>
                </a:avLst>
              </a:prstGeom>
              <a:solidFill>
                <a:srgbClr val="F7FBF4"/>
              </a:solidFill>
              <a:ln w="9379" cap="flat">
                <a:solidFill>
                  <a:srgbClr val="A5CF78"/>
                </a:solidFill>
                <a:prstDash val="solid"/>
                <a:miter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193" name="圆角矩形 192"/>
              <p:cNvSpPr/>
              <p:nvPr/>
            </p:nvSpPr>
            <p:spPr>
              <a:xfrm>
                <a:off x="3481151" y="3606486"/>
                <a:ext cx="3057361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94" name="椭圆 193"/>
              <p:cNvSpPr/>
              <p:nvPr/>
            </p:nvSpPr>
            <p:spPr>
              <a:xfrm>
                <a:off x="3494561" y="3629928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3470168" y="3622667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2</a:t>
                </a:r>
                <a:endParaRPr lang="zh-CN" altLang="en-US" sz="900" b="1" spc="0" baseline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3793228" y="3603303"/>
                <a:ext cx="274305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Budgeted VeriEQL Verification</a:t>
                </a:r>
                <a:endParaRPr lang="zh-CN" altLang="en-US" sz="10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7" name="圆角矩形 196"/>
              <p:cNvSpPr/>
              <p:nvPr/>
            </p:nvSpPr>
            <p:spPr>
              <a:xfrm>
                <a:off x="3494561" y="3946358"/>
                <a:ext cx="703997" cy="1980260"/>
              </a:xfrm>
              <a:prstGeom prst="roundRect">
                <a:avLst>
                  <a:gd name="adj" fmla="val 7619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01" name="文本框 200"/>
              <p:cNvSpPr txBox="1"/>
              <p:nvPr/>
            </p:nvSpPr>
            <p:spPr>
              <a:xfrm>
                <a:off x="3779993" y="4019320"/>
                <a:ext cx="26321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Q₁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3779993" y="4364435"/>
                <a:ext cx="26321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Q₂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3714347" y="4752730"/>
                <a:ext cx="42672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Schema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3677341" y="5112403"/>
                <a:ext cx="53572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Bound = Bₜ</a:t>
                </a:r>
                <a:endParaRPr lang="zh-CN" altLang="en-US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3721412" y="5436818"/>
                <a:ext cx="5036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spc="0" baseline="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Integrity</a:t>
                </a:r>
                <a:endParaRPr lang="en-US" altLang="zh-CN" sz="6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  <a:p>
                <a:r>
                  <a:rPr lang="zh-CN" altLang="en-US" sz="600" dirty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Constraint</a:t>
                </a:r>
                <a:endParaRPr lang="zh-CN" altLang="en-US" sz="6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7" name="任意形状 216"/>
              <p:cNvSpPr/>
              <p:nvPr/>
            </p:nvSpPr>
            <p:spPr>
              <a:xfrm>
                <a:off x="4198558" y="4953897"/>
                <a:ext cx="174323" cy="6697"/>
              </a:xfrm>
              <a:custGeom>
                <a:avLst/>
                <a:gdLst>
                  <a:gd name="csX0" fmla="*/ 0 w 174323"/>
                  <a:gd name="csY0" fmla="*/ 0 h 6697"/>
                  <a:gd name="csX1" fmla="*/ 174323 w 174323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4323" h="6697">
                    <a:moveTo>
                      <a:pt x="0" y="0"/>
                    </a:moveTo>
                    <a:lnTo>
                      <a:pt x="174323" y="0"/>
                    </a:lnTo>
                  </a:path>
                </a:pathLst>
              </a:custGeom>
              <a:ln w="13399" cap="rnd">
                <a:solidFill>
                  <a:srgbClr val="222222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18" name="圆角矩形 217"/>
              <p:cNvSpPr/>
              <p:nvPr/>
            </p:nvSpPr>
            <p:spPr>
              <a:xfrm>
                <a:off x="4366177" y="3951824"/>
                <a:ext cx="1407994" cy="1980870"/>
              </a:xfrm>
              <a:prstGeom prst="roundRect">
                <a:avLst>
                  <a:gd name="adj" fmla="val 3809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4558208" y="3981718"/>
                <a:ext cx="120898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VeriEQL Verifier</a:t>
                </a:r>
                <a:endParaRPr lang="zh-CN" altLang="en-US" sz="10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0" name="文本框 219"/>
              <p:cNvSpPr txBox="1"/>
              <p:nvPr/>
            </p:nvSpPr>
            <p:spPr>
              <a:xfrm>
                <a:off x="4574387" y="4145512"/>
                <a:ext cx="118333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700" dirty="0">
                    <a:solidFill>
                      <a:srgbClr val="444444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online bounded verification</a:t>
                </a:r>
                <a:endParaRPr lang="zh-CN" altLang="en-US" sz="700" dirty="0">
                  <a:solidFill>
                    <a:srgbClr val="44444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2" name="圆角矩形 221"/>
              <p:cNvSpPr/>
              <p:nvPr/>
            </p:nvSpPr>
            <p:spPr>
              <a:xfrm>
                <a:off x="4500941" y="4541580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3" name="文本框 222"/>
              <p:cNvSpPr txBox="1"/>
              <p:nvPr/>
            </p:nvSpPr>
            <p:spPr>
              <a:xfrm>
                <a:off x="4595079" y="4558192"/>
                <a:ext cx="808235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Symbolic DB Generator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4" name="任意形状 223"/>
              <p:cNvSpPr/>
              <p:nvPr/>
            </p:nvSpPr>
            <p:spPr>
              <a:xfrm>
                <a:off x="5070174" y="4775806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333333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5" name="圆角矩形 224"/>
              <p:cNvSpPr/>
              <p:nvPr/>
            </p:nvSpPr>
            <p:spPr>
              <a:xfrm>
                <a:off x="4500941" y="4856367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6" name="文本框 225"/>
              <p:cNvSpPr txBox="1"/>
              <p:nvPr/>
            </p:nvSpPr>
            <p:spPr>
              <a:xfrm>
                <a:off x="4741497" y="4872980"/>
                <a:ext cx="574196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Query Encoder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7" name="任意形状 226"/>
              <p:cNvSpPr/>
              <p:nvPr/>
            </p:nvSpPr>
            <p:spPr>
              <a:xfrm>
                <a:off x="5070174" y="5086685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333333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8" name="圆角矩形 227"/>
              <p:cNvSpPr/>
              <p:nvPr/>
            </p:nvSpPr>
            <p:spPr>
              <a:xfrm>
                <a:off x="4500941" y="5171155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>
                <a:off x="4705727" y="5187767"/>
                <a:ext cx="631904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Equality Checker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30" name="任意形状 229"/>
              <p:cNvSpPr/>
              <p:nvPr/>
            </p:nvSpPr>
            <p:spPr>
              <a:xfrm>
                <a:off x="5070174" y="5381935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333333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31" name="圆角矩形 230"/>
              <p:cNvSpPr/>
              <p:nvPr/>
            </p:nvSpPr>
            <p:spPr>
              <a:xfrm>
                <a:off x="4500941" y="5485943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32" name="文本框 231"/>
              <p:cNvSpPr txBox="1"/>
              <p:nvPr/>
            </p:nvSpPr>
            <p:spPr>
              <a:xfrm>
                <a:off x="4703409" y="5502555"/>
                <a:ext cx="635110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Constraint Solver</a:t>
                </a:r>
                <a:endParaRPr lang="zh-CN" altLang="en-US" sz="500" spc="0" baseline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33" name="任意形状 232"/>
              <p:cNvSpPr/>
              <p:nvPr/>
            </p:nvSpPr>
            <p:spPr>
              <a:xfrm>
                <a:off x="5774172" y="4343223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23954B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34" name="圆角矩形 233"/>
              <p:cNvSpPr/>
              <p:nvPr/>
            </p:nvSpPr>
            <p:spPr>
              <a:xfrm>
                <a:off x="5921676" y="4061924"/>
                <a:ext cx="616835" cy="575994"/>
              </a:xfrm>
              <a:prstGeom prst="roundRect">
                <a:avLst>
                  <a:gd name="adj" fmla="val 9312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38" name="文本框 237"/>
              <p:cNvSpPr txBox="1"/>
              <p:nvPr/>
            </p:nvSpPr>
            <p:spPr>
              <a:xfrm>
                <a:off x="5965919" y="4431661"/>
                <a:ext cx="572593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6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Determined</a:t>
                </a:r>
                <a:endParaRPr lang="zh-CN" altLang="en-US" sz="6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41" name="任意形状 240"/>
              <p:cNvSpPr/>
              <p:nvPr/>
            </p:nvSpPr>
            <p:spPr>
              <a:xfrm>
                <a:off x="5774172" y="5086658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DF8127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42" name="圆角矩形 241"/>
              <p:cNvSpPr/>
              <p:nvPr/>
            </p:nvSpPr>
            <p:spPr>
              <a:xfrm>
                <a:off x="5921676" y="4805359"/>
                <a:ext cx="616835" cy="629575"/>
              </a:xfrm>
              <a:prstGeom prst="roundRect">
                <a:avLst>
                  <a:gd name="adj" fmla="val 8695"/>
                </a:avLst>
              </a:prstGeom>
              <a:solidFill>
                <a:srgbClr val="FFFFFF"/>
              </a:solidFill>
              <a:ln w="7369" cap="flat">
                <a:solidFill>
                  <a:srgbClr val="E8AA6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46" name="文本框 245"/>
              <p:cNvSpPr txBox="1"/>
              <p:nvPr/>
            </p:nvSpPr>
            <p:spPr>
              <a:xfrm>
                <a:off x="5906608" y="5180594"/>
                <a:ext cx="631904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b="1" spc="0" baseline="0" dirty="0">
                    <a:solidFill>
                      <a:srgbClr val="DB7B24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Non-determined</a:t>
                </a:r>
                <a:endParaRPr lang="zh-CN" altLang="en-US" sz="500" b="1" dirty="0">
                  <a:solidFill>
                    <a:srgbClr val="DB7B24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283" name="图形 4"/>
            <p:cNvGrpSpPr/>
            <p:nvPr/>
          </p:nvGrpSpPr>
          <p:grpSpPr>
            <a:xfrm>
              <a:off x="9186883" y="3526115"/>
              <a:ext cx="2052954" cy="2573520"/>
              <a:chOff x="9186883" y="3526115"/>
              <a:chExt cx="2052954" cy="2573520"/>
            </a:xfrm>
          </p:grpSpPr>
          <p:sp>
            <p:nvSpPr>
              <p:cNvPr id="284" name="圆角矩形 283"/>
              <p:cNvSpPr/>
              <p:nvPr/>
            </p:nvSpPr>
            <p:spPr>
              <a:xfrm>
                <a:off x="9186883" y="3526115"/>
                <a:ext cx="1994427" cy="2573520"/>
              </a:xfrm>
              <a:prstGeom prst="roundRect">
                <a:avLst>
                  <a:gd name="adj" fmla="val 4210"/>
                </a:avLst>
              </a:prstGeom>
              <a:solidFill>
                <a:srgbClr val="F6F6F6"/>
              </a:solidFill>
              <a:ln w="937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85" name="圆角矩形 284"/>
              <p:cNvSpPr/>
              <p:nvPr/>
            </p:nvSpPr>
            <p:spPr>
              <a:xfrm>
                <a:off x="9254252" y="3606486"/>
                <a:ext cx="1877360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E7E7"/>
              </a:solidFill>
              <a:ln w="803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86" name="椭圆 285"/>
              <p:cNvSpPr/>
              <p:nvPr/>
            </p:nvSpPr>
            <p:spPr>
              <a:xfrm>
                <a:off x="9254251" y="3647290"/>
                <a:ext cx="187732" cy="187533"/>
              </a:xfrm>
              <a:prstGeom prst="ellipse">
                <a:avLst/>
              </a:prstGeom>
              <a:solidFill>
                <a:srgbClr val="6D6D6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287" name="文本框 286"/>
              <p:cNvSpPr txBox="1"/>
              <p:nvPr/>
            </p:nvSpPr>
            <p:spPr>
              <a:xfrm>
                <a:off x="9277747" y="3622667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solidFill>
                      <a:srgbClr val="FFFFF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4</a:t>
                </a:r>
                <a:endParaRPr lang="zh-CN" altLang="en-US" sz="9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8" name="文本框 287"/>
              <p:cNvSpPr txBox="1"/>
              <p:nvPr/>
            </p:nvSpPr>
            <p:spPr>
              <a:xfrm>
                <a:off x="9488041" y="3603303"/>
                <a:ext cx="175179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000" b="1" spc="0" baseline="0" dirty="0">
                    <a:solidFill>
                      <a:srgbClr val="66666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Source-aware Final Outputs</a:t>
                </a:r>
                <a:endParaRPr lang="zh-CN" altLang="en-US" sz="1000" b="1" spc="0" baseline="0" dirty="0">
                  <a:solidFill>
                    <a:srgbClr val="66666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9" name="圆角矩形 288"/>
              <p:cNvSpPr/>
              <p:nvPr/>
            </p:nvSpPr>
            <p:spPr>
              <a:xfrm>
                <a:off x="9516691" y="4209271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293" name="文本框 292"/>
              <p:cNvSpPr txBox="1"/>
              <p:nvPr/>
            </p:nvSpPr>
            <p:spPr>
              <a:xfrm>
                <a:off x="10097376" y="4264544"/>
                <a:ext cx="50847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b="1" spc="0" baseline="0" dirty="0">
                    <a:solidFill>
                      <a:srgbClr val="4D8D2F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Formal</a:t>
                </a:r>
                <a:endParaRPr lang="zh-CN" altLang="en-US" sz="800" b="1" spc="0" baseline="0" dirty="0">
                  <a:solidFill>
                    <a:srgbClr val="4D8D2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9996421" y="4436798"/>
                <a:ext cx="667170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From</a:t>
                </a:r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 formal result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6" name="圆角矩形 295"/>
              <p:cNvSpPr/>
              <p:nvPr/>
            </p:nvSpPr>
            <p:spPr>
              <a:xfrm>
                <a:off x="9516691" y="4832149"/>
                <a:ext cx="1448223" cy="488925"/>
              </a:xfrm>
              <a:prstGeom prst="roundRect">
                <a:avLst>
                  <a:gd name="adj" fmla="val 10970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309" name="任意形状 308"/>
              <p:cNvSpPr/>
              <p:nvPr/>
            </p:nvSpPr>
            <p:spPr>
              <a:xfrm>
                <a:off x="9875852" y="5136247"/>
                <a:ext cx="54013" cy="40721"/>
              </a:xfrm>
              <a:custGeom>
                <a:avLst/>
                <a:gdLst>
                  <a:gd name="csX0" fmla="*/ 1283 w 54013"/>
                  <a:gd name="csY0" fmla="*/ 22564 h 40721"/>
                  <a:gd name="csX1" fmla="*/ 19628 w 54013"/>
                  <a:gd name="csY1" fmla="*/ 41398 h 40721"/>
                  <a:gd name="csX2" fmla="*/ 55297 w 54013"/>
                  <a:gd name="csY2" fmla="*/ 677 h 407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4013" h="40721">
                    <a:moveTo>
                      <a:pt x="1283" y="22564"/>
                    </a:moveTo>
                    <a:lnTo>
                      <a:pt x="19628" y="41398"/>
                    </a:lnTo>
                    <a:lnTo>
                      <a:pt x="55297" y="677"/>
                    </a:lnTo>
                  </a:path>
                </a:pathLst>
              </a:custGeom>
              <a:noFill/>
              <a:ln w="14256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100"/>
              </a:p>
            </p:txBody>
          </p:sp>
          <p:sp>
            <p:nvSpPr>
              <p:cNvPr id="310" name="文本框 309"/>
              <p:cNvSpPr txBox="1"/>
              <p:nvPr/>
            </p:nvSpPr>
            <p:spPr>
              <a:xfrm>
                <a:off x="9994411" y="4900817"/>
                <a:ext cx="82266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>
                    <a:solidFill>
                      <a:srgbClr val="111111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model-assisted</a:t>
                </a:r>
                <a:endParaRPr lang="zh-CN" altLang="en-US" sz="800" b="1" spc="0" baseline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1" name="文本框 310"/>
              <p:cNvSpPr txBox="1"/>
              <p:nvPr/>
            </p:nvSpPr>
            <p:spPr>
              <a:xfrm>
                <a:off x="10011259" y="5071488"/>
                <a:ext cx="611065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from model </a:t>
                </a:r>
                <a:r>
                  <a:rPr lang="en-US" altLang="zh-CN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vote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3" name="圆角矩形 312"/>
              <p:cNvSpPr/>
              <p:nvPr/>
            </p:nvSpPr>
            <p:spPr>
              <a:xfrm>
                <a:off x="9516691" y="5468422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C9C9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100" dirty="0"/>
              </a:p>
            </p:txBody>
          </p:sp>
          <p:sp>
            <p:nvSpPr>
              <p:cNvPr id="317" name="文本框 316"/>
              <p:cNvSpPr txBox="1"/>
              <p:nvPr/>
            </p:nvSpPr>
            <p:spPr>
              <a:xfrm>
                <a:off x="10056813" y="5530392"/>
                <a:ext cx="60625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b="1" spc="0" baseline="0">
                    <a:solidFill>
                      <a:srgbClr val="666666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uncertain</a:t>
                </a:r>
                <a:endParaRPr lang="zh-CN" altLang="en-US" sz="800" b="1" spc="0" baseline="0">
                  <a:solidFill>
                    <a:srgbClr val="666666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8" name="文本框 317"/>
              <p:cNvSpPr txBox="1"/>
              <p:nvPr/>
            </p:nvSpPr>
            <p:spPr>
              <a:xfrm>
                <a:off x="9966880" y="5699080"/>
                <a:ext cx="878767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500" spc="0" baseline="0" dirty="0">
                    <a:solidFill>
                      <a:srgbClr val="222222"/>
                    </a:solidFill>
                    <a:latin typeface="Times New Roman" panose="02020603050405020304"/>
                    <a:cs typeface="Times New Roman" panose="02020603050405020304"/>
                    <a:sym typeface="Times New Roman" panose="02020603050405020304"/>
                    <a:rtl val="0"/>
                  </a:rPr>
                  <a:t>no stable completion result</a:t>
                </a:r>
                <a:endParaRPr lang="zh-CN" altLang="en-US" sz="500" spc="0" baseline="0" dirty="0">
                  <a:solidFill>
                    <a:srgbClr val="222222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319" name="任意形状 318"/>
            <p:cNvSpPr/>
            <p:nvPr/>
          </p:nvSpPr>
          <p:spPr>
            <a:xfrm>
              <a:off x="2695134" y="5542096"/>
              <a:ext cx="336824" cy="45719"/>
            </a:xfrm>
            <a:custGeom>
              <a:avLst/>
              <a:gdLst>
                <a:gd name="csX0" fmla="*/ 0 w 750930"/>
                <a:gd name="csY0" fmla="*/ 0 h 6697"/>
                <a:gd name="csX1" fmla="*/ 750931 w 750930"/>
                <a:gd name="csY1" fmla="*/ 0 h 6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50930" h="6697">
                  <a:moveTo>
                    <a:pt x="0" y="0"/>
                  </a:moveTo>
                  <a:lnTo>
                    <a:pt x="750931" y="0"/>
                  </a:lnTo>
                </a:path>
              </a:pathLst>
            </a:custGeom>
            <a:ln w="13399" cap="rnd">
              <a:solidFill>
                <a:srgbClr val="222222"/>
              </a:solidFill>
              <a:prstDash val="solid"/>
              <a:round/>
              <a:tailEnd type="stealth"/>
            </a:ln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320" name="文本框 319"/>
            <p:cNvSpPr txBox="1"/>
            <p:nvPr/>
          </p:nvSpPr>
          <p:spPr>
            <a:xfrm>
              <a:off x="2689106" y="5301521"/>
              <a:ext cx="39305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 dirty="0">
                  <a:solidFill>
                    <a:srgbClr val="00000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budget</a:t>
              </a:r>
              <a:endParaRPr lang="zh-CN" altLang="en-US" sz="600" i="1" spc="0" baseline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2758035" y="5390422"/>
              <a:ext cx="24397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0" i="1" spc="0" baseline="0">
                  <a:solidFill>
                    <a:srgbClr val="000000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Bₜ</a:t>
              </a:r>
              <a:endParaRPr lang="zh-CN" altLang="en-US" sz="600" i="1" spc="0" baseline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324" name="任意形状 323"/>
            <p:cNvSpPr/>
            <p:nvPr/>
          </p:nvSpPr>
          <p:spPr>
            <a:xfrm>
              <a:off x="8756369" y="5059869"/>
              <a:ext cx="522969" cy="6697"/>
            </a:xfrm>
            <a:custGeom>
              <a:avLst/>
              <a:gdLst>
                <a:gd name="csX0" fmla="*/ 0 w 522969"/>
                <a:gd name="csY0" fmla="*/ 0 h 6697"/>
                <a:gd name="csX1" fmla="*/ 522970 w 522969"/>
                <a:gd name="csY1" fmla="*/ 0 h 6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22969" h="6697">
                  <a:moveTo>
                    <a:pt x="0" y="0"/>
                  </a:moveTo>
                  <a:lnTo>
                    <a:pt x="522970" y="0"/>
                  </a:lnTo>
                </a:path>
              </a:pathLst>
            </a:custGeom>
            <a:ln w="13399" cap="rnd">
              <a:solidFill>
                <a:srgbClr val="222222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100"/>
            </a:p>
          </p:txBody>
        </p:sp>
        <p:sp>
          <p:nvSpPr>
            <p:cNvPr id="325" name="任意形状 324"/>
            <p:cNvSpPr/>
            <p:nvPr/>
          </p:nvSpPr>
          <p:spPr>
            <a:xfrm>
              <a:off x="8958116" y="5602284"/>
              <a:ext cx="522969" cy="80371"/>
            </a:xfrm>
            <a:custGeom>
              <a:avLst/>
              <a:gdLst>
                <a:gd name="csX0" fmla="*/ 0 w 522969"/>
                <a:gd name="csY0" fmla="*/ 0 h 80371"/>
                <a:gd name="csX1" fmla="*/ 254780 w 522969"/>
                <a:gd name="csY1" fmla="*/ 0 h 80371"/>
                <a:gd name="csX2" fmla="*/ 254780 w 522969"/>
                <a:gd name="csY2" fmla="*/ 80371 h 80371"/>
                <a:gd name="csX3" fmla="*/ 522970 w 522969"/>
                <a:gd name="csY3" fmla="*/ 80371 h 803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2969" h="80371">
                  <a:moveTo>
                    <a:pt x="0" y="0"/>
                  </a:moveTo>
                  <a:lnTo>
                    <a:pt x="254780" y="0"/>
                  </a:lnTo>
                  <a:lnTo>
                    <a:pt x="254780" y="80371"/>
                  </a:lnTo>
                  <a:lnTo>
                    <a:pt x="522970" y="80371"/>
                  </a:lnTo>
                </a:path>
              </a:pathLst>
            </a:custGeom>
            <a:noFill/>
            <a:ln w="13399" cap="rnd">
              <a:solidFill>
                <a:srgbClr val="666666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100"/>
            </a:p>
          </p:txBody>
        </p:sp>
      </p:grpSp>
      <p:sp>
        <p:nvSpPr>
          <p:cNvPr id="330" name="圆角矩形 329"/>
          <p:cNvSpPr/>
          <p:nvPr/>
        </p:nvSpPr>
        <p:spPr>
          <a:xfrm>
            <a:off x="2084107" y="2298247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accent6">
              <a:lumMod val="20000"/>
              <a:lumOff val="80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100"/>
          </a:p>
        </p:txBody>
      </p:sp>
      <p:sp>
        <p:nvSpPr>
          <p:cNvPr id="332" name="文本框 331"/>
          <p:cNvSpPr txBox="1"/>
          <p:nvPr/>
        </p:nvSpPr>
        <p:spPr>
          <a:xfrm>
            <a:off x="2236738" y="2254467"/>
            <a:ext cx="5020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 spc="0" baseline="0" dirty="0">
                <a:solidFill>
                  <a:srgbClr val="7A4D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equivalent</a:t>
            </a:r>
            <a:endParaRPr lang="zh-CN" altLang="en-US" sz="500" spc="0" baseline="0" dirty="0">
              <a:solidFill>
                <a:srgbClr val="7A4DC6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2084105" y="2440731"/>
            <a:ext cx="757635" cy="105864"/>
          </a:xfrm>
          <a:prstGeom prst="roundRect">
            <a:avLst>
              <a:gd name="adj" fmla="val 14598"/>
            </a:avLst>
          </a:prstGeom>
          <a:solidFill>
            <a:srgbClr val="FCE6CB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100"/>
          </a:p>
        </p:txBody>
      </p:sp>
      <p:sp>
        <p:nvSpPr>
          <p:cNvPr id="334" name="圆角矩形 333"/>
          <p:cNvSpPr/>
          <p:nvPr/>
        </p:nvSpPr>
        <p:spPr>
          <a:xfrm>
            <a:off x="2084105" y="2584753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bg1">
              <a:lumMod val="85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100"/>
          </a:p>
        </p:txBody>
      </p:sp>
      <p:sp>
        <p:nvSpPr>
          <p:cNvPr id="335" name="文本框 334"/>
          <p:cNvSpPr txBox="1"/>
          <p:nvPr/>
        </p:nvSpPr>
        <p:spPr>
          <a:xfrm>
            <a:off x="2167809" y="2412436"/>
            <a:ext cx="67197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 spc="0" baseline="0" dirty="0">
                <a:solidFill>
                  <a:srgbClr val="7A4D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counterexample</a:t>
            </a:r>
            <a:endParaRPr lang="zh-CN" altLang="en-US" sz="600" spc="0" baseline="0" dirty="0">
              <a:solidFill>
                <a:srgbClr val="7A4DC6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2167809" y="2553292"/>
            <a:ext cx="6687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600" dirty="0">
                <a:solidFill>
                  <a:srgbClr val="7A4DC6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non-determined</a:t>
            </a:r>
            <a:endParaRPr lang="zh-CN" altLang="en-US" sz="500" spc="0" baseline="0" dirty="0">
              <a:solidFill>
                <a:srgbClr val="7A4DC6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pic>
        <p:nvPicPr>
          <p:cNvPr id="613" name="图形 6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4322" y="2018906"/>
            <a:ext cx="237200" cy="237200"/>
          </a:xfrm>
          <a:prstGeom prst="rect">
            <a:avLst/>
          </a:prstGeom>
        </p:spPr>
      </p:pic>
      <p:pic>
        <p:nvPicPr>
          <p:cNvPr id="615" name="图形 6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875" y="2026372"/>
            <a:ext cx="269555" cy="229734"/>
          </a:xfrm>
          <a:prstGeom prst="rect">
            <a:avLst/>
          </a:prstGeom>
        </p:spPr>
      </p:pic>
      <p:pic>
        <p:nvPicPr>
          <p:cNvPr id="617" name="图形 6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0873" y="2048606"/>
            <a:ext cx="217580" cy="243690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3433" y="1789308"/>
            <a:ext cx="208671" cy="189701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2622" y="1767953"/>
            <a:ext cx="208672" cy="20867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6496" y="2502927"/>
            <a:ext cx="217755" cy="21775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469090" y="4903985"/>
            <a:ext cx="86433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Extract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x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form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S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，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q</a:t>
            </a:r>
            <a:r>
              <a:rPr lang="en-US" altLang="zh-CN" sz="500" spc="0" baseline="-250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1</a:t>
            </a:r>
            <a:r>
              <a:rPr lang="zh-CN" altLang="en-US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，</a:t>
            </a:r>
            <a:r>
              <a:rPr lang="en-US" altLang="zh-CN" sz="5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q</a:t>
            </a:r>
            <a:r>
              <a:rPr lang="en-US" altLang="zh-CN" sz="500" spc="0" baseline="-250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2</a:t>
            </a:r>
            <a:endParaRPr lang="zh-CN" altLang="en-US" sz="500" spc="0" baseline="-25000" dirty="0">
              <a:solidFill>
                <a:srgbClr val="222222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0577" y="5616700"/>
            <a:ext cx="142986" cy="142986"/>
          </a:xfrm>
          <a:prstGeom prst="rect">
            <a:avLst/>
          </a:prstGeom>
        </p:spPr>
      </p:pic>
      <p:grpSp>
        <p:nvGrpSpPr>
          <p:cNvPr id="579" name="图形 4"/>
          <p:cNvGrpSpPr/>
          <p:nvPr/>
        </p:nvGrpSpPr>
        <p:grpSpPr>
          <a:xfrm>
            <a:off x="6769646" y="3541248"/>
            <a:ext cx="2302530" cy="2598035"/>
            <a:chOff x="7381834" y="3709002"/>
            <a:chExt cx="2375874" cy="2694913"/>
          </a:xfrm>
        </p:grpSpPr>
        <p:sp>
          <p:nvSpPr>
            <p:cNvPr id="580" name="圆角矩形 579"/>
            <p:cNvSpPr/>
            <p:nvPr/>
          </p:nvSpPr>
          <p:spPr>
            <a:xfrm>
              <a:off x="7381834" y="3709002"/>
              <a:ext cx="2375874" cy="2694913"/>
            </a:xfrm>
            <a:prstGeom prst="roundRect">
              <a:avLst>
                <a:gd name="adj" fmla="val 3888"/>
              </a:avLst>
            </a:prstGeom>
            <a:solidFill>
              <a:srgbClr val="FFF8F1"/>
            </a:solidFill>
            <a:ln w="13194" cap="flat">
              <a:solidFill>
                <a:srgbClr val="EDC39A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81" name="圆角矩形 580"/>
            <p:cNvSpPr/>
            <p:nvPr/>
          </p:nvSpPr>
          <p:spPr>
            <a:xfrm>
              <a:off x="7487428" y="3768400"/>
              <a:ext cx="2166422" cy="250786"/>
            </a:xfrm>
            <a:prstGeom prst="roundRect">
              <a:avLst>
                <a:gd name="adj" fmla="val 26315"/>
              </a:avLst>
            </a:prstGeom>
            <a:solidFill>
              <a:srgbClr val="FCE6D0"/>
            </a:solidFill>
            <a:ln w="13194" cap="flat">
              <a:solidFill>
                <a:srgbClr val="EDC39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82" name="椭圆 581"/>
            <p:cNvSpPr/>
            <p:nvPr/>
          </p:nvSpPr>
          <p:spPr>
            <a:xfrm>
              <a:off x="7529713" y="3783965"/>
              <a:ext cx="224388" cy="224388"/>
            </a:xfrm>
            <a:prstGeom prst="ellipse">
              <a:avLst/>
            </a:prstGeom>
            <a:solidFill>
              <a:srgbClr val="D88437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83" name="文本框 582"/>
            <p:cNvSpPr txBox="1"/>
            <p:nvPr/>
          </p:nvSpPr>
          <p:spPr>
            <a:xfrm>
              <a:off x="7527573" y="3772416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b="1" spc="0" baseline="0" dirty="0">
                  <a:solidFill>
                    <a:srgbClr val="FFFFFF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3</a:t>
              </a:r>
              <a:endParaRPr lang="zh-CN" altLang="en-US" sz="1000" b="1" spc="0" baseline="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4" name="文本框 583"/>
            <p:cNvSpPr txBox="1"/>
            <p:nvPr/>
          </p:nvSpPr>
          <p:spPr>
            <a:xfrm>
              <a:off x="7754029" y="3757979"/>
              <a:ext cx="18909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spc="0" baseline="0" dirty="0">
                  <a:solidFill>
                    <a:srgbClr val="EE7519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Status-aware </a:t>
              </a:r>
              <a:r>
                <a:rPr lang="en-US" altLang="zh-CN" sz="1000" b="1" spc="0" baseline="0" dirty="0">
                  <a:solidFill>
                    <a:srgbClr val="EE7519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Completion</a:t>
              </a:r>
              <a:endParaRPr lang="zh-CN" altLang="en-US" sz="1000" b="1" spc="0" baseline="0" dirty="0">
                <a:solidFill>
                  <a:srgbClr val="EE7519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5" name="圆角矩形 584"/>
            <p:cNvSpPr/>
            <p:nvPr/>
          </p:nvSpPr>
          <p:spPr>
            <a:xfrm>
              <a:off x="7527026" y="417097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586" name="图形 4"/>
            <p:cNvGrpSpPr/>
            <p:nvPr/>
          </p:nvGrpSpPr>
          <p:grpSpPr>
            <a:xfrm>
              <a:off x="7686738" y="4297692"/>
              <a:ext cx="147304" cy="147304"/>
              <a:chOff x="7686738" y="4297692"/>
              <a:chExt cx="147304" cy="147304"/>
            </a:xfrm>
            <a:solidFill>
              <a:srgbClr val="000000"/>
            </a:solidFill>
          </p:grpSpPr>
          <p:sp>
            <p:nvSpPr>
              <p:cNvPr id="624" name="椭圆 623"/>
              <p:cNvSpPr/>
              <p:nvPr/>
            </p:nvSpPr>
            <p:spPr>
              <a:xfrm>
                <a:off x="7686738" y="4297692"/>
                <a:ext cx="147304" cy="147304"/>
              </a:xfrm>
              <a:prstGeom prst="ellipse">
                <a:avLst/>
              </a:prstGeom>
              <a:noFill/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5" name="任意形状 624"/>
              <p:cNvSpPr/>
              <p:nvPr/>
            </p:nvSpPr>
            <p:spPr>
              <a:xfrm>
                <a:off x="7760390" y="4322243"/>
                <a:ext cx="6599" cy="49101"/>
              </a:xfrm>
              <a:custGeom>
                <a:avLst/>
                <a:gdLst>
                  <a:gd name="csX0" fmla="*/ 1087 w 6599"/>
                  <a:gd name="csY0" fmla="*/ 49738 h 49101"/>
                  <a:gd name="csX1" fmla="*/ 1087 w 6599"/>
                  <a:gd name="csY1" fmla="*/ 637 h 491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49101">
                    <a:moveTo>
                      <a:pt x="1087" y="49738"/>
                    </a:moveTo>
                    <a:lnTo>
                      <a:pt x="1087" y="637"/>
                    </a:lnTo>
                  </a:path>
                </a:pathLst>
              </a:custGeom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6" name="任意形状 625"/>
              <p:cNvSpPr/>
              <p:nvPr/>
            </p:nvSpPr>
            <p:spPr>
              <a:xfrm>
                <a:off x="7760390" y="4346794"/>
                <a:ext cx="36826" cy="24550"/>
              </a:xfrm>
              <a:custGeom>
                <a:avLst/>
                <a:gdLst>
                  <a:gd name="csX0" fmla="*/ 1086 w 36826"/>
                  <a:gd name="csY0" fmla="*/ 25186 h 24550"/>
                  <a:gd name="csX1" fmla="*/ 37912 w 36826"/>
                  <a:gd name="csY1" fmla="*/ 636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826" h="24550">
                    <a:moveTo>
                      <a:pt x="1086" y="25186"/>
                    </a:moveTo>
                    <a:lnTo>
                      <a:pt x="37912" y="636"/>
                    </a:lnTo>
                  </a:path>
                </a:pathLst>
              </a:custGeom>
              <a:ln w="12270" cap="flat">
                <a:solidFill>
                  <a:srgbClr val="F06D13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587" name="文本框 586"/>
            <p:cNvSpPr txBox="1"/>
            <p:nvPr/>
          </p:nvSpPr>
          <p:spPr>
            <a:xfrm>
              <a:off x="7994494" y="4219430"/>
              <a:ext cx="120097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Non-determined state z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8" name="文本框 587"/>
            <p:cNvSpPr txBox="1"/>
            <p:nvPr/>
          </p:nvSpPr>
          <p:spPr>
            <a:xfrm>
              <a:off x="7717684" y="4413745"/>
              <a:ext cx="179728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timeout / unsupported / runtime / conversion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9" name="任意形状 588"/>
            <p:cNvSpPr/>
            <p:nvPr/>
          </p:nvSpPr>
          <p:spPr>
            <a:xfrm>
              <a:off x="8569771" y="4712150"/>
              <a:ext cx="6599" cy="184790"/>
            </a:xfrm>
            <a:custGeom>
              <a:avLst/>
              <a:gdLst>
                <a:gd name="csX0" fmla="*/ 0 w 6599"/>
                <a:gd name="csY0" fmla="*/ 0 h 184790"/>
                <a:gd name="csX1" fmla="*/ 0 w 6599"/>
                <a:gd name="csY1" fmla="*/ 184790 h 184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84790">
                  <a:moveTo>
                    <a:pt x="0" y="0"/>
                  </a:moveTo>
                  <a:lnTo>
                    <a:pt x="0" y="184790"/>
                  </a:lnTo>
                </a:path>
              </a:pathLst>
            </a:custGeom>
            <a:ln w="16493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90" name="圆角矩形 589"/>
            <p:cNvSpPr/>
            <p:nvPr/>
          </p:nvSpPr>
          <p:spPr>
            <a:xfrm>
              <a:off x="7527026" y="492333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/>
            </a:p>
          </p:txBody>
        </p:sp>
        <p:grpSp>
          <p:nvGrpSpPr>
            <p:cNvPr id="591" name="图形 4"/>
            <p:cNvGrpSpPr/>
            <p:nvPr/>
          </p:nvGrpSpPr>
          <p:grpSpPr>
            <a:xfrm>
              <a:off x="7688057" y="5057972"/>
              <a:ext cx="221748" cy="190069"/>
              <a:chOff x="7688057" y="5057972"/>
              <a:chExt cx="221748" cy="190069"/>
            </a:xfrm>
            <a:solidFill>
              <a:srgbClr val="000000"/>
            </a:solidFill>
          </p:grpSpPr>
          <p:sp>
            <p:nvSpPr>
              <p:cNvPr id="620" name="圆角矩形 619"/>
              <p:cNvSpPr/>
              <p:nvPr/>
            </p:nvSpPr>
            <p:spPr>
              <a:xfrm>
                <a:off x="7688057" y="5057972"/>
                <a:ext cx="221748" cy="137272"/>
              </a:xfrm>
              <a:prstGeom prst="roundRect">
                <a:avLst>
                  <a:gd name="adj" fmla="val 23077"/>
                </a:avLst>
              </a:prstGeom>
              <a:noFill/>
              <a:ln w="12666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1" name="任意形状 620"/>
              <p:cNvSpPr/>
              <p:nvPr/>
            </p:nvSpPr>
            <p:spPr>
              <a:xfrm>
                <a:off x="7740855" y="5195245"/>
                <a:ext cx="52797" cy="52797"/>
              </a:xfrm>
              <a:custGeom>
                <a:avLst/>
                <a:gdLst>
                  <a:gd name="csX0" fmla="*/ 11653 w 52797"/>
                  <a:gd name="csY0" fmla="*/ 752 h 52797"/>
                  <a:gd name="csX1" fmla="*/ 1093 w 52797"/>
                  <a:gd name="csY1" fmla="*/ 53549 h 52797"/>
                  <a:gd name="csX2" fmla="*/ 53891 w 52797"/>
                  <a:gd name="csY2" fmla="*/ 752 h 52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797" h="52797">
                    <a:moveTo>
                      <a:pt x="11653" y="752"/>
                    </a:moveTo>
                    <a:lnTo>
                      <a:pt x="1093" y="53549"/>
                    </a:lnTo>
                    <a:lnTo>
                      <a:pt x="53891" y="752"/>
                    </a:lnTo>
                  </a:path>
                </a:pathLst>
              </a:custGeom>
              <a:noFill/>
              <a:ln w="12666" cap="flat">
                <a:solidFill>
                  <a:srgbClr val="2D336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2" name="任意形状 621"/>
              <p:cNvSpPr/>
              <p:nvPr/>
            </p:nvSpPr>
            <p:spPr>
              <a:xfrm>
                <a:off x="7730295" y="5100210"/>
                <a:ext cx="137272" cy="6599"/>
              </a:xfrm>
              <a:custGeom>
                <a:avLst/>
                <a:gdLst>
                  <a:gd name="csX0" fmla="*/ 1092 w 137272"/>
                  <a:gd name="csY0" fmla="*/ 757 h 6599"/>
                  <a:gd name="csX1" fmla="*/ 138365 w 137272"/>
                  <a:gd name="csY1" fmla="*/ 757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7272" h="6599">
                    <a:moveTo>
                      <a:pt x="1092" y="757"/>
                    </a:moveTo>
                    <a:lnTo>
                      <a:pt x="138365" y="757"/>
                    </a:lnTo>
                  </a:path>
                </a:pathLst>
              </a:custGeom>
              <a:ln w="1055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  <p:sp>
            <p:nvSpPr>
              <p:cNvPr id="623" name="任意形状 622"/>
              <p:cNvSpPr/>
              <p:nvPr/>
            </p:nvSpPr>
            <p:spPr>
              <a:xfrm>
                <a:off x="7730295" y="5137168"/>
                <a:ext cx="105594" cy="6599"/>
              </a:xfrm>
              <a:custGeom>
                <a:avLst/>
                <a:gdLst>
                  <a:gd name="csX0" fmla="*/ 1093 w 105594"/>
                  <a:gd name="csY0" fmla="*/ 755 h 6599"/>
                  <a:gd name="csX1" fmla="*/ 106687 w 105594"/>
                  <a:gd name="csY1" fmla="*/ 755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5594" h="6599">
                    <a:moveTo>
                      <a:pt x="1093" y="755"/>
                    </a:moveTo>
                    <a:lnTo>
                      <a:pt x="106687" y="755"/>
                    </a:lnTo>
                  </a:path>
                </a:pathLst>
              </a:custGeom>
              <a:ln w="10555" cap="flat">
                <a:solidFill>
                  <a:srgbClr val="2D336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/>
              </a:p>
            </p:txBody>
          </p:sp>
        </p:grpSp>
        <p:sp>
          <p:nvSpPr>
            <p:cNvPr id="592" name="文本框 591"/>
            <p:cNvSpPr txBox="1"/>
            <p:nvPr/>
          </p:nvSpPr>
          <p:spPr>
            <a:xfrm>
              <a:off x="8033145" y="4996149"/>
              <a:ext cx="112082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Prompt Construction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3" name="文本框 592"/>
            <p:cNvSpPr txBox="1"/>
            <p:nvPr/>
          </p:nvSpPr>
          <p:spPr>
            <a:xfrm>
              <a:off x="7964257" y="5194023"/>
              <a:ext cx="120898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spc="0" baseline="0" dirty="0">
                  <a:solidFill>
                    <a:srgbClr val="333333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SQL pair + schema + state z</a:t>
              </a:r>
              <a:endParaRPr lang="zh-CN" altLang="en-US" sz="700" spc="0" baseline="0" dirty="0">
                <a:solidFill>
                  <a:srgbClr val="333333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4" name="任意形状 593"/>
            <p:cNvSpPr/>
            <p:nvPr/>
          </p:nvSpPr>
          <p:spPr>
            <a:xfrm>
              <a:off x="8569771" y="5464510"/>
              <a:ext cx="6599" cy="171590"/>
            </a:xfrm>
            <a:custGeom>
              <a:avLst/>
              <a:gdLst>
                <a:gd name="csX0" fmla="*/ 0 w 6599"/>
                <a:gd name="csY0" fmla="*/ 0 h 171590"/>
                <a:gd name="csX1" fmla="*/ 0 w 6599"/>
                <a:gd name="csY1" fmla="*/ 171591 h 171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71590">
                  <a:moveTo>
                    <a:pt x="0" y="0"/>
                  </a:moveTo>
                  <a:lnTo>
                    <a:pt x="0" y="171591"/>
                  </a:lnTo>
                </a:path>
              </a:pathLst>
            </a:custGeom>
            <a:ln w="16493" cap="flat">
              <a:solidFill>
                <a:srgbClr val="444444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/>
            </a:p>
          </p:txBody>
        </p:sp>
        <p:sp>
          <p:nvSpPr>
            <p:cNvPr id="595" name="圆角矩形 594"/>
            <p:cNvSpPr/>
            <p:nvPr/>
          </p:nvSpPr>
          <p:spPr>
            <a:xfrm>
              <a:off x="7527026" y="5662500"/>
              <a:ext cx="956949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597" name="文本框 596"/>
            <p:cNvSpPr txBox="1"/>
            <p:nvPr/>
          </p:nvSpPr>
          <p:spPr>
            <a:xfrm>
              <a:off x="7874788" y="5797686"/>
              <a:ext cx="666919" cy="3511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Local SFT</a:t>
              </a:r>
              <a:r>
                <a:rPr lang="zh-CN" altLang="en-US" sz="80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 </a:t>
              </a:r>
              <a:endParaRPr lang="en-US" altLang="zh-CN" sz="80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  <a:p>
              <a:pPr algn="ctr"/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Model </a:t>
              </a:r>
              <a:r>
                <a:rPr lang="en-US" altLang="zh-CN" sz="800" b="1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</a:t>
              </a:r>
              <a:endParaRPr lang="zh-CN" altLang="en-US" sz="800" b="1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8" name="圆角矩形 597"/>
            <p:cNvSpPr/>
            <p:nvPr/>
          </p:nvSpPr>
          <p:spPr>
            <a:xfrm>
              <a:off x="8615969" y="5662500"/>
              <a:ext cx="996547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/>
            </a:p>
          </p:txBody>
        </p:sp>
        <p:sp>
          <p:nvSpPr>
            <p:cNvPr id="600" name="文本框 599"/>
            <p:cNvSpPr txBox="1"/>
            <p:nvPr/>
          </p:nvSpPr>
          <p:spPr>
            <a:xfrm>
              <a:off x="8866139" y="5789394"/>
              <a:ext cx="789320" cy="223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Majority</a:t>
              </a:r>
              <a:r>
                <a:rPr lang="zh-CN" altLang="en-US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 </a:t>
              </a:r>
              <a:r>
                <a:rPr lang="en-US" altLang="zh-CN" sz="800" spc="0" baseline="0" dirty="0">
                  <a:solidFill>
                    <a:srgbClr val="11111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  <a:rtl val="0"/>
                </a:rPr>
                <a:t>vote</a:t>
              </a:r>
              <a:endParaRPr lang="zh-CN" altLang="en-US" sz="800" spc="0" baseline="0" dirty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pic>
        <p:nvPicPr>
          <p:cNvPr id="57" name="图形 5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9759" y="5269075"/>
            <a:ext cx="127341" cy="127341"/>
          </a:xfrm>
          <a:prstGeom prst="rect">
            <a:avLst/>
          </a:prstGeom>
        </p:spPr>
      </p:pic>
      <p:pic>
        <p:nvPicPr>
          <p:cNvPr id="85" name="图形 84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50401" y="4808988"/>
            <a:ext cx="183672" cy="183672"/>
          </a:xfrm>
          <a:prstGeom prst="rect">
            <a:avLst/>
          </a:prstGeom>
        </p:spPr>
      </p:pic>
      <p:pic>
        <p:nvPicPr>
          <p:cNvPr id="87" name="图形 86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1516" y="4071541"/>
            <a:ext cx="174261" cy="174261"/>
          </a:xfrm>
          <a:prstGeom prst="rect">
            <a:avLst/>
          </a:prstGeom>
        </p:spPr>
      </p:pic>
      <p:pic>
        <p:nvPicPr>
          <p:cNvPr id="88" name="图形 87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3650" y="4415958"/>
            <a:ext cx="174261" cy="174261"/>
          </a:xfrm>
          <a:prstGeom prst="rect">
            <a:avLst/>
          </a:prstGeom>
        </p:spPr>
      </p:pic>
      <p:cxnSp>
        <p:nvCxnSpPr>
          <p:cNvPr id="104" name="肘形连接符 103"/>
          <p:cNvCxnSpPr/>
          <p:nvPr/>
        </p:nvCxnSpPr>
        <p:spPr>
          <a:xfrm rot="16200000" flipH="1">
            <a:off x="7447824" y="3076363"/>
            <a:ext cx="756830" cy="141637"/>
          </a:xfrm>
          <a:prstGeom prst="bentConnector3">
            <a:avLst/>
          </a:prstGeom>
          <a:ln w="12700" cap="rnd">
            <a:solidFill>
              <a:srgbClr val="7A4D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文本框 577"/>
          <p:cNvSpPr txBox="1"/>
          <p:nvPr/>
        </p:nvSpPr>
        <p:spPr>
          <a:xfrm>
            <a:off x="9559190" y="2599489"/>
            <a:ext cx="67518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7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B</a:t>
            </a:r>
            <a:r>
              <a:rPr lang="zh-CN" altLang="en-US" sz="7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</a:t>
            </a:r>
            <a:r>
              <a:rPr lang="en-US" altLang="zh-CN" sz="70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= </a:t>
            </a:r>
            <a:r>
              <a:rPr lang="zh-CN" altLang="en-US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π</a:t>
            </a:r>
            <a:r>
              <a:rPr lang="en-US" altLang="zh-CN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 (x</a:t>
            </a:r>
            <a:r>
              <a:rPr lang="zh-CN" altLang="en-US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，</a:t>
            </a:r>
            <a:r>
              <a:rPr lang="en-US" altLang="zh-CN" sz="700" spc="0" baseline="0" dirty="0">
                <a:solidFill>
                  <a:srgbClr val="222222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  <a:rtl val="0"/>
              </a:rPr>
              <a:t>P)</a:t>
            </a:r>
            <a:endParaRPr lang="zh-CN" altLang="en-US" sz="700" spc="0" baseline="0" dirty="0">
              <a:solidFill>
                <a:srgbClr val="222222"/>
              </a:solidFill>
              <a:latin typeface="Times New Roman" panose="02020603050405020304"/>
              <a:cs typeface="Times New Roman" panose="02020603050405020304"/>
              <a:sym typeface="Times New Roman" panose="02020603050405020304"/>
              <a:rtl val="0"/>
            </a:endParaRPr>
          </a:p>
        </p:txBody>
      </p:sp>
      <p:pic>
        <p:nvPicPr>
          <p:cNvPr id="632" name="图形 631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75187" y="5532490"/>
            <a:ext cx="285143" cy="285143"/>
          </a:xfrm>
          <a:prstGeom prst="rect">
            <a:avLst/>
          </a:prstGeom>
        </p:spPr>
      </p:pic>
      <p:pic>
        <p:nvPicPr>
          <p:cNvPr id="635" name="图形 634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91898" y="4917377"/>
            <a:ext cx="381317" cy="381317"/>
          </a:xfrm>
          <a:prstGeom prst="rect">
            <a:avLst/>
          </a:prstGeom>
        </p:spPr>
      </p:pic>
      <p:pic>
        <p:nvPicPr>
          <p:cNvPr id="637" name="图形 636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589300" y="5564955"/>
            <a:ext cx="284942" cy="284942"/>
          </a:xfrm>
          <a:prstGeom prst="rect">
            <a:avLst/>
          </a:prstGeom>
        </p:spPr>
      </p:pic>
      <p:pic>
        <p:nvPicPr>
          <p:cNvPr id="638" name="图形 63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8141" y="5417989"/>
            <a:ext cx="217755" cy="217755"/>
          </a:xfrm>
          <a:prstGeom prst="rect">
            <a:avLst/>
          </a:prstGeom>
        </p:spPr>
      </p:pic>
      <p:pic>
        <p:nvPicPr>
          <p:cNvPr id="639" name="图形 638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94117" y="4858707"/>
            <a:ext cx="284942" cy="284942"/>
          </a:xfrm>
          <a:prstGeom prst="rect">
            <a:avLst/>
          </a:prstGeom>
        </p:spPr>
      </p:pic>
      <p:cxnSp>
        <p:nvCxnSpPr>
          <p:cNvPr id="328" name="肘形连接符 327"/>
          <p:cNvCxnSpPr>
            <a:stCxn id="242" idx="2"/>
            <a:endCxn id="595" idx="1"/>
          </p:cNvCxnSpPr>
          <p:nvPr/>
        </p:nvCxnSpPr>
        <p:spPr>
          <a:xfrm rot="16200000" flipH="1">
            <a:off x="6429097" y="5235931"/>
            <a:ext cx="282257" cy="680262"/>
          </a:xfrm>
          <a:prstGeom prst="bentConnector2">
            <a:avLst/>
          </a:prstGeom>
          <a:ln w="12700" cap="flat" cmpd="sng" algn="ctr">
            <a:solidFill>
              <a:srgbClr val="A4CF78"/>
            </a:solidFill>
            <a:prstDash val="dash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7" name="图形 336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075655" y="4173054"/>
            <a:ext cx="284942" cy="284942"/>
          </a:xfrm>
          <a:prstGeom prst="rect">
            <a:avLst/>
          </a:prstGeom>
        </p:spPr>
      </p:pic>
      <p:pic>
        <p:nvPicPr>
          <p:cNvPr id="338" name="图形 337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608255" y="4325454"/>
            <a:ext cx="284942" cy="284942"/>
          </a:xfrm>
          <a:prstGeom prst="rect">
            <a:avLst/>
          </a:prstGeom>
        </p:spPr>
      </p:pic>
      <p:pic>
        <p:nvPicPr>
          <p:cNvPr id="340" name="图形 339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12437" y="1963444"/>
            <a:ext cx="359544" cy="328851"/>
          </a:xfrm>
          <a:prstGeom prst="rect">
            <a:avLst/>
          </a:prstGeom>
        </p:spPr>
      </p:pic>
      <p:pic>
        <p:nvPicPr>
          <p:cNvPr id="342" name="图形 341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585936" y="1978246"/>
            <a:ext cx="330008" cy="330008"/>
          </a:xfrm>
          <a:prstGeom prst="rect">
            <a:avLst/>
          </a:prstGeom>
        </p:spPr>
      </p:pic>
      <p:pic>
        <p:nvPicPr>
          <p:cNvPr id="343" name="图形 342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89398" y="5503051"/>
            <a:ext cx="330008" cy="330008"/>
          </a:xfrm>
          <a:prstGeom prst="rect">
            <a:avLst/>
          </a:prstGeom>
        </p:spPr>
      </p:pic>
      <p:pic>
        <p:nvPicPr>
          <p:cNvPr id="344" name="图形 34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6843" y="4755248"/>
            <a:ext cx="208671" cy="189701"/>
          </a:xfrm>
          <a:prstGeom prst="rect">
            <a:avLst/>
          </a:prstGeom>
        </p:spPr>
      </p:pic>
      <p:cxnSp>
        <p:nvCxnSpPr>
          <p:cNvPr id="2" name="肘形连接符 1"/>
          <p:cNvCxnSpPr>
            <a:stCxn id="148" idx="1"/>
            <a:endCxn id="155" idx="0"/>
          </p:cNvCxnSpPr>
          <p:nvPr/>
        </p:nvCxnSpPr>
        <p:spPr>
          <a:xfrm rot="10800000" flipV="1">
            <a:off x="2008578" y="3134191"/>
            <a:ext cx="454345" cy="391924"/>
          </a:xfrm>
          <a:prstGeom prst="bentConnector2">
            <a:avLst/>
          </a:prstGeom>
          <a:ln w="12700" cap="rnd">
            <a:solidFill>
              <a:srgbClr val="7A4D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图形 4"/>
          <p:cNvGrpSpPr/>
          <p:nvPr/>
        </p:nvGrpSpPr>
        <p:grpSpPr>
          <a:xfrm>
            <a:off x="725504" y="883110"/>
            <a:ext cx="10740989" cy="2334495"/>
            <a:chOff x="725504" y="883110"/>
            <a:chExt cx="10740989" cy="2334495"/>
          </a:xfrm>
        </p:grpSpPr>
        <p:sp>
          <p:nvSpPr>
            <p:cNvPr id="11" name="圆角矩形 10"/>
            <p:cNvSpPr/>
            <p:nvPr/>
          </p:nvSpPr>
          <p:spPr>
            <a:xfrm>
              <a:off x="725504" y="900651"/>
              <a:ext cx="10740989" cy="2103049"/>
            </a:xfrm>
            <a:prstGeom prst="roundRect">
              <a:avLst>
                <a:gd name="adj" fmla="val 4463"/>
              </a:avLst>
            </a:prstGeom>
            <a:solidFill>
              <a:srgbClr val="FCFAFF"/>
            </a:solidFill>
            <a:ln w="10719" cap="flat">
              <a:solidFill>
                <a:srgbClr val="B89AE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6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25504" y="883110"/>
              <a:ext cx="10740988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阶段 I. 离线组件构建</a:t>
              </a:r>
              <a:endParaRPr lang="zh-CN" altLang="en-US" spc="0" baseline="0" dirty="0">
                <a:solidFill>
                  <a:srgbClr val="6F46C7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grpSp>
          <p:nvGrpSpPr>
            <p:cNvPr id="13" name="图形 4"/>
            <p:cNvGrpSpPr/>
            <p:nvPr/>
          </p:nvGrpSpPr>
          <p:grpSpPr>
            <a:xfrm>
              <a:off x="839485" y="1215439"/>
              <a:ext cx="7522715" cy="1634217"/>
              <a:chOff x="839485" y="1215439"/>
              <a:chExt cx="7522715" cy="1634217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839485" y="1215439"/>
                <a:ext cx="7522715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CFAFF"/>
              </a:solidFill>
              <a:ln w="937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930276" y="1269020"/>
                <a:ext cx="7297830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FE6FF"/>
              </a:solidFill>
              <a:ln w="803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986644" y="1289030"/>
                <a:ext cx="187732" cy="187533"/>
              </a:xfrm>
              <a:prstGeom prst="ellipse">
                <a:avLst/>
              </a:prstGeom>
              <a:solidFill>
                <a:srgbClr val="7A4DC6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41097" y="1244728"/>
                <a:ext cx="28725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A</a:t>
                </a:r>
                <a:endParaRPr lang="zh-CN" altLang="en-US" sz="11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42109" y="1252917"/>
                <a:ext cx="72764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SFT</a:t>
                </a:r>
                <a:r>
                  <a:rPr lang="zh-CN" altLang="en-US" sz="12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数据构建与模型训练</a:t>
                </a:r>
                <a:endParaRPr lang="zh-CN" altLang="en-US" sz="120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933351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906237" y="1543040"/>
                <a:ext cx="97815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105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1.</a:t>
                </a:r>
                <a:r>
                  <a:rPr lang="zh-CN" altLang="en-US" sz="105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5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105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对构造</a:t>
                </a:r>
                <a:endParaRPr lang="zh-CN" altLang="en-US" sz="105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1020513" y="1938781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BF8FF"/>
              </a:solidFill>
              <a:ln w="6699" cap="flat">
                <a:solidFill>
                  <a:srgbClr val="D7C5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23" name="图形 4"/>
              <p:cNvGrpSpPr/>
              <p:nvPr/>
            </p:nvGrpSpPr>
            <p:grpSpPr>
              <a:xfrm>
                <a:off x="1079246" y="1991290"/>
                <a:ext cx="257883" cy="222851"/>
                <a:chOff x="1079246" y="1991290"/>
                <a:chExt cx="257883" cy="222851"/>
              </a:xfrm>
              <a:solidFill>
                <a:srgbClr val="000000"/>
              </a:solidFill>
            </p:grpSpPr>
            <p:sp>
              <p:nvSpPr>
                <p:cNvPr id="24" name="任意形状 23"/>
                <p:cNvSpPr/>
                <p:nvPr/>
              </p:nvSpPr>
              <p:spPr>
                <a:xfrm>
                  <a:off x="1079246" y="1991290"/>
                  <a:ext cx="148040" cy="186461"/>
                </a:xfrm>
                <a:custGeom>
                  <a:avLst/>
                  <a:gdLst>
                    <a:gd name="csX0" fmla="*/ 19373 w 148040"/>
                    <a:gd name="csY0" fmla="*/ 233 h 186461"/>
                    <a:gd name="csX1" fmla="*/ 109485 w 148040"/>
                    <a:gd name="csY1" fmla="*/ 233 h 186461"/>
                    <a:gd name="csX2" fmla="*/ 148104 w 148040"/>
                    <a:gd name="csY2" fmla="*/ 38811 h 186461"/>
                    <a:gd name="csX3" fmla="*/ 148104 w 148040"/>
                    <a:gd name="csY3" fmla="*/ 167405 h 186461"/>
                    <a:gd name="csX4" fmla="*/ 128795 w 148040"/>
                    <a:gd name="csY4" fmla="*/ 186694 h 186461"/>
                    <a:gd name="csX5" fmla="*/ 19373 w 148040"/>
                    <a:gd name="csY5" fmla="*/ 186694 h 186461"/>
                    <a:gd name="csX6" fmla="*/ 64 w 148040"/>
                    <a:gd name="csY6" fmla="*/ 167405 h 186461"/>
                    <a:gd name="csX7" fmla="*/ 64 w 148040"/>
                    <a:gd name="csY7" fmla="*/ 19522 h 186461"/>
                    <a:gd name="csX8" fmla="*/ 19373 w 148040"/>
                    <a:gd name="csY8" fmla="*/ 233 h 1864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48040" h="186461">
                      <a:moveTo>
                        <a:pt x="19373" y="233"/>
                      </a:moveTo>
                      <a:lnTo>
                        <a:pt x="109485" y="233"/>
                      </a:lnTo>
                      <a:lnTo>
                        <a:pt x="148104" y="38811"/>
                      </a:lnTo>
                      <a:lnTo>
                        <a:pt x="148104" y="167405"/>
                      </a:lnTo>
                      <a:cubicBezTo>
                        <a:pt x="148104" y="178058"/>
                        <a:pt x="139459" y="186694"/>
                        <a:pt x="128795" y="186694"/>
                      </a:cubicBezTo>
                      <a:lnTo>
                        <a:pt x="19373" y="186694"/>
                      </a:lnTo>
                      <a:cubicBezTo>
                        <a:pt x="8709" y="186694"/>
                        <a:pt x="64" y="178058"/>
                        <a:pt x="64" y="167405"/>
                      </a:cubicBezTo>
                      <a:lnTo>
                        <a:pt x="64" y="19522"/>
                      </a:lnTo>
                      <a:cubicBezTo>
                        <a:pt x="64" y="8869"/>
                        <a:pt x="8709" y="233"/>
                        <a:pt x="19373" y="233"/>
                      </a:cubicBezTo>
                      <a:close/>
                    </a:path>
                  </a:pathLst>
                </a:custGeom>
                <a:solidFill>
                  <a:srgbClr val="FBF7FF"/>
                </a:solidFill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5" name="任意形状 24"/>
                <p:cNvSpPr/>
                <p:nvPr/>
              </p:nvSpPr>
              <p:spPr>
                <a:xfrm>
                  <a:off x="1188668" y="1991290"/>
                  <a:ext cx="38619" cy="41793"/>
                </a:xfrm>
                <a:custGeom>
                  <a:avLst/>
                  <a:gdLst>
                    <a:gd name="csX0" fmla="*/ 55 w 38619"/>
                    <a:gd name="csY0" fmla="*/ 244 h 41793"/>
                    <a:gd name="csX1" fmla="*/ 55 w 38619"/>
                    <a:gd name="csY1" fmla="*/ 42038 h 41793"/>
                    <a:gd name="csX2" fmla="*/ 38674 w 38619"/>
                    <a:gd name="csY2" fmla="*/ 42038 h 417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619" h="41793">
                      <a:moveTo>
                        <a:pt x="55" y="244"/>
                      </a:moveTo>
                      <a:lnTo>
                        <a:pt x="55" y="42038"/>
                      </a:lnTo>
                      <a:lnTo>
                        <a:pt x="38674" y="42038"/>
                      </a:lnTo>
                    </a:path>
                  </a:pathLst>
                </a:custGeom>
                <a:noFill/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6" name="任意形状 25"/>
                <p:cNvSpPr/>
                <p:nvPr/>
              </p:nvSpPr>
              <p:spPr>
                <a:xfrm>
                  <a:off x="1121084" y="2062017"/>
                  <a:ext cx="70802" cy="57867"/>
                </a:xfrm>
                <a:custGeom>
                  <a:avLst/>
                  <a:gdLst>
                    <a:gd name="csX0" fmla="*/ 63 w 70802"/>
                    <a:gd name="csY0" fmla="*/ 232 h 57867"/>
                    <a:gd name="csX1" fmla="*/ 57992 w 70802"/>
                    <a:gd name="csY1" fmla="*/ 232 h 57867"/>
                    <a:gd name="csX2" fmla="*/ 63 w 70802"/>
                    <a:gd name="csY2" fmla="*/ 29165 h 57867"/>
                    <a:gd name="csX3" fmla="*/ 70865 w 70802"/>
                    <a:gd name="csY3" fmla="*/ 29165 h 57867"/>
                    <a:gd name="csX4" fmla="*/ 63 w 70802"/>
                    <a:gd name="csY4" fmla="*/ 58099 h 57867"/>
                    <a:gd name="csX5" fmla="*/ 45119 w 70802"/>
                    <a:gd name="csY5" fmla="*/ 58099 h 578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70802" h="57867">
                      <a:moveTo>
                        <a:pt x="63" y="232"/>
                      </a:moveTo>
                      <a:lnTo>
                        <a:pt x="57992" y="232"/>
                      </a:lnTo>
                      <a:moveTo>
                        <a:pt x="63" y="29165"/>
                      </a:moveTo>
                      <a:lnTo>
                        <a:pt x="70865" y="29165"/>
                      </a:lnTo>
                      <a:moveTo>
                        <a:pt x="63" y="58099"/>
                      </a:moveTo>
                      <a:lnTo>
                        <a:pt x="45119" y="58099"/>
                      </a:lnTo>
                    </a:path>
                  </a:pathLst>
                </a:custGeom>
                <a:noFill/>
                <a:ln w="6110" cap="rnd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7" name="圆角矩形 26"/>
                <p:cNvSpPr/>
                <p:nvPr/>
              </p:nvSpPr>
              <p:spPr>
                <a:xfrm>
                  <a:off x="1166140" y="2116670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1080327" y="2075642"/>
                  <a:ext cx="256802" cy="1384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spc="0" baseline="0" dirty="0">
                      <a:solidFill>
                        <a:schemeClr val="bg1"/>
                      </a:solidFill>
                      <a:latin typeface="Times New Roman" panose="02020603050405020304" charset="0"/>
                      <a:ea typeface="方正书宋简体" panose="02010601030101010101" charset="-122"/>
                      <a:cs typeface="Times New Roman" panose="02020603050405020304" charset="0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spc="0" baseline="0" dirty="0">
                    <a:solidFill>
                      <a:schemeClr val="bg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1203733" y="1939063"/>
                <a:ext cx="66236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LeetCode </a:t>
                </a:r>
                <a:endParaRPr lang="zh-CN" altLang="en-US" sz="9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54142" y="2073701"/>
                <a:ext cx="532518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多解</a:t>
                </a:r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endParaRPr lang="en-US" altLang="zh-CN" sz="7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1020513" y="2347335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7FBFF"/>
              </a:solidFill>
              <a:ln w="6699" cap="flat">
                <a:solidFill>
                  <a:srgbClr val="C8DA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32" name="图形 4"/>
              <p:cNvGrpSpPr/>
              <p:nvPr/>
            </p:nvGrpSpPr>
            <p:grpSpPr>
              <a:xfrm>
                <a:off x="1076028" y="2412704"/>
                <a:ext cx="280276" cy="216330"/>
                <a:chOff x="1076028" y="2412704"/>
                <a:chExt cx="280276" cy="216330"/>
              </a:xfrm>
              <a:solidFill>
                <a:srgbClr val="000000"/>
              </a:solidFill>
            </p:grpSpPr>
            <p:sp>
              <p:nvSpPr>
                <p:cNvPr id="33" name="椭圆 32"/>
                <p:cNvSpPr/>
                <p:nvPr/>
              </p:nvSpPr>
              <p:spPr>
                <a:xfrm>
                  <a:off x="1076028" y="2412704"/>
                  <a:ext cx="128730" cy="51437"/>
                </a:xfrm>
                <a:prstGeom prst="ellipse">
                  <a:avLst/>
                </a:prstGeom>
                <a:solidFill>
                  <a:srgbClr val="F6FAFF"/>
                </a:solidFill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4" name="任意形状 33"/>
                <p:cNvSpPr/>
                <p:nvPr/>
              </p:nvSpPr>
              <p:spPr>
                <a:xfrm>
                  <a:off x="1076028" y="2438423"/>
                  <a:ext cx="128730" cy="131808"/>
                </a:xfrm>
                <a:custGeom>
                  <a:avLst/>
                  <a:gdLst>
                    <a:gd name="csX0" fmla="*/ 66 w 128730"/>
                    <a:gd name="csY0" fmla="*/ 292 h 131808"/>
                    <a:gd name="csX1" fmla="*/ 66 w 128730"/>
                    <a:gd name="csY1" fmla="*/ 103167 h 131808"/>
                    <a:gd name="csX2" fmla="*/ 64431 w 128730"/>
                    <a:gd name="csY2" fmla="*/ 132101 h 131808"/>
                    <a:gd name="csX3" fmla="*/ 128797 w 128730"/>
                    <a:gd name="csY3" fmla="*/ 103167 h 131808"/>
                    <a:gd name="csX4" fmla="*/ 128797 w 128730"/>
                    <a:gd name="csY4" fmla="*/ 292 h 1318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8730" h="131808">
                      <a:moveTo>
                        <a:pt x="66" y="292"/>
                      </a:moveTo>
                      <a:lnTo>
                        <a:pt x="66" y="103167"/>
                      </a:lnTo>
                      <a:cubicBezTo>
                        <a:pt x="66" y="119242"/>
                        <a:pt x="29030" y="132101"/>
                        <a:pt x="64431" y="132101"/>
                      </a:cubicBezTo>
                      <a:cubicBezTo>
                        <a:pt x="99832" y="132101"/>
                        <a:pt x="128797" y="119242"/>
                        <a:pt x="128797" y="103167"/>
                      </a:cubicBezTo>
                      <a:lnTo>
                        <a:pt x="128797" y="292"/>
                      </a:lnTo>
                    </a:path>
                  </a:pathLst>
                </a:cu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1076028" y="2464142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1076028" y="2515579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>
                  <a:off x="1182231" y="2531654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099502" y="2490535"/>
                  <a:ext cx="256802" cy="1384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spc="0" baseline="0" dirty="0">
                      <a:solidFill>
                        <a:srgbClr val="FFFFFF"/>
                      </a:solidFill>
                      <a:latin typeface="Times New Roman" panose="02020603050405020304" charset="0"/>
                      <a:ea typeface="方正书宋简体" panose="02010601030101010101" charset="-122"/>
                      <a:cs typeface="Times New Roman" panose="02020603050405020304" charset="0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39" name="文本框 38"/>
              <p:cNvSpPr txBox="1"/>
              <p:nvPr/>
            </p:nvSpPr>
            <p:spPr>
              <a:xfrm>
                <a:off x="1236148" y="2359828"/>
                <a:ext cx="58221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SynSQL</a:t>
                </a:r>
                <a:endParaRPr lang="zh-CN" altLang="en-US" sz="9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254142" y="2493021"/>
                <a:ext cx="532518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候选</a:t>
                </a:r>
                <a:r>
                  <a:rPr lang="en-US" altLang="zh-CN" sz="7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endParaRPr lang="en-US" altLang="zh-CN" sz="7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1" name="任意形状 40"/>
              <p:cNvSpPr/>
              <p:nvPr/>
            </p:nvSpPr>
            <p:spPr>
              <a:xfrm>
                <a:off x="1865310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1992700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966632" y="1551173"/>
                <a:ext cx="99257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2. 形式化标注</a:t>
                </a:r>
                <a:endParaRPr lang="zh-CN" altLang="en-US" sz="105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50" name="任意形状 49"/>
              <p:cNvSpPr/>
              <p:nvPr/>
            </p:nvSpPr>
            <p:spPr>
              <a:xfrm>
                <a:off x="2924658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3052048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3021980" y="1551638"/>
                <a:ext cx="97334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3. 已标注 </a:t>
                </a:r>
                <a:r>
                  <a:rPr lang="en-US" altLang="zh-CN" sz="105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Pair</a:t>
                </a:r>
                <a:endParaRPr lang="en-US" altLang="zh-CN" sz="105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3108613" y="2373687"/>
                <a:ext cx="88357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GB" sz="10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监督训练对</a:t>
                </a:r>
                <a:endParaRPr lang="zh-CN" altLang="en-GB" sz="10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2" name="任意形状 61"/>
              <p:cNvSpPr/>
              <p:nvPr/>
            </p:nvSpPr>
            <p:spPr>
              <a:xfrm>
                <a:off x="3984007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4111397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4140431" y="1551638"/>
                <a:ext cx="85792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5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4. 推理蒸馏</a:t>
                </a:r>
                <a:endParaRPr lang="zh-CN" altLang="en-US" sz="105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grpSp>
            <p:nvGrpSpPr>
              <p:cNvPr id="66" name="图形 4"/>
              <p:cNvGrpSpPr/>
              <p:nvPr/>
            </p:nvGrpSpPr>
            <p:grpSpPr>
              <a:xfrm>
                <a:off x="4372881" y="1965571"/>
                <a:ext cx="418804" cy="418359"/>
                <a:chOff x="4372881" y="1965571"/>
                <a:chExt cx="418804" cy="418359"/>
              </a:xfrm>
              <a:solidFill>
                <a:srgbClr val="000000"/>
              </a:solidFill>
            </p:grpSpPr>
            <p:sp>
              <p:nvSpPr>
                <p:cNvPr id="67" name="任意形状 66"/>
                <p:cNvSpPr/>
                <p:nvPr/>
              </p:nvSpPr>
              <p:spPr>
                <a:xfrm>
                  <a:off x="4372881" y="1965571"/>
                  <a:ext cx="418804" cy="418359"/>
                </a:xfrm>
                <a:custGeom>
                  <a:avLst/>
                  <a:gdLst>
                    <a:gd name="csX0" fmla="*/ 98 w 418804"/>
                    <a:gd name="csY0" fmla="*/ 208951 h 418359"/>
                    <a:gd name="csX1" fmla="*/ 209501 w 418804"/>
                    <a:gd name="csY1" fmla="*/ 418131 h 418359"/>
                    <a:gd name="csX2" fmla="*/ 418903 w 418804"/>
                    <a:gd name="csY2" fmla="*/ 208951 h 418359"/>
                    <a:gd name="csX3" fmla="*/ 209501 w 418804"/>
                    <a:gd name="csY3" fmla="*/ -229 h 418359"/>
                    <a:gd name="csX4" fmla="*/ 98 w 418804"/>
                    <a:gd name="csY4" fmla="*/ 208951 h 4183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18804" h="418359">
                      <a:moveTo>
                        <a:pt x="98" y="208951"/>
                      </a:moveTo>
                      <a:cubicBezTo>
                        <a:pt x="98" y="324478"/>
                        <a:pt x="93851" y="418131"/>
                        <a:pt x="209501" y="418131"/>
                      </a:cubicBezTo>
                      <a:cubicBezTo>
                        <a:pt x="325150" y="418131"/>
                        <a:pt x="418903" y="324478"/>
                        <a:pt x="418903" y="208951"/>
                      </a:cubicBezTo>
                      <a:cubicBezTo>
                        <a:pt x="418903" y="93424"/>
                        <a:pt x="325150" y="-229"/>
                        <a:pt x="209501" y="-229"/>
                      </a:cubicBezTo>
                      <a:cubicBezTo>
                        <a:pt x="93851" y="-229"/>
                        <a:pt x="98" y="93424"/>
                        <a:pt x="98" y="2089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68" name="任意形状 67"/>
                <p:cNvSpPr/>
                <p:nvPr/>
              </p:nvSpPr>
              <p:spPr>
                <a:xfrm>
                  <a:off x="4438691" y="2100346"/>
                  <a:ext cx="178081" cy="182624"/>
                </a:xfrm>
                <a:custGeom>
                  <a:avLst/>
                  <a:gdLst>
                    <a:gd name="csX0" fmla="*/ 61720 w 178081"/>
                    <a:gd name="csY0" fmla="*/ -268 h 182624"/>
                    <a:gd name="csX1" fmla="*/ 26540 w 178081"/>
                    <a:gd name="csY1" fmla="*/ -268 h 182624"/>
                    <a:gd name="csX2" fmla="*/ 20677 w 178081"/>
                    <a:gd name="csY2" fmla="*/ 3111 h 182624"/>
                    <a:gd name="csX3" fmla="*/ 1129 w 178081"/>
                    <a:gd name="csY3" fmla="*/ 36925 h 182624"/>
                    <a:gd name="csX4" fmla="*/ 1129 w 178081"/>
                    <a:gd name="csY4" fmla="*/ 43692 h 182624"/>
                    <a:gd name="csX5" fmla="*/ 81351 w 178081"/>
                    <a:gd name="csY5" fmla="*/ 182357 h 182624"/>
                    <a:gd name="csX6" fmla="*/ 120353 w 178081"/>
                    <a:gd name="csY6" fmla="*/ 182357 h 182624"/>
                    <a:gd name="csX7" fmla="*/ 178305 w 178081"/>
                    <a:gd name="csY7" fmla="*/ 133722 h 182624"/>
                    <a:gd name="csX8" fmla="*/ 61720 w 178081"/>
                    <a:gd name="csY8" fmla="*/ -268 h 1826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8081" h="182624">
                      <a:moveTo>
                        <a:pt x="61720" y="-268"/>
                      </a:moveTo>
                      <a:lnTo>
                        <a:pt x="26540" y="-268"/>
                      </a:lnTo>
                      <a:cubicBezTo>
                        <a:pt x="24122" y="-268"/>
                        <a:pt x="21888" y="1020"/>
                        <a:pt x="20677" y="3111"/>
                      </a:cubicBezTo>
                      <a:lnTo>
                        <a:pt x="1129" y="36925"/>
                      </a:lnTo>
                      <a:cubicBezTo>
                        <a:pt x="-79" y="39019"/>
                        <a:pt x="-79" y="41597"/>
                        <a:pt x="1129" y="43692"/>
                      </a:cubicBezTo>
                      <a:lnTo>
                        <a:pt x="81351" y="182357"/>
                      </a:lnTo>
                      <a:lnTo>
                        <a:pt x="120353" y="182357"/>
                      </a:lnTo>
                      <a:lnTo>
                        <a:pt x="178305" y="133722"/>
                      </a:lnTo>
                      <a:lnTo>
                        <a:pt x="61720" y="-268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69" name="任意形状 68"/>
                <p:cNvSpPr/>
                <p:nvPr/>
              </p:nvSpPr>
              <p:spPr>
                <a:xfrm>
                  <a:off x="4458236" y="2066522"/>
                  <a:ext cx="248115" cy="216459"/>
                </a:xfrm>
                <a:custGeom>
                  <a:avLst/>
                  <a:gdLst>
                    <a:gd name="csX0" fmla="*/ 18608 w 248115"/>
                    <a:gd name="csY0" fmla="*/ 141825 h 216459"/>
                    <a:gd name="csX1" fmla="*/ 1007 w 248115"/>
                    <a:gd name="csY1" fmla="*/ 172261 h 216459"/>
                    <a:gd name="csX2" fmla="*/ 1007 w 248115"/>
                    <a:gd name="csY2" fmla="*/ 179028 h 216459"/>
                    <a:gd name="csX3" fmla="*/ 20555 w 248115"/>
                    <a:gd name="csY3" fmla="*/ 212842 h 216459"/>
                    <a:gd name="csX4" fmla="*/ 26418 w 248115"/>
                    <a:gd name="csY4" fmla="*/ 216230 h 216459"/>
                    <a:gd name="csX5" fmla="*/ 100683 w 248115"/>
                    <a:gd name="csY5" fmla="*/ 216230 h 216459"/>
                    <a:gd name="csX6" fmla="*/ 18597 w 248115"/>
                    <a:gd name="csY6" fmla="*/ 141825 h 216459"/>
                    <a:gd name="csX7" fmla="*/ 229717 w 248115"/>
                    <a:gd name="csY7" fmla="*/ 74166 h 216459"/>
                    <a:gd name="csX8" fmla="*/ 247306 w 248115"/>
                    <a:gd name="csY8" fmla="*/ 43741 h 216459"/>
                    <a:gd name="csX9" fmla="*/ 247306 w 248115"/>
                    <a:gd name="csY9" fmla="*/ 36974 h 216459"/>
                    <a:gd name="csX10" fmla="*/ 227759 w 248115"/>
                    <a:gd name="csY10" fmla="*/ 3160 h 216459"/>
                    <a:gd name="csX11" fmla="*/ 221895 w 248115"/>
                    <a:gd name="csY11" fmla="*/ -229 h 216459"/>
                    <a:gd name="csX12" fmla="*/ 61567 w 248115"/>
                    <a:gd name="csY12" fmla="*/ -156 h 216459"/>
                    <a:gd name="csX13" fmla="*/ 42061 w 248115"/>
                    <a:gd name="csY13" fmla="*/ 33585 h 216459"/>
                    <a:gd name="csX14" fmla="*/ 55253 w 248115"/>
                    <a:gd name="csY14" fmla="*/ 108032 h 216459"/>
                    <a:gd name="csX15" fmla="*/ 229717 w 248115"/>
                    <a:gd name="csY15" fmla="*/ 74166 h 2164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48115" h="216459">
                      <a:moveTo>
                        <a:pt x="18608" y="141825"/>
                      </a:moveTo>
                      <a:lnTo>
                        <a:pt x="1007" y="172261"/>
                      </a:lnTo>
                      <a:cubicBezTo>
                        <a:pt x="-205" y="174354"/>
                        <a:pt x="-205" y="176935"/>
                        <a:pt x="1007" y="179028"/>
                      </a:cubicBezTo>
                      <a:lnTo>
                        <a:pt x="20555" y="212842"/>
                      </a:lnTo>
                      <a:cubicBezTo>
                        <a:pt x="21755" y="214944"/>
                        <a:pt x="23995" y="216239"/>
                        <a:pt x="26418" y="216230"/>
                      </a:cubicBezTo>
                      <a:lnTo>
                        <a:pt x="100683" y="216230"/>
                      </a:lnTo>
                      <a:lnTo>
                        <a:pt x="18597" y="141825"/>
                      </a:lnTo>
                      <a:close/>
                      <a:moveTo>
                        <a:pt x="229717" y="74166"/>
                      </a:moveTo>
                      <a:lnTo>
                        <a:pt x="247306" y="43741"/>
                      </a:lnTo>
                      <a:cubicBezTo>
                        <a:pt x="248517" y="41647"/>
                        <a:pt x="248517" y="39068"/>
                        <a:pt x="247306" y="36974"/>
                      </a:cubicBezTo>
                      <a:lnTo>
                        <a:pt x="227759" y="3160"/>
                      </a:lnTo>
                      <a:cubicBezTo>
                        <a:pt x="226549" y="1067"/>
                        <a:pt x="224315" y="-224"/>
                        <a:pt x="221895" y="-229"/>
                      </a:cubicBezTo>
                      <a:lnTo>
                        <a:pt x="61567" y="-156"/>
                      </a:lnTo>
                      <a:lnTo>
                        <a:pt x="42061" y="33585"/>
                      </a:lnTo>
                      <a:lnTo>
                        <a:pt x="55253" y="108032"/>
                      </a:lnTo>
                      <a:lnTo>
                        <a:pt x="229717" y="74166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0" name="任意形状 69"/>
                <p:cNvSpPr/>
                <p:nvPr/>
              </p:nvSpPr>
              <p:spPr>
                <a:xfrm>
                  <a:off x="4500188" y="2032708"/>
                  <a:ext cx="207140" cy="284097"/>
                </a:xfrm>
                <a:custGeom>
                  <a:avLst/>
                  <a:gdLst>
                    <a:gd name="csX0" fmla="*/ 105598 w 207140"/>
                    <a:gd name="csY0" fmla="*/ 33596 h 284097"/>
                    <a:gd name="csX1" fmla="*/ 88008 w 207140"/>
                    <a:gd name="csY1" fmla="*/ 3160 h 284097"/>
                    <a:gd name="csX2" fmla="*/ 82145 w 207140"/>
                    <a:gd name="csY2" fmla="*/ -229 h 284097"/>
                    <a:gd name="csX3" fmla="*/ 43050 w 207140"/>
                    <a:gd name="csY3" fmla="*/ -229 h 284097"/>
                    <a:gd name="csX4" fmla="*/ 37186 w 207140"/>
                    <a:gd name="csY4" fmla="*/ 3150 h 284097"/>
                    <a:gd name="csX5" fmla="*/ 19408 w 207140"/>
                    <a:gd name="csY5" fmla="*/ 33909 h 284097"/>
                    <a:gd name="csX6" fmla="*/ 49 w 207140"/>
                    <a:gd name="csY6" fmla="*/ 67399 h 284097"/>
                    <a:gd name="csX7" fmla="*/ 105598 w 207140"/>
                    <a:gd name="csY7" fmla="*/ 33596 h 284097"/>
                    <a:gd name="csX8" fmla="*/ 58692 w 207140"/>
                    <a:gd name="csY8" fmla="*/ 250055 h 284097"/>
                    <a:gd name="csX9" fmla="*/ 76271 w 207140"/>
                    <a:gd name="csY9" fmla="*/ 280491 h 284097"/>
                    <a:gd name="csX10" fmla="*/ 82135 w 207140"/>
                    <a:gd name="csY10" fmla="*/ 283869 h 284097"/>
                    <a:gd name="csX11" fmla="*/ 121230 w 207140"/>
                    <a:gd name="csY11" fmla="*/ 283869 h 284097"/>
                    <a:gd name="csX12" fmla="*/ 127093 w 207140"/>
                    <a:gd name="csY12" fmla="*/ 280491 h 284097"/>
                    <a:gd name="csX13" fmla="*/ 207190 w 207140"/>
                    <a:gd name="csY13" fmla="*/ 141752 h 284097"/>
                    <a:gd name="csX14" fmla="*/ 187694 w 207140"/>
                    <a:gd name="csY14" fmla="*/ 108001 h 284097"/>
                    <a:gd name="csX15" fmla="*/ 116560 w 207140"/>
                    <a:gd name="csY15" fmla="*/ 82199 h 284097"/>
                    <a:gd name="csX16" fmla="*/ 58682 w 207140"/>
                    <a:gd name="csY16" fmla="*/ 250055 h 2840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07140" h="284097">
                      <a:moveTo>
                        <a:pt x="105598" y="33596"/>
                      </a:moveTo>
                      <a:lnTo>
                        <a:pt x="88008" y="3160"/>
                      </a:lnTo>
                      <a:cubicBezTo>
                        <a:pt x="86802" y="1064"/>
                        <a:pt x="84566" y="-229"/>
                        <a:pt x="82145" y="-229"/>
                      </a:cubicBezTo>
                      <a:lnTo>
                        <a:pt x="43050" y="-229"/>
                      </a:lnTo>
                      <a:cubicBezTo>
                        <a:pt x="40629" y="-239"/>
                        <a:pt x="38389" y="1051"/>
                        <a:pt x="37186" y="3150"/>
                      </a:cubicBezTo>
                      <a:lnTo>
                        <a:pt x="19408" y="33909"/>
                      </a:lnTo>
                      <a:lnTo>
                        <a:pt x="49" y="67399"/>
                      </a:lnTo>
                      <a:lnTo>
                        <a:pt x="105598" y="33596"/>
                      </a:lnTo>
                      <a:close/>
                      <a:moveTo>
                        <a:pt x="58692" y="250055"/>
                      </a:moveTo>
                      <a:lnTo>
                        <a:pt x="76271" y="280491"/>
                      </a:lnTo>
                      <a:cubicBezTo>
                        <a:pt x="77482" y="282581"/>
                        <a:pt x="79717" y="283869"/>
                        <a:pt x="82135" y="283869"/>
                      </a:cubicBezTo>
                      <a:lnTo>
                        <a:pt x="121230" y="283869"/>
                      </a:lnTo>
                      <a:cubicBezTo>
                        <a:pt x="123647" y="283867"/>
                        <a:pt x="125881" y="282580"/>
                        <a:pt x="127093" y="280491"/>
                      </a:cubicBezTo>
                      <a:lnTo>
                        <a:pt x="207190" y="141752"/>
                      </a:lnTo>
                      <a:lnTo>
                        <a:pt x="187694" y="108001"/>
                      </a:lnTo>
                      <a:lnTo>
                        <a:pt x="116560" y="82199"/>
                      </a:lnTo>
                      <a:lnTo>
                        <a:pt x="58682" y="250055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1" name="任意形状 70"/>
                <p:cNvSpPr/>
                <p:nvPr/>
              </p:nvSpPr>
              <p:spPr>
                <a:xfrm>
                  <a:off x="4664370" y="2140937"/>
                  <a:ext cx="61516" cy="108219"/>
                </a:xfrm>
                <a:custGeom>
                  <a:avLst/>
                  <a:gdLst>
                    <a:gd name="csX0" fmla="*/ -161 w 61516"/>
                    <a:gd name="csY0" fmla="*/ 107944 h 108219"/>
                    <a:gd name="csX1" fmla="*/ 35029 w 61516"/>
                    <a:gd name="csY1" fmla="*/ 107944 h 108219"/>
                    <a:gd name="csX2" fmla="*/ 40892 w 61516"/>
                    <a:gd name="csY2" fmla="*/ 104555 h 108219"/>
                    <a:gd name="csX3" fmla="*/ 60440 w 61516"/>
                    <a:gd name="csY3" fmla="*/ 70741 h 108219"/>
                    <a:gd name="csX4" fmla="*/ 60440 w 61516"/>
                    <a:gd name="csY4" fmla="*/ 63974 h 108219"/>
                    <a:gd name="csX5" fmla="*/ 42662 w 61516"/>
                    <a:gd name="csY5" fmla="*/ 33214 h 108219"/>
                    <a:gd name="csX6" fmla="*/ 23313 w 61516"/>
                    <a:gd name="csY6" fmla="*/ -275 h 108219"/>
                    <a:gd name="csX7" fmla="*/ -150 w 61516"/>
                    <a:gd name="csY7" fmla="*/ 107944 h 1082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61516" h="108219">
                      <a:moveTo>
                        <a:pt x="-161" y="107944"/>
                      </a:moveTo>
                      <a:lnTo>
                        <a:pt x="35029" y="107944"/>
                      </a:lnTo>
                      <a:cubicBezTo>
                        <a:pt x="37448" y="107944"/>
                        <a:pt x="39688" y="106647"/>
                        <a:pt x="40892" y="104555"/>
                      </a:cubicBezTo>
                      <a:lnTo>
                        <a:pt x="60440" y="70741"/>
                      </a:lnTo>
                      <a:cubicBezTo>
                        <a:pt x="61661" y="68650"/>
                        <a:pt x="61661" y="66065"/>
                        <a:pt x="60440" y="63974"/>
                      </a:cubicBezTo>
                      <a:lnTo>
                        <a:pt x="42662" y="33214"/>
                      </a:lnTo>
                      <a:lnTo>
                        <a:pt x="23313" y="-275"/>
                      </a:lnTo>
                      <a:lnTo>
                        <a:pt x="-150" y="107944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2" name="任意形状 71"/>
                <p:cNvSpPr/>
                <p:nvPr/>
              </p:nvSpPr>
              <p:spPr>
                <a:xfrm>
                  <a:off x="4464914" y="2107573"/>
                  <a:ext cx="117652" cy="168818"/>
                </a:xfrm>
                <a:custGeom>
                  <a:avLst/>
                  <a:gdLst>
                    <a:gd name="csX0" fmla="*/ 98516 w 117652"/>
                    <a:gd name="csY0" fmla="*/ 168236 h 168818"/>
                    <a:gd name="csX1" fmla="*/ 20513 w 117652"/>
                    <a:gd name="csY1" fmla="*/ 168550 h 168818"/>
                    <a:gd name="csX2" fmla="*/ 39841 w 117652"/>
                    <a:gd name="csY2" fmla="*/ 134768 h 168818"/>
                    <a:gd name="csX3" fmla="*/ 78895 w 117652"/>
                    <a:gd name="csY3" fmla="*/ 134600 h 168818"/>
                    <a:gd name="csX4" fmla="*/ 233 w 117652"/>
                    <a:gd name="csY4" fmla="*/ -195 h 168818"/>
                    <a:gd name="csX5" fmla="*/ 39307 w 117652"/>
                    <a:gd name="csY5" fmla="*/ -268 h 168818"/>
                    <a:gd name="csX6" fmla="*/ 117885 w 117652"/>
                    <a:gd name="csY6" fmla="*/ 134370 h 168818"/>
                    <a:gd name="csX7" fmla="*/ 98516 w 117652"/>
                    <a:gd name="csY7" fmla="*/ 168236 h 1688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7652" h="168818">
                      <a:moveTo>
                        <a:pt x="98516" y="168236"/>
                      </a:moveTo>
                      <a:lnTo>
                        <a:pt x="20513" y="168550"/>
                      </a:lnTo>
                      <a:lnTo>
                        <a:pt x="39841" y="134768"/>
                      </a:lnTo>
                      <a:lnTo>
                        <a:pt x="78895" y="134600"/>
                      </a:lnTo>
                      <a:lnTo>
                        <a:pt x="233" y="-195"/>
                      </a:lnTo>
                      <a:lnTo>
                        <a:pt x="39307" y="-268"/>
                      </a:lnTo>
                      <a:lnTo>
                        <a:pt x="117885" y="134370"/>
                      </a:lnTo>
                      <a:lnTo>
                        <a:pt x="98516" y="1682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3" name="任意形状 72"/>
                <p:cNvSpPr/>
                <p:nvPr/>
              </p:nvSpPr>
              <p:spPr>
                <a:xfrm>
                  <a:off x="4503978" y="2039945"/>
                  <a:ext cx="195163" cy="101316"/>
                </a:xfrm>
                <a:custGeom>
                  <a:avLst/>
                  <a:gdLst>
                    <a:gd name="csX0" fmla="*/ 54 w 195163"/>
                    <a:gd name="csY0" fmla="*/ 67592 h 101316"/>
                    <a:gd name="csX1" fmla="*/ 38783 w 195163"/>
                    <a:gd name="csY1" fmla="*/ -35 h 101316"/>
                    <a:gd name="csX2" fmla="*/ 58404 w 195163"/>
                    <a:gd name="csY2" fmla="*/ 33580 h 101316"/>
                    <a:gd name="csX3" fmla="*/ 39034 w 195163"/>
                    <a:gd name="csY3" fmla="*/ 67436 h 101316"/>
                    <a:gd name="csX4" fmla="*/ 195217 w 195163"/>
                    <a:gd name="csY4" fmla="*/ 66798 h 101316"/>
                    <a:gd name="csX5" fmla="*/ 175743 w 195163"/>
                    <a:gd name="csY5" fmla="*/ 100632 h 101316"/>
                    <a:gd name="csX6" fmla="*/ 19738 w 195163"/>
                    <a:gd name="csY6" fmla="*/ 101281 h 101316"/>
                    <a:gd name="csX7" fmla="*/ 54 w 195163"/>
                    <a:gd name="csY7" fmla="*/ 67603 h 1013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95163" h="101316">
                      <a:moveTo>
                        <a:pt x="54" y="67592"/>
                      </a:moveTo>
                      <a:lnTo>
                        <a:pt x="38783" y="-35"/>
                      </a:lnTo>
                      <a:lnTo>
                        <a:pt x="58404" y="33580"/>
                      </a:lnTo>
                      <a:lnTo>
                        <a:pt x="39034" y="67436"/>
                      </a:lnTo>
                      <a:lnTo>
                        <a:pt x="195217" y="66798"/>
                      </a:lnTo>
                      <a:lnTo>
                        <a:pt x="175743" y="100632"/>
                      </a:lnTo>
                      <a:lnTo>
                        <a:pt x="19738" y="101281"/>
                      </a:lnTo>
                      <a:lnTo>
                        <a:pt x="54" y="676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4" name="任意形状 73"/>
                <p:cNvSpPr/>
                <p:nvPr/>
              </p:nvSpPr>
              <p:spPr>
                <a:xfrm>
                  <a:off x="4563197" y="2140603"/>
                  <a:ext cx="155743" cy="169236"/>
                </a:xfrm>
                <a:custGeom>
                  <a:avLst/>
                  <a:gdLst>
                    <a:gd name="csX0" fmla="*/ 116443 w 155743"/>
                    <a:gd name="csY0" fmla="*/ -345 h 169236"/>
                    <a:gd name="csX1" fmla="*/ 155706 w 155743"/>
                    <a:gd name="csY1" fmla="*/ 66969 h 169236"/>
                    <a:gd name="csX2" fmla="*/ 116757 w 155743"/>
                    <a:gd name="csY2" fmla="*/ 67147 h 169236"/>
                    <a:gd name="csX3" fmla="*/ 97095 w 155743"/>
                    <a:gd name="csY3" fmla="*/ 33448 h 169236"/>
                    <a:gd name="csX4" fmla="*/ 19563 w 155743"/>
                    <a:gd name="csY4" fmla="*/ 168892 h 169236"/>
                    <a:gd name="csX5" fmla="*/ -37 w 155743"/>
                    <a:gd name="csY5" fmla="*/ 135131 h 169236"/>
                    <a:gd name="csX6" fmla="*/ 77400 w 155743"/>
                    <a:gd name="csY6" fmla="*/ -167 h 169236"/>
                    <a:gd name="csX7" fmla="*/ 116454 w 155743"/>
                    <a:gd name="csY7" fmla="*/ -345 h 1692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5743" h="169236">
                      <a:moveTo>
                        <a:pt x="116443" y="-345"/>
                      </a:moveTo>
                      <a:lnTo>
                        <a:pt x="155706" y="66969"/>
                      </a:lnTo>
                      <a:lnTo>
                        <a:pt x="116757" y="67147"/>
                      </a:lnTo>
                      <a:lnTo>
                        <a:pt x="97095" y="33448"/>
                      </a:lnTo>
                      <a:lnTo>
                        <a:pt x="19563" y="168892"/>
                      </a:lnTo>
                      <a:lnTo>
                        <a:pt x="-37" y="135131"/>
                      </a:lnTo>
                      <a:lnTo>
                        <a:pt x="77400" y="-167"/>
                      </a:lnTo>
                      <a:lnTo>
                        <a:pt x="116454" y="-3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 dirty="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5" name="任意形状 74"/>
                <p:cNvSpPr/>
                <p:nvPr/>
              </p:nvSpPr>
              <p:spPr>
                <a:xfrm>
                  <a:off x="4523662" y="2140780"/>
                  <a:ext cx="116982" cy="101441"/>
                </a:xfrm>
                <a:custGeom>
                  <a:avLst/>
                  <a:gdLst>
                    <a:gd name="csX0" fmla="*/ 59003 w 116982"/>
                    <a:gd name="csY0" fmla="*/ 101164 h 101441"/>
                    <a:gd name="csX1" fmla="*/ 117081 w 116982"/>
                    <a:gd name="csY1" fmla="*/ -267 h 101441"/>
                    <a:gd name="csX2" fmla="*/ 99 w 116982"/>
                    <a:gd name="csY2" fmla="*/ 214 h 101441"/>
                    <a:gd name="csX3" fmla="*/ 59003 w 116982"/>
                    <a:gd name="csY3" fmla="*/ 101174 h 10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6982" h="101441">
                      <a:moveTo>
                        <a:pt x="59003" y="101164"/>
                      </a:moveTo>
                      <a:lnTo>
                        <a:pt x="117081" y="-267"/>
                      </a:lnTo>
                      <a:lnTo>
                        <a:pt x="99" y="214"/>
                      </a:lnTo>
                      <a:lnTo>
                        <a:pt x="59003" y="101174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6" name="任意形状 75"/>
                <p:cNvSpPr/>
                <p:nvPr/>
              </p:nvSpPr>
              <p:spPr>
                <a:xfrm>
                  <a:off x="4503988" y="2100806"/>
                  <a:ext cx="82441" cy="141416"/>
                </a:xfrm>
                <a:custGeom>
                  <a:avLst/>
                  <a:gdLst>
                    <a:gd name="csX0" fmla="*/ 78762 w 82441"/>
                    <a:gd name="csY0" fmla="*/ 141184 h 141416"/>
                    <a:gd name="csX1" fmla="*/ 183 w 82441"/>
                    <a:gd name="csY1" fmla="*/ 6546 h 141416"/>
                    <a:gd name="csX2" fmla="*/ 4057 w 82441"/>
                    <a:gd name="csY2" fmla="*/ -221 h 141416"/>
                    <a:gd name="csX3" fmla="*/ 82625 w 82441"/>
                    <a:gd name="csY3" fmla="*/ 134428 h 141416"/>
                    <a:gd name="csX4" fmla="*/ 78762 w 82441"/>
                    <a:gd name="csY4" fmla="*/ 141195 h 1414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2441" h="141416">
                      <a:moveTo>
                        <a:pt x="78762" y="141184"/>
                      </a:moveTo>
                      <a:lnTo>
                        <a:pt x="183" y="6546"/>
                      </a:lnTo>
                      <a:lnTo>
                        <a:pt x="4057" y="-221"/>
                      </a:lnTo>
                      <a:lnTo>
                        <a:pt x="82625" y="134428"/>
                      </a:lnTo>
                      <a:lnTo>
                        <a:pt x="78762" y="141195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7" name="任意形状 76"/>
                <p:cNvSpPr/>
                <p:nvPr/>
              </p:nvSpPr>
              <p:spPr>
                <a:xfrm>
                  <a:off x="4523651" y="2140613"/>
                  <a:ext cx="159951" cy="7384"/>
                </a:xfrm>
                <a:custGeom>
                  <a:avLst/>
                  <a:gdLst>
                    <a:gd name="csX0" fmla="*/ 49 w 159951"/>
                    <a:gd name="csY0" fmla="*/ 490 h 7384"/>
                    <a:gd name="csX1" fmla="*/ 156075 w 159951"/>
                    <a:gd name="csY1" fmla="*/ -159 h 7384"/>
                    <a:gd name="csX2" fmla="*/ 160001 w 159951"/>
                    <a:gd name="csY2" fmla="*/ 6577 h 7384"/>
                    <a:gd name="csX3" fmla="*/ 3986 w 159951"/>
                    <a:gd name="csY3" fmla="*/ 7225 h 7384"/>
                    <a:gd name="csX4" fmla="*/ 49 w 159951"/>
                    <a:gd name="csY4" fmla="*/ 490 h 73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9951" h="7384">
                      <a:moveTo>
                        <a:pt x="49" y="490"/>
                      </a:moveTo>
                      <a:lnTo>
                        <a:pt x="156075" y="-159"/>
                      </a:lnTo>
                      <a:lnTo>
                        <a:pt x="160001" y="6577"/>
                      </a:lnTo>
                      <a:lnTo>
                        <a:pt x="3986" y="7225"/>
                      </a:lnTo>
                      <a:lnTo>
                        <a:pt x="49" y="490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8" name="任意形状 77"/>
                <p:cNvSpPr/>
                <p:nvPr/>
              </p:nvSpPr>
              <p:spPr>
                <a:xfrm>
                  <a:off x="4555407" y="2140760"/>
                  <a:ext cx="85237" cy="135328"/>
                </a:xfrm>
                <a:custGeom>
                  <a:avLst/>
                  <a:gdLst>
                    <a:gd name="csX0" fmla="*/ 85299 w 85237"/>
                    <a:gd name="csY0" fmla="*/ -306 h 135328"/>
                    <a:gd name="csX1" fmla="*/ 7862 w 85237"/>
                    <a:gd name="csY1" fmla="*/ 134991 h 135328"/>
                    <a:gd name="csX2" fmla="*/ 62 w 85237"/>
                    <a:gd name="csY2" fmla="*/ 135023 h 135328"/>
                    <a:gd name="csX3" fmla="*/ 77510 w 85237"/>
                    <a:gd name="csY3" fmla="*/ -264 h 135328"/>
                    <a:gd name="csX4" fmla="*/ 85299 w 85237"/>
                    <a:gd name="csY4" fmla="*/ -306 h 1353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5237" h="135328">
                      <a:moveTo>
                        <a:pt x="85299" y="-306"/>
                      </a:moveTo>
                      <a:lnTo>
                        <a:pt x="7862" y="134991"/>
                      </a:lnTo>
                      <a:lnTo>
                        <a:pt x="62" y="135023"/>
                      </a:lnTo>
                      <a:lnTo>
                        <a:pt x="77510" y="-264"/>
                      </a:lnTo>
                      <a:lnTo>
                        <a:pt x="85299" y="-306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79" name="文本框 78"/>
              <p:cNvSpPr txBox="1"/>
              <p:nvPr/>
            </p:nvSpPr>
            <p:spPr>
              <a:xfrm>
                <a:off x="4217080" y="2373687"/>
                <a:ext cx="78624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GB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教师模型</a:t>
                </a:r>
                <a:endParaRPr lang="zh-CN" altLang="en-GB" sz="100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81" name="任意形状 80"/>
              <p:cNvSpPr/>
              <p:nvPr/>
            </p:nvSpPr>
            <p:spPr>
              <a:xfrm>
                <a:off x="5043355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5170745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5154976" y="1536828"/>
                <a:ext cx="989373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5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5. SFT 数据集</a:t>
                </a:r>
                <a:endParaRPr lang="zh-CN" altLang="en-US" sz="105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5416266" y="2345589"/>
                <a:ext cx="46679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050" i="1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D</a:t>
                </a:r>
                <a:r>
                  <a:rPr lang="en-US" altLang="zh-CN" sz="1000" i="1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_sft</a:t>
                </a:r>
                <a:endParaRPr lang="zh-CN" altLang="en-US" sz="1000" i="1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1" name="任意形状 90"/>
              <p:cNvSpPr/>
              <p:nvPr/>
            </p:nvSpPr>
            <p:spPr>
              <a:xfrm>
                <a:off x="6102704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6230094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237201" y="1535392"/>
                <a:ext cx="85792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5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6. 监督微调</a:t>
                </a:r>
                <a:endParaRPr lang="zh-CN" altLang="en-US" sz="105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96" name="任意形状 95"/>
              <p:cNvSpPr/>
              <p:nvPr/>
            </p:nvSpPr>
            <p:spPr>
              <a:xfrm>
                <a:off x="6491579" y="1978967"/>
                <a:ext cx="411939" cy="411501"/>
              </a:xfrm>
              <a:custGeom>
                <a:avLst/>
                <a:gdLst>
                  <a:gd name="csX0" fmla="*/ 414 w 411939"/>
                  <a:gd name="csY0" fmla="*/ -227 h 411501"/>
                  <a:gd name="csX1" fmla="*/ 412353 w 411939"/>
                  <a:gd name="csY1" fmla="*/ -227 h 411501"/>
                  <a:gd name="csX2" fmla="*/ 412353 w 411939"/>
                  <a:gd name="csY2" fmla="*/ 411274 h 411501"/>
                  <a:gd name="csX3" fmla="*/ 414 w 411939"/>
                  <a:gd name="csY3" fmla="*/ 411274 h 4115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11939" h="411501">
                    <a:moveTo>
                      <a:pt x="414" y="-227"/>
                    </a:moveTo>
                    <a:lnTo>
                      <a:pt x="412353" y="-227"/>
                    </a:lnTo>
                    <a:lnTo>
                      <a:pt x="412353" y="411274"/>
                    </a:lnTo>
                    <a:lnTo>
                      <a:pt x="414" y="411274"/>
                    </a:lnTo>
                    <a:close/>
                  </a:path>
                </a:pathLst>
              </a:custGeom>
              <a:solidFill>
                <a:srgbClr val="FFFFFF">
                  <a:alpha val="1000"/>
                </a:srgbClr>
              </a:solidFill>
              <a:ln w="4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6236588" y="2372000"/>
                <a:ext cx="1026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GB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</a:rPr>
                  <a:t>本地模型微调</a:t>
                </a:r>
                <a:endParaRPr lang="zh-CN" altLang="en-GB" sz="100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01" name="任意形状 100"/>
              <p:cNvSpPr/>
              <p:nvPr/>
            </p:nvSpPr>
            <p:spPr>
              <a:xfrm>
                <a:off x="7162052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7289442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265871" y="1540547"/>
                <a:ext cx="97013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5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7. 本地模型</a:t>
                </a:r>
                <a:r>
                  <a:rPr lang="zh-CN" altLang="en-US" sz="1050" i="1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M</a:t>
                </a:r>
                <a:endParaRPr lang="zh-CN" altLang="en-US" sz="1050" i="1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7287487" y="2367296"/>
                <a:ext cx="92967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</a:rPr>
                  <a:t>用于</a:t>
                </a:r>
                <a:r>
                  <a:rPr lang="zh-CN" altLang="en-GB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</a:rPr>
                  <a:t>非确定状态补全</a:t>
                </a:r>
                <a:endParaRPr lang="zh-CN" altLang="en-GB" sz="100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grpSp>
          <p:nvGrpSpPr>
            <p:cNvPr id="115" name="图形 4"/>
            <p:cNvGrpSpPr/>
            <p:nvPr/>
          </p:nvGrpSpPr>
          <p:grpSpPr>
            <a:xfrm>
              <a:off x="8489590" y="1211043"/>
              <a:ext cx="2753553" cy="1634217"/>
              <a:chOff x="8489590" y="1211043"/>
              <a:chExt cx="2753553" cy="1634217"/>
            </a:xfrm>
          </p:grpSpPr>
          <p:sp>
            <p:nvSpPr>
              <p:cNvPr id="116" name="圆角矩形 115"/>
              <p:cNvSpPr/>
              <p:nvPr/>
            </p:nvSpPr>
            <p:spPr>
              <a:xfrm>
                <a:off x="8489590" y="1211043"/>
                <a:ext cx="2753553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7FBF4"/>
              </a:solidFill>
              <a:ln w="937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17" name="圆角矩形 116"/>
              <p:cNvSpPr/>
              <p:nvPr/>
            </p:nvSpPr>
            <p:spPr>
              <a:xfrm>
                <a:off x="8603571" y="1269020"/>
                <a:ext cx="2528255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8630926" y="1285764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8590607" y="1244047"/>
                <a:ext cx="2792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B</a:t>
                </a:r>
                <a:endParaRPr lang="zh-CN" altLang="en-US" sz="11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8613184" y="1249022"/>
                <a:ext cx="25170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spc="0" baseline="0" dirty="0">
                    <a:solidFill>
                      <a:srgbClr val="4D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验证收益画像</a:t>
                </a:r>
                <a:endParaRPr lang="zh-CN" altLang="en-US" sz="1200" spc="0" baseline="0" dirty="0">
                  <a:solidFill>
                    <a:srgbClr val="4D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1" name="圆角矩形 120"/>
              <p:cNvSpPr/>
              <p:nvPr/>
            </p:nvSpPr>
            <p:spPr>
              <a:xfrm>
                <a:off x="8603570" y="1550320"/>
                <a:ext cx="1143439" cy="705786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8491045" y="1558662"/>
                <a:ext cx="1371909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1. </a:t>
                </a:r>
                <a:r>
                  <a:rPr lang="zh-CN" altLang="en-US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历史</a:t>
                </a:r>
                <a:r>
                  <a:rPr lang="en-US" altLang="zh-CN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</a:t>
                </a:r>
                <a:r>
                  <a:rPr lang="zh-CN" altLang="en-US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日志</a:t>
                </a:r>
                <a:endParaRPr lang="zh-CN" altLang="en-US" sz="10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8674382" y="1990445"/>
                <a:ext cx="91884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runtime / states </a:t>
                </a:r>
                <a:endParaRPr lang="zh-CN" altLang="en-US" sz="9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7" name="任意形状 126"/>
              <p:cNvSpPr/>
              <p:nvPr/>
            </p:nvSpPr>
            <p:spPr>
              <a:xfrm>
                <a:off x="9759715" y="1891898"/>
                <a:ext cx="181027" cy="6697"/>
              </a:xfrm>
              <a:custGeom>
                <a:avLst/>
                <a:gdLst>
                  <a:gd name="csX0" fmla="*/ 0 w 181027"/>
                  <a:gd name="csY0" fmla="*/ 0 h 6697"/>
                  <a:gd name="csX1" fmla="*/ 181028 w 181027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27" h="6697">
                    <a:moveTo>
                      <a:pt x="0" y="0"/>
                    </a:moveTo>
                    <a:lnTo>
                      <a:pt x="181028" y="0"/>
                    </a:lnTo>
                  </a:path>
                </a:pathLst>
              </a:custGeom>
              <a:ln w="1339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8" name="圆角矩形 127"/>
              <p:cNvSpPr/>
              <p:nvPr/>
            </p:nvSpPr>
            <p:spPr>
              <a:xfrm>
                <a:off x="9949661" y="1552008"/>
                <a:ext cx="1180654" cy="704097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9973215" y="1552971"/>
                <a:ext cx="114423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2. 收益画像</a:t>
                </a:r>
                <a:endParaRPr lang="zh-CN" altLang="en-US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7" name="文本框 136"/>
              <p:cNvSpPr txBox="1"/>
              <p:nvPr/>
            </p:nvSpPr>
            <p:spPr>
              <a:xfrm>
                <a:off x="10052496" y="2014395"/>
                <a:ext cx="93166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9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Determined</a:t>
                </a:r>
                <a:r>
                  <a:rPr lang="zh-CN" altLang="en-US" sz="9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9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rate</a:t>
                </a:r>
                <a:endParaRPr lang="zh-CN" altLang="en-US" sz="9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9" name="任意形状 138"/>
              <p:cNvSpPr/>
              <p:nvPr/>
            </p:nvSpPr>
            <p:spPr>
              <a:xfrm>
                <a:off x="10552318" y="2277436"/>
                <a:ext cx="6704" cy="154045"/>
              </a:xfrm>
              <a:custGeom>
                <a:avLst/>
                <a:gdLst>
                  <a:gd name="csX0" fmla="*/ 0 w 6704"/>
                  <a:gd name="csY0" fmla="*/ 0 h 154045"/>
                  <a:gd name="csX1" fmla="*/ 0 w 6704"/>
                  <a:gd name="csY1" fmla="*/ 154045 h 154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54045">
                    <a:moveTo>
                      <a:pt x="0" y="0"/>
                    </a:moveTo>
                    <a:lnTo>
                      <a:pt x="0" y="154045"/>
                    </a:lnTo>
                  </a:path>
                </a:pathLst>
              </a:custGeom>
              <a:ln w="1339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40" name="圆角矩形 139"/>
              <p:cNvSpPr/>
              <p:nvPr/>
            </p:nvSpPr>
            <p:spPr>
              <a:xfrm>
                <a:off x="8958922" y="2441102"/>
                <a:ext cx="1783460" cy="334880"/>
              </a:xfrm>
              <a:prstGeom prst="roundRect">
                <a:avLst>
                  <a:gd name="adj" fmla="val 16017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8971523" y="2427457"/>
                <a:ext cx="175846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3. 动态预算策略 π</a:t>
                </a:r>
                <a:endParaRPr lang="zh-CN" altLang="en-US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2462922" y="2986773"/>
              <a:ext cx="151195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i="1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离线画像 → 在线预算路由</a:t>
              </a:r>
              <a:endParaRPr lang="zh-CN" altLang="en-US" sz="900" i="1" spc="0" baseline="0" dirty="0">
                <a:solidFill>
                  <a:srgbClr val="6F46C7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7863336" y="2971262"/>
              <a:ext cx="162736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i="1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离线模型 → 非确定状态补全</a:t>
              </a:r>
              <a:endParaRPr lang="zh-CN" altLang="en-US" sz="900" i="1" spc="0" baseline="0" dirty="0">
                <a:solidFill>
                  <a:srgbClr val="6F46C7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151" name="图形 4"/>
          <p:cNvGrpSpPr/>
          <p:nvPr/>
        </p:nvGrpSpPr>
        <p:grpSpPr>
          <a:xfrm>
            <a:off x="725504" y="3204630"/>
            <a:ext cx="10740989" cy="3040715"/>
            <a:chOff x="725504" y="3204630"/>
            <a:chExt cx="10740989" cy="3040715"/>
          </a:xfrm>
        </p:grpSpPr>
        <p:sp>
          <p:nvSpPr>
            <p:cNvPr id="153" name="文本框 152"/>
            <p:cNvSpPr txBox="1"/>
            <p:nvPr/>
          </p:nvSpPr>
          <p:spPr>
            <a:xfrm>
              <a:off x="4797682" y="3212952"/>
              <a:ext cx="42925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pc="0" baseline="0" dirty="0">
                  <a:solidFill>
                    <a:srgbClr val="4D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Stage II. Online SQL Equivalence Judgment</a:t>
              </a:r>
              <a:endParaRPr lang="zh-CN" altLang="en-US" spc="0" baseline="0" dirty="0">
                <a:solidFill>
                  <a:srgbClr val="4D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725504" y="3204630"/>
              <a:ext cx="10740989" cy="3040715"/>
            </a:xfrm>
            <a:prstGeom prst="roundRect">
              <a:avLst>
                <a:gd name="adj" fmla="val 3086"/>
              </a:avLst>
            </a:prstGeom>
            <a:solidFill>
              <a:srgbClr val="F8FCF7"/>
            </a:solidFill>
            <a:ln w="10719" cap="flat">
              <a:solidFill>
                <a:srgbClr val="8FCD9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6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grpSp>
          <p:nvGrpSpPr>
            <p:cNvPr id="154" name="图形 4"/>
            <p:cNvGrpSpPr/>
            <p:nvPr/>
          </p:nvGrpSpPr>
          <p:grpSpPr>
            <a:xfrm>
              <a:off x="978516" y="3526115"/>
              <a:ext cx="2060122" cy="2568026"/>
              <a:chOff x="978516" y="3526115"/>
              <a:chExt cx="2060122" cy="2568026"/>
            </a:xfrm>
          </p:grpSpPr>
          <p:sp>
            <p:nvSpPr>
              <p:cNvPr id="155" name="圆角矩形 154"/>
              <p:cNvSpPr/>
              <p:nvPr/>
            </p:nvSpPr>
            <p:spPr>
              <a:xfrm>
                <a:off x="978516" y="3526115"/>
                <a:ext cx="2060122" cy="2568026"/>
              </a:xfrm>
              <a:prstGeom prst="roundRect">
                <a:avLst>
                  <a:gd name="adj" fmla="val 3870"/>
                </a:avLst>
              </a:prstGeom>
              <a:solidFill>
                <a:srgbClr val="F7FBFF"/>
              </a:solidFill>
              <a:ln w="937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6" name="圆角矩形 155"/>
              <p:cNvSpPr/>
              <p:nvPr/>
            </p:nvSpPr>
            <p:spPr>
              <a:xfrm>
                <a:off x="1054036" y="3606486"/>
                <a:ext cx="1890735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4EFFF"/>
              </a:solidFill>
              <a:ln w="803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1072955" y="3629928"/>
                <a:ext cx="187732" cy="187533"/>
              </a:xfrm>
              <a:prstGeom prst="ellipse">
                <a:avLst/>
              </a:prstGeom>
              <a:solidFill>
                <a:srgbClr val="4F79B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8" name="文本框 157"/>
              <p:cNvSpPr txBox="1"/>
              <p:nvPr/>
            </p:nvSpPr>
            <p:spPr>
              <a:xfrm>
                <a:off x="1044687" y="3593076"/>
                <a:ext cx="2551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1</a:t>
                </a:r>
                <a:endParaRPr lang="zh-CN" altLang="en-US" sz="11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061635" y="3586602"/>
                <a:ext cx="1873764" cy="23876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ctr"/>
                <a:r>
                  <a:rPr lang="zh-CN" altLang="en-US" sz="1200" dirty="0">
                    <a:solidFill>
                      <a:srgbClr val="4C7BC0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动态预算分配</a:t>
                </a:r>
                <a:endParaRPr lang="zh-CN" altLang="en-US" sz="1200" dirty="0">
                  <a:solidFill>
                    <a:srgbClr val="4C7BC0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1" name="圆角矩形 160"/>
              <p:cNvSpPr/>
              <p:nvPr/>
            </p:nvSpPr>
            <p:spPr>
              <a:xfrm>
                <a:off x="1013808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62" name="图形 4"/>
              <p:cNvGrpSpPr/>
              <p:nvPr/>
            </p:nvGrpSpPr>
            <p:grpSpPr>
              <a:xfrm>
                <a:off x="1103383" y="4208869"/>
                <a:ext cx="112639" cy="126584"/>
                <a:chOff x="1103383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3" name="椭圆 162"/>
                <p:cNvSpPr/>
                <p:nvPr/>
              </p:nvSpPr>
              <p:spPr>
                <a:xfrm>
                  <a:off x="1103383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64" name="任意形状 163"/>
                <p:cNvSpPr/>
                <p:nvPr/>
              </p:nvSpPr>
              <p:spPr>
                <a:xfrm>
                  <a:off x="1103383" y="4228560"/>
                  <a:ext cx="112639" cy="106893"/>
                </a:xfrm>
                <a:custGeom>
                  <a:avLst/>
                  <a:gdLst>
                    <a:gd name="csX0" fmla="*/ 72 w 112639"/>
                    <a:gd name="csY0" fmla="*/ 565 h 106893"/>
                    <a:gd name="csX1" fmla="*/ 72 w 112639"/>
                    <a:gd name="csY1" fmla="*/ 82142 h 106893"/>
                    <a:gd name="csX2" fmla="*/ 56392 w 112639"/>
                    <a:gd name="csY2" fmla="*/ 107459 h 106893"/>
                    <a:gd name="csX3" fmla="*/ 112711 w 112639"/>
                    <a:gd name="csY3" fmla="*/ 82142 h 106893"/>
                    <a:gd name="csX4" fmla="*/ 112711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72" y="565"/>
                      </a:moveTo>
                      <a:lnTo>
                        <a:pt x="72" y="82142"/>
                      </a:lnTo>
                      <a:cubicBezTo>
                        <a:pt x="72" y="96207"/>
                        <a:pt x="25416" y="107459"/>
                        <a:pt x="56392" y="107459"/>
                      </a:cubicBezTo>
                      <a:cubicBezTo>
                        <a:pt x="87367" y="107459"/>
                        <a:pt x="112711" y="96207"/>
                        <a:pt x="112711" y="82142"/>
                      </a:cubicBezTo>
                      <a:lnTo>
                        <a:pt x="112711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65" name="椭圆 164"/>
                <p:cNvSpPr/>
                <p:nvPr/>
              </p:nvSpPr>
              <p:spPr>
                <a:xfrm>
                  <a:off x="1103383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66" name="文本框 165"/>
              <p:cNvSpPr txBox="1"/>
              <p:nvPr/>
            </p:nvSpPr>
            <p:spPr>
              <a:xfrm>
                <a:off x="1161799" y="4185967"/>
                <a:ext cx="43954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 A</a:t>
                </a:r>
                <a:endParaRPr lang="zh-CN" altLang="en-US" sz="7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7" name="圆角矩形 166"/>
              <p:cNvSpPr/>
              <p:nvPr/>
            </p:nvSpPr>
            <p:spPr>
              <a:xfrm>
                <a:off x="1670872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68" name="图形 4"/>
              <p:cNvGrpSpPr/>
              <p:nvPr/>
            </p:nvGrpSpPr>
            <p:grpSpPr>
              <a:xfrm>
                <a:off x="1760448" y="4208869"/>
                <a:ext cx="112639" cy="126584"/>
                <a:chOff x="1760448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9" name="椭圆 168"/>
                <p:cNvSpPr/>
                <p:nvPr/>
              </p:nvSpPr>
              <p:spPr>
                <a:xfrm>
                  <a:off x="1760448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0" name="任意形状 169"/>
                <p:cNvSpPr/>
                <p:nvPr/>
              </p:nvSpPr>
              <p:spPr>
                <a:xfrm>
                  <a:off x="1760448" y="4228560"/>
                  <a:ext cx="112639" cy="106893"/>
                </a:xfrm>
                <a:custGeom>
                  <a:avLst/>
                  <a:gdLst>
                    <a:gd name="csX0" fmla="*/ 170 w 112639"/>
                    <a:gd name="csY0" fmla="*/ 565 h 106893"/>
                    <a:gd name="csX1" fmla="*/ 170 w 112639"/>
                    <a:gd name="csY1" fmla="*/ 82142 h 106893"/>
                    <a:gd name="csX2" fmla="*/ 56490 w 112639"/>
                    <a:gd name="csY2" fmla="*/ 107459 h 106893"/>
                    <a:gd name="csX3" fmla="*/ 112809 w 112639"/>
                    <a:gd name="csY3" fmla="*/ 82142 h 106893"/>
                    <a:gd name="csX4" fmla="*/ 112809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170" y="565"/>
                      </a:moveTo>
                      <a:lnTo>
                        <a:pt x="170" y="82142"/>
                      </a:lnTo>
                      <a:cubicBezTo>
                        <a:pt x="170" y="96207"/>
                        <a:pt x="25514" y="107459"/>
                        <a:pt x="56490" y="107459"/>
                      </a:cubicBezTo>
                      <a:cubicBezTo>
                        <a:pt x="87465" y="107459"/>
                        <a:pt x="112809" y="96207"/>
                        <a:pt x="112809" y="82142"/>
                      </a:cubicBezTo>
                      <a:lnTo>
                        <a:pt x="112809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1" name="椭圆 170"/>
                <p:cNvSpPr/>
                <p:nvPr/>
              </p:nvSpPr>
              <p:spPr>
                <a:xfrm>
                  <a:off x="1760448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72" name="文本框 171"/>
              <p:cNvSpPr txBox="1"/>
              <p:nvPr/>
            </p:nvSpPr>
            <p:spPr>
              <a:xfrm>
                <a:off x="1835666" y="4190728"/>
                <a:ext cx="43473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 B</a:t>
                </a:r>
                <a:endParaRPr lang="zh-CN" altLang="en-US" sz="7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73" name="圆角矩形 172"/>
              <p:cNvSpPr/>
              <p:nvPr/>
            </p:nvSpPr>
            <p:spPr>
              <a:xfrm>
                <a:off x="2327937" y="4122202"/>
                <a:ext cx="6168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74" name="图形 4"/>
              <p:cNvGrpSpPr/>
              <p:nvPr/>
            </p:nvGrpSpPr>
            <p:grpSpPr>
              <a:xfrm>
                <a:off x="2448622" y="4189178"/>
                <a:ext cx="167618" cy="170789"/>
                <a:chOff x="2448622" y="4189178"/>
                <a:chExt cx="167618" cy="170789"/>
              </a:xfrm>
              <a:solidFill>
                <a:srgbClr val="000000"/>
              </a:solidFill>
            </p:grpSpPr>
            <p:sp>
              <p:nvSpPr>
                <p:cNvPr id="175" name="矩形 174"/>
                <p:cNvSpPr/>
                <p:nvPr/>
              </p:nvSpPr>
              <p:spPr>
                <a:xfrm>
                  <a:off x="2502260" y="4189178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>
                  <a:off x="244862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>
                  <a:off x="256260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8" name="任意形状 177"/>
                <p:cNvSpPr/>
                <p:nvPr/>
              </p:nvSpPr>
              <p:spPr>
                <a:xfrm>
                  <a:off x="2475441" y="4242759"/>
                  <a:ext cx="113980" cy="63627"/>
                </a:xfrm>
                <a:custGeom>
                  <a:avLst/>
                  <a:gdLst>
                    <a:gd name="csX0" fmla="*/ 53909 w 113980"/>
                    <a:gd name="csY0" fmla="*/ 563 h 63627"/>
                    <a:gd name="csX1" fmla="*/ 53909 w 113980"/>
                    <a:gd name="csY1" fmla="*/ 40749 h 63627"/>
                    <a:gd name="csX2" fmla="*/ 272 w 113980"/>
                    <a:gd name="csY2" fmla="*/ 40749 h 63627"/>
                    <a:gd name="csX3" fmla="*/ 114252 w 113980"/>
                    <a:gd name="csY3" fmla="*/ 40749 h 63627"/>
                    <a:gd name="csX4" fmla="*/ 272 w 113980"/>
                    <a:gd name="csY4" fmla="*/ 40749 h 63627"/>
                    <a:gd name="csX5" fmla="*/ 272 w 113980"/>
                    <a:gd name="csY5" fmla="*/ 64191 h 63627"/>
                    <a:gd name="csX6" fmla="*/ 114252 w 113980"/>
                    <a:gd name="csY6" fmla="*/ 40749 h 63627"/>
                    <a:gd name="csX7" fmla="*/ 114252 w 113980"/>
                    <a:gd name="csY7" fmla="*/ 64191 h 636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3980" h="63627">
                      <a:moveTo>
                        <a:pt x="53909" y="563"/>
                      </a:moveTo>
                      <a:lnTo>
                        <a:pt x="53909" y="40749"/>
                      </a:lnTo>
                      <a:moveTo>
                        <a:pt x="272" y="40749"/>
                      </a:moveTo>
                      <a:lnTo>
                        <a:pt x="114252" y="40749"/>
                      </a:lnTo>
                      <a:moveTo>
                        <a:pt x="272" y="40749"/>
                      </a:moveTo>
                      <a:lnTo>
                        <a:pt x="272" y="64191"/>
                      </a:lnTo>
                      <a:moveTo>
                        <a:pt x="114252" y="40749"/>
                      </a:moveTo>
                      <a:lnTo>
                        <a:pt x="114252" y="64191"/>
                      </a:lnTo>
                    </a:path>
                  </a:pathLst>
                </a:custGeom>
                <a:noFill/>
                <a:ln w="737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6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79" name="文本框 178"/>
              <p:cNvSpPr txBox="1"/>
              <p:nvPr/>
            </p:nvSpPr>
            <p:spPr>
              <a:xfrm>
                <a:off x="2556192" y="4188697"/>
                <a:ext cx="47000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Schema</a:t>
                </a:r>
                <a:endParaRPr lang="zh-CN" altLang="en-US" sz="7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0" name="任意形状 179"/>
              <p:cNvSpPr/>
              <p:nvPr/>
            </p:nvSpPr>
            <p:spPr>
              <a:xfrm>
                <a:off x="1295407" y="4443688"/>
                <a:ext cx="1347652" cy="133952"/>
              </a:xfrm>
              <a:custGeom>
                <a:avLst/>
                <a:gdLst>
                  <a:gd name="csX0" fmla="*/ 0 w 1347652"/>
                  <a:gd name="csY0" fmla="*/ 0 h 133952"/>
                  <a:gd name="csX1" fmla="*/ 0 w 1347652"/>
                  <a:gd name="csY1" fmla="*/ 133952 h 133952"/>
                  <a:gd name="csX2" fmla="*/ 1347652 w 1347652"/>
                  <a:gd name="csY2" fmla="*/ 133952 h 133952"/>
                  <a:gd name="csX3" fmla="*/ 1347652 w 1347652"/>
                  <a:gd name="csY3" fmla="*/ 0 h 133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7652" h="133952">
                    <a:moveTo>
                      <a:pt x="0" y="0"/>
                    </a:moveTo>
                    <a:lnTo>
                      <a:pt x="0" y="133952"/>
                    </a:lnTo>
                    <a:lnTo>
                      <a:pt x="1347652" y="133952"/>
                    </a:lnTo>
                    <a:lnTo>
                      <a:pt x="1347652" y="0"/>
                    </a:lnTo>
                  </a:path>
                </a:pathLst>
              </a:custGeom>
              <a:noFill/>
              <a:ln w="13399" cap="rnd">
                <a:solidFill>
                  <a:srgbClr val="99BDE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1" name="任意形状 180"/>
              <p:cNvSpPr/>
              <p:nvPr/>
            </p:nvSpPr>
            <p:spPr>
              <a:xfrm>
                <a:off x="1952471" y="4443688"/>
                <a:ext cx="6704" cy="221021"/>
              </a:xfrm>
              <a:custGeom>
                <a:avLst/>
                <a:gdLst>
                  <a:gd name="csX0" fmla="*/ 0 w 6704"/>
                  <a:gd name="csY0" fmla="*/ 0 h 221021"/>
                  <a:gd name="csX1" fmla="*/ 0 w 6704"/>
                  <a:gd name="csY1" fmla="*/ 221021 h 2210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221021">
                    <a:moveTo>
                      <a:pt x="0" y="0"/>
                    </a:moveTo>
                    <a:lnTo>
                      <a:pt x="0" y="221021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2" name="圆角矩形 181"/>
              <p:cNvSpPr/>
              <p:nvPr/>
            </p:nvSpPr>
            <p:spPr>
              <a:xfrm>
                <a:off x="1214064" y="4679069"/>
                <a:ext cx="1475042" cy="464579"/>
              </a:xfrm>
              <a:prstGeom prst="roundRect">
                <a:avLst>
                  <a:gd name="adj" fmla="val 13347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3" name="文本框 182"/>
              <p:cNvSpPr txBox="1"/>
              <p:nvPr/>
            </p:nvSpPr>
            <p:spPr>
              <a:xfrm>
                <a:off x="1514660" y="4743291"/>
                <a:ext cx="1138888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9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结构特征抽取</a:t>
                </a:r>
                <a:endParaRPr lang="zh-CN" altLang="en-US" sz="9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6" name="任意形状 185"/>
              <p:cNvSpPr/>
              <p:nvPr/>
            </p:nvSpPr>
            <p:spPr>
              <a:xfrm>
                <a:off x="1950078" y="5158578"/>
                <a:ext cx="6704" cy="174137"/>
              </a:xfrm>
              <a:custGeom>
                <a:avLst/>
                <a:gdLst>
                  <a:gd name="csX0" fmla="*/ 0 w 6704"/>
                  <a:gd name="csY0" fmla="*/ 0 h 174137"/>
                  <a:gd name="csX1" fmla="*/ 0 w 6704"/>
                  <a:gd name="csY1" fmla="*/ 174138 h 174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74137">
                    <a:moveTo>
                      <a:pt x="0" y="0"/>
                    </a:moveTo>
                    <a:lnTo>
                      <a:pt x="0" y="174138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7" name="圆角矩形 186"/>
              <p:cNvSpPr/>
              <p:nvPr/>
            </p:nvSpPr>
            <p:spPr>
              <a:xfrm>
                <a:off x="1214064" y="5341456"/>
                <a:ext cx="1475042" cy="475242"/>
              </a:xfrm>
              <a:prstGeom prst="roundRect">
                <a:avLst>
                  <a:gd name="adj" fmla="val 9766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8" name="文本框 187"/>
              <p:cNvSpPr txBox="1"/>
              <p:nvPr/>
            </p:nvSpPr>
            <p:spPr>
              <a:xfrm>
                <a:off x="1594555" y="5411293"/>
                <a:ext cx="761747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预算路由器</a:t>
                </a:r>
                <a:endParaRPr lang="zh-CN" altLang="en-US" sz="9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0" name="文本框 189"/>
              <p:cNvSpPr txBox="1"/>
              <p:nvPr/>
            </p:nvSpPr>
            <p:spPr>
              <a:xfrm>
                <a:off x="1610836" y="5585325"/>
                <a:ext cx="7441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B</a:t>
                </a:r>
                <a:r>
                  <a:rPr lang="zh-CN" altLang="en-US" sz="80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80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= </a:t>
                </a:r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π</a:t>
                </a:r>
                <a:r>
                  <a:rPr lang="en-US" altLang="zh-CN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(x</a:t>
                </a:r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，</a:t>
                </a:r>
                <a:r>
                  <a:rPr lang="en-US" altLang="zh-CN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P)</a:t>
                </a:r>
                <a:endParaRPr lang="zh-CN" altLang="en-US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191" name="图形 4"/>
            <p:cNvGrpSpPr/>
            <p:nvPr/>
          </p:nvGrpSpPr>
          <p:grpSpPr>
            <a:xfrm>
              <a:off x="3204586" y="3521862"/>
              <a:ext cx="3434497" cy="2581269"/>
              <a:chOff x="3204586" y="3521862"/>
              <a:chExt cx="3434497" cy="2581269"/>
            </a:xfrm>
          </p:grpSpPr>
          <p:sp>
            <p:nvSpPr>
              <p:cNvPr id="192" name="圆角矩形 191"/>
              <p:cNvSpPr/>
              <p:nvPr/>
            </p:nvSpPr>
            <p:spPr>
              <a:xfrm>
                <a:off x="3204586" y="3521862"/>
                <a:ext cx="3434497" cy="2581269"/>
              </a:xfrm>
              <a:prstGeom prst="roundRect">
                <a:avLst>
                  <a:gd name="adj" fmla="val 3696"/>
                </a:avLst>
              </a:prstGeom>
              <a:solidFill>
                <a:srgbClr val="F7FBF4"/>
              </a:solidFill>
              <a:ln w="9379" cap="flat">
                <a:solidFill>
                  <a:srgbClr val="A4CF78"/>
                </a:solidFill>
                <a:prstDash val="solid"/>
                <a:miter/>
                <a:tailEnd type="stealth"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93" name="圆角矩形 192"/>
              <p:cNvSpPr/>
              <p:nvPr/>
            </p:nvSpPr>
            <p:spPr>
              <a:xfrm>
                <a:off x="3481151" y="3606486"/>
                <a:ext cx="3057361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94" name="椭圆 193"/>
              <p:cNvSpPr/>
              <p:nvPr/>
            </p:nvSpPr>
            <p:spPr>
              <a:xfrm>
                <a:off x="3494561" y="3629928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3468320" y="3595542"/>
                <a:ext cx="2551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2</a:t>
                </a:r>
                <a:endParaRPr lang="zh-CN" altLang="en-US" sz="11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3487120" y="3595553"/>
                <a:ext cx="30491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有界</a:t>
                </a:r>
                <a:r>
                  <a:rPr lang="en-US" altLang="zh-CN" sz="12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</a:t>
                </a:r>
                <a:r>
                  <a:rPr lang="zh-CN" altLang="en-US" sz="12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验证</a:t>
                </a:r>
                <a:endParaRPr lang="zh-CN" altLang="en-US" sz="12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7" name="圆角矩形 196"/>
              <p:cNvSpPr/>
              <p:nvPr/>
            </p:nvSpPr>
            <p:spPr>
              <a:xfrm>
                <a:off x="3494561" y="3946358"/>
                <a:ext cx="703997" cy="1980260"/>
              </a:xfrm>
              <a:prstGeom prst="roundRect">
                <a:avLst>
                  <a:gd name="adj" fmla="val 7619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01" name="文本框 200"/>
              <p:cNvSpPr txBox="1"/>
              <p:nvPr/>
            </p:nvSpPr>
            <p:spPr>
              <a:xfrm>
                <a:off x="3804226" y="4044515"/>
                <a:ext cx="31213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Q₁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3796698" y="4388854"/>
                <a:ext cx="28886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Q₂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3686207" y="4805564"/>
                <a:ext cx="50847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Schema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3638646" y="5220990"/>
                <a:ext cx="63671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Bound = B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3638646" y="5498778"/>
                <a:ext cx="6126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Integrity</a:t>
                </a:r>
                <a:endParaRPr lang="en-US" altLang="zh-CN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  <a:p>
                <a:pPr algn="ctr"/>
                <a:r>
                  <a:rPr lang="zh-CN" altLang="en-US" sz="8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Constraint</a:t>
                </a:r>
                <a:endParaRPr lang="zh-CN" altLang="en-US" sz="8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7" name="任意形状 216"/>
              <p:cNvSpPr/>
              <p:nvPr/>
            </p:nvSpPr>
            <p:spPr>
              <a:xfrm>
                <a:off x="4198558" y="4953897"/>
                <a:ext cx="174323" cy="6697"/>
              </a:xfrm>
              <a:custGeom>
                <a:avLst/>
                <a:gdLst>
                  <a:gd name="csX0" fmla="*/ 0 w 174323"/>
                  <a:gd name="csY0" fmla="*/ 0 h 6697"/>
                  <a:gd name="csX1" fmla="*/ 174323 w 174323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4323" h="6697">
                    <a:moveTo>
                      <a:pt x="0" y="0"/>
                    </a:moveTo>
                    <a:lnTo>
                      <a:pt x="174323" y="0"/>
                    </a:lnTo>
                  </a:path>
                </a:pathLst>
              </a:custGeom>
              <a:ln w="1339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18" name="圆角矩形 217"/>
              <p:cNvSpPr/>
              <p:nvPr/>
            </p:nvSpPr>
            <p:spPr>
              <a:xfrm>
                <a:off x="4366177" y="3951824"/>
                <a:ext cx="1407994" cy="1980870"/>
              </a:xfrm>
              <a:prstGeom prst="roundRect">
                <a:avLst>
                  <a:gd name="adj" fmla="val 3809"/>
                </a:avLst>
              </a:prstGeom>
              <a:solidFill>
                <a:srgbClr val="FFFFFF"/>
              </a:solidFill>
              <a:ln w="7369" cap="flat">
                <a:solidFill>
                  <a:srgbClr val="A4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4684232" y="3947856"/>
                <a:ext cx="77425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 </a:t>
                </a:r>
                <a:endParaRPr lang="zh-CN" altLang="en-US" sz="12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0" name="文本框 219"/>
              <p:cNvSpPr txBox="1"/>
              <p:nvPr/>
            </p:nvSpPr>
            <p:spPr>
              <a:xfrm>
                <a:off x="4581320" y="4146524"/>
                <a:ext cx="877163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在线有界验证</a:t>
                </a:r>
                <a:endParaRPr lang="zh-CN" altLang="en-US" sz="9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2" name="圆角矩形 221"/>
              <p:cNvSpPr/>
              <p:nvPr/>
            </p:nvSpPr>
            <p:spPr>
              <a:xfrm>
                <a:off x="4500941" y="4541580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3" name="文本框 222"/>
              <p:cNvSpPr txBox="1"/>
              <p:nvPr/>
            </p:nvSpPr>
            <p:spPr>
              <a:xfrm>
                <a:off x="4519744" y="4523509"/>
                <a:ext cx="118013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Symbolic DB Generator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4" name="任意形状 223"/>
              <p:cNvSpPr/>
              <p:nvPr/>
            </p:nvSpPr>
            <p:spPr>
              <a:xfrm>
                <a:off x="5070174" y="4767300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5" name="圆角矩形 224"/>
              <p:cNvSpPr/>
              <p:nvPr/>
            </p:nvSpPr>
            <p:spPr>
              <a:xfrm>
                <a:off x="4500941" y="4856367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6" name="文本框 225"/>
              <p:cNvSpPr txBox="1"/>
              <p:nvPr/>
            </p:nvSpPr>
            <p:spPr>
              <a:xfrm>
                <a:off x="4691280" y="4858707"/>
                <a:ext cx="80502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8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Query Encoder</a:t>
                </a:r>
                <a:endParaRPr lang="zh-CN" altLang="en-US" sz="8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227" name="任意形状 226"/>
              <p:cNvSpPr/>
              <p:nvPr/>
            </p:nvSpPr>
            <p:spPr>
              <a:xfrm>
                <a:off x="5070174" y="5078179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8" name="圆角矩形 227"/>
              <p:cNvSpPr/>
              <p:nvPr/>
            </p:nvSpPr>
            <p:spPr>
              <a:xfrm>
                <a:off x="4500941" y="5171155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>
                <a:off x="4640004" y="5161353"/>
                <a:ext cx="89800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8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Equality Checker</a:t>
                </a:r>
                <a:endParaRPr lang="zh-CN" altLang="en-US" sz="8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230" name="任意形状 229"/>
              <p:cNvSpPr/>
              <p:nvPr/>
            </p:nvSpPr>
            <p:spPr>
              <a:xfrm>
                <a:off x="5070174" y="5386188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1" name="圆角矩形 230"/>
              <p:cNvSpPr/>
              <p:nvPr/>
            </p:nvSpPr>
            <p:spPr>
              <a:xfrm>
                <a:off x="4500941" y="5485943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2" name="文本框 231"/>
              <p:cNvSpPr txBox="1"/>
              <p:nvPr/>
            </p:nvSpPr>
            <p:spPr>
              <a:xfrm>
                <a:off x="4634856" y="5481513"/>
                <a:ext cx="9060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Constraint Solver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33" name="任意形状 232"/>
              <p:cNvSpPr/>
              <p:nvPr/>
            </p:nvSpPr>
            <p:spPr>
              <a:xfrm>
                <a:off x="5774172" y="4445295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23954B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4" name="圆角矩形 233"/>
              <p:cNvSpPr/>
              <p:nvPr/>
            </p:nvSpPr>
            <p:spPr>
              <a:xfrm>
                <a:off x="5921676" y="4125113"/>
                <a:ext cx="616835" cy="606371"/>
              </a:xfrm>
              <a:prstGeom prst="roundRect">
                <a:avLst>
                  <a:gd name="adj" fmla="val 9312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8" name="文本框 237"/>
              <p:cNvSpPr txBox="1"/>
              <p:nvPr/>
            </p:nvSpPr>
            <p:spPr>
              <a:xfrm>
                <a:off x="5890477" y="4532556"/>
                <a:ext cx="69762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形式化确定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41" name="任意形状 240"/>
              <p:cNvSpPr/>
              <p:nvPr/>
            </p:nvSpPr>
            <p:spPr>
              <a:xfrm>
                <a:off x="5769919" y="5358850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DF8127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42" name="圆角矩形 241"/>
              <p:cNvSpPr/>
              <p:nvPr/>
            </p:nvSpPr>
            <p:spPr>
              <a:xfrm>
                <a:off x="5921676" y="5107881"/>
                <a:ext cx="616835" cy="565220"/>
              </a:xfrm>
              <a:prstGeom prst="roundRect">
                <a:avLst>
                  <a:gd name="adj" fmla="val 8695"/>
                </a:avLst>
              </a:prstGeom>
              <a:solidFill>
                <a:srgbClr val="FFFFFF"/>
              </a:solidFill>
              <a:ln w="7369" cap="flat">
                <a:solidFill>
                  <a:srgbClr val="E8AA6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46" name="文本框 245"/>
              <p:cNvSpPr txBox="1"/>
              <p:nvPr/>
            </p:nvSpPr>
            <p:spPr>
              <a:xfrm>
                <a:off x="5982248" y="5465289"/>
                <a:ext cx="49244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dirty="0">
                    <a:solidFill>
                      <a:srgbClr val="DB7B24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非确定</a:t>
                </a:r>
                <a:endParaRPr lang="zh-CN" altLang="en-US" sz="800" dirty="0">
                  <a:solidFill>
                    <a:srgbClr val="DB7B24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283" name="图形 4"/>
            <p:cNvGrpSpPr/>
            <p:nvPr/>
          </p:nvGrpSpPr>
          <p:grpSpPr>
            <a:xfrm>
              <a:off x="9186883" y="3526115"/>
              <a:ext cx="2049868" cy="2573520"/>
              <a:chOff x="9186883" y="3526115"/>
              <a:chExt cx="2049868" cy="2573520"/>
            </a:xfrm>
          </p:grpSpPr>
          <p:sp>
            <p:nvSpPr>
              <p:cNvPr id="284" name="圆角矩形 283"/>
              <p:cNvSpPr/>
              <p:nvPr/>
            </p:nvSpPr>
            <p:spPr>
              <a:xfrm>
                <a:off x="9186883" y="3526115"/>
                <a:ext cx="2049868" cy="2573520"/>
              </a:xfrm>
              <a:prstGeom prst="roundRect">
                <a:avLst>
                  <a:gd name="adj" fmla="val 4210"/>
                </a:avLst>
              </a:prstGeom>
              <a:solidFill>
                <a:srgbClr val="F6F6F6"/>
              </a:solidFill>
              <a:ln w="937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85" name="圆角矩形 284"/>
              <p:cNvSpPr/>
              <p:nvPr/>
            </p:nvSpPr>
            <p:spPr>
              <a:xfrm>
                <a:off x="9254252" y="3606486"/>
                <a:ext cx="1877360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E7E7"/>
              </a:solidFill>
              <a:ln w="803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86" name="椭圆 285"/>
              <p:cNvSpPr/>
              <p:nvPr/>
            </p:nvSpPr>
            <p:spPr>
              <a:xfrm>
                <a:off x="9281376" y="3627915"/>
                <a:ext cx="187732" cy="187533"/>
              </a:xfrm>
              <a:prstGeom prst="ellipse">
                <a:avLst/>
              </a:prstGeom>
              <a:solidFill>
                <a:srgbClr val="6D6D6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87" name="文本框 286"/>
              <p:cNvSpPr txBox="1"/>
              <p:nvPr/>
            </p:nvSpPr>
            <p:spPr>
              <a:xfrm>
                <a:off x="9244118" y="3590872"/>
                <a:ext cx="2551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1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4</a:t>
                </a:r>
                <a:endParaRPr lang="zh-CN" altLang="en-US" sz="11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8" name="文本框 287"/>
              <p:cNvSpPr txBox="1"/>
              <p:nvPr/>
            </p:nvSpPr>
            <p:spPr>
              <a:xfrm>
                <a:off x="9262105" y="3583928"/>
                <a:ext cx="186180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spc="0" baseline="0" dirty="0">
                    <a:solidFill>
                      <a:srgbClr val="66666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来源感知的结果输出</a:t>
                </a:r>
                <a:endParaRPr lang="zh-CN" altLang="en-US" sz="1200" spc="0" baseline="0" dirty="0">
                  <a:solidFill>
                    <a:srgbClr val="66666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9" name="圆角矩形 288"/>
              <p:cNvSpPr/>
              <p:nvPr/>
            </p:nvSpPr>
            <p:spPr>
              <a:xfrm>
                <a:off x="9516691" y="4209271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93" name="文本框 292"/>
              <p:cNvSpPr txBox="1"/>
              <p:nvPr/>
            </p:nvSpPr>
            <p:spPr>
              <a:xfrm>
                <a:off x="9942287" y="4271125"/>
                <a:ext cx="857927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形式化判定</a:t>
                </a:r>
                <a:endParaRPr lang="zh-CN" altLang="en-US" sz="105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9983386" y="4481251"/>
                <a:ext cx="76976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来自</a:t>
                </a:r>
                <a:r>
                  <a:rPr lang="en-US" altLang="zh-CN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</a:t>
                </a:r>
                <a:endParaRPr lang="en-US" altLang="zh-CN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6" name="圆角矩形 295"/>
              <p:cNvSpPr/>
              <p:nvPr/>
            </p:nvSpPr>
            <p:spPr>
              <a:xfrm>
                <a:off x="9516691" y="4832149"/>
                <a:ext cx="1448223" cy="488925"/>
              </a:xfrm>
              <a:prstGeom prst="roundRect">
                <a:avLst>
                  <a:gd name="adj" fmla="val 10970"/>
                </a:avLst>
              </a:prstGeom>
              <a:solidFill>
                <a:srgbClr val="FFFFFF"/>
              </a:solidFill>
              <a:ln w="7369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309" name="任意形状 308"/>
              <p:cNvSpPr/>
              <p:nvPr/>
            </p:nvSpPr>
            <p:spPr>
              <a:xfrm>
                <a:off x="9875852" y="5136247"/>
                <a:ext cx="54013" cy="40721"/>
              </a:xfrm>
              <a:custGeom>
                <a:avLst/>
                <a:gdLst>
                  <a:gd name="csX0" fmla="*/ 1283 w 54013"/>
                  <a:gd name="csY0" fmla="*/ 22564 h 40721"/>
                  <a:gd name="csX1" fmla="*/ 19628 w 54013"/>
                  <a:gd name="csY1" fmla="*/ 41398 h 40721"/>
                  <a:gd name="csX2" fmla="*/ 55297 w 54013"/>
                  <a:gd name="csY2" fmla="*/ 677 h 407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4013" h="40721">
                    <a:moveTo>
                      <a:pt x="1283" y="22564"/>
                    </a:moveTo>
                    <a:lnTo>
                      <a:pt x="19628" y="41398"/>
                    </a:lnTo>
                    <a:lnTo>
                      <a:pt x="55297" y="677"/>
                    </a:lnTo>
                  </a:path>
                </a:pathLst>
              </a:custGeom>
              <a:noFill/>
              <a:ln w="14256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6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310" name="文本框 309"/>
              <p:cNvSpPr txBox="1"/>
              <p:nvPr/>
            </p:nvSpPr>
            <p:spPr>
              <a:xfrm>
                <a:off x="9994411" y="4900817"/>
                <a:ext cx="72327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solidFill>
                      <a:srgbClr val="D5833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模型辅助</a:t>
                </a:r>
                <a:endParaRPr lang="zh-CN" altLang="en-US" sz="105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1" name="文本框 310"/>
              <p:cNvSpPr txBox="1"/>
              <p:nvPr/>
            </p:nvSpPr>
            <p:spPr>
              <a:xfrm>
                <a:off x="9954255" y="5126587"/>
                <a:ext cx="80021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D5833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来自模型补全</a:t>
                </a:r>
                <a:endPara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3" name="圆角矩形 312"/>
              <p:cNvSpPr/>
              <p:nvPr/>
            </p:nvSpPr>
            <p:spPr>
              <a:xfrm>
                <a:off x="9516691" y="5468422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C9C9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6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317" name="文本框 316"/>
              <p:cNvSpPr txBox="1"/>
              <p:nvPr/>
            </p:nvSpPr>
            <p:spPr>
              <a:xfrm>
                <a:off x="10005206" y="5533014"/>
                <a:ext cx="723275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50" spc="0" baseline="0" dirty="0">
                    <a:solidFill>
                      <a:srgbClr val="66666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未决样本</a:t>
                </a:r>
                <a:endParaRPr lang="zh-CN" altLang="en-US" sz="1050" spc="0" baseline="0" dirty="0">
                  <a:solidFill>
                    <a:srgbClr val="66666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8" name="文本框 317"/>
              <p:cNvSpPr txBox="1"/>
              <p:nvPr/>
            </p:nvSpPr>
            <p:spPr>
              <a:xfrm>
                <a:off x="9939960" y="5736425"/>
                <a:ext cx="90281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66666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未形成一致结果</a:t>
                </a:r>
                <a:endParaRPr lang="zh-CN" altLang="en-US" sz="800" spc="0" baseline="0" dirty="0">
                  <a:solidFill>
                    <a:srgbClr val="66666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319" name="任意形状 318"/>
            <p:cNvSpPr/>
            <p:nvPr/>
          </p:nvSpPr>
          <p:spPr>
            <a:xfrm flipV="1">
              <a:off x="2695134" y="5525343"/>
              <a:ext cx="492822" cy="45719"/>
            </a:xfrm>
            <a:custGeom>
              <a:avLst/>
              <a:gdLst>
                <a:gd name="csX0" fmla="*/ 0 w 750930"/>
                <a:gd name="csY0" fmla="*/ 0 h 6697"/>
                <a:gd name="csX1" fmla="*/ 750931 w 750930"/>
                <a:gd name="csY1" fmla="*/ 0 h 6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50930" h="6697">
                  <a:moveTo>
                    <a:pt x="0" y="0"/>
                  </a:moveTo>
                  <a:lnTo>
                    <a:pt x="750931" y="0"/>
                  </a:lnTo>
                </a:path>
              </a:pathLst>
            </a:custGeom>
            <a:ln w="13399" cap="rnd">
              <a:solidFill>
                <a:srgbClr val="99BDE9"/>
              </a:solidFill>
              <a:prstDash val="dash"/>
              <a:round/>
              <a:tailEnd type="stealth"/>
            </a:ln>
          </p:spPr>
          <p:txBody>
            <a:bodyPr/>
            <a:lstStyle/>
            <a:p>
              <a:endParaRPr lang="zh-CN" altLang="en-US" sz="16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2624599" y="5369514"/>
              <a:ext cx="4924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预算B</a:t>
              </a:r>
              <a:endParaRPr lang="zh-CN" altLang="en-US" sz="9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</p:grpSp>
      <p:sp>
        <p:nvSpPr>
          <p:cNvPr id="330" name="圆角矩形 329"/>
          <p:cNvSpPr/>
          <p:nvPr/>
        </p:nvSpPr>
        <p:spPr>
          <a:xfrm>
            <a:off x="2084107" y="2298247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accent6">
              <a:lumMod val="20000"/>
              <a:lumOff val="80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600"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2142642" y="2224189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900" spc="0" baseline="0" dirty="0">
                <a:solidFill>
                  <a:srgbClr val="6E9835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equivalent</a:t>
            </a:r>
            <a:endParaRPr lang="en-US" altLang="zh-CN" sz="900" spc="0" baseline="0" dirty="0">
              <a:solidFill>
                <a:srgbClr val="6E9835"/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2084105" y="2440731"/>
            <a:ext cx="757635" cy="105864"/>
          </a:xfrm>
          <a:prstGeom prst="roundRect">
            <a:avLst>
              <a:gd name="adj" fmla="val 14598"/>
            </a:avLst>
          </a:prstGeom>
          <a:solidFill>
            <a:srgbClr val="FCE6CB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600"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</a:endParaRPr>
          </a:p>
        </p:txBody>
      </p:sp>
      <p:sp>
        <p:nvSpPr>
          <p:cNvPr id="334" name="圆角矩形 333"/>
          <p:cNvSpPr/>
          <p:nvPr/>
        </p:nvSpPr>
        <p:spPr>
          <a:xfrm>
            <a:off x="2084105" y="2584753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bg1">
              <a:lumMod val="85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600"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2009764" y="2365141"/>
            <a:ext cx="9220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900" spc="0" baseline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counterexample</a:t>
            </a:r>
            <a:endParaRPr lang="en-US" altLang="zh-CN" sz="900" spc="0" baseline="0" dirty="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2016664" y="2513740"/>
            <a:ext cx="915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900" dirty="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non-determined</a:t>
            </a:r>
            <a:endParaRPr lang="en-US" altLang="zh-CN" sz="900" spc="0" baseline="0" dirty="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613" name="图形 6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4322" y="2018906"/>
            <a:ext cx="237200" cy="237200"/>
          </a:xfrm>
          <a:prstGeom prst="rect">
            <a:avLst/>
          </a:prstGeom>
        </p:spPr>
      </p:pic>
      <p:pic>
        <p:nvPicPr>
          <p:cNvPr id="615" name="图形 6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875" y="2026372"/>
            <a:ext cx="269555" cy="229734"/>
          </a:xfrm>
          <a:prstGeom prst="rect">
            <a:avLst/>
          </a:prstGeom>
        </p:spPr>
      </p:pic>
      <p:pic>
        <p:nvPicPr>
          <p:cNvPr id="617" name="图形 6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0873" y="2048606"/>
            <a:ext cx="217580" cy="243690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3433" y="1789308"/>
            <a:ext cx="208671" cy="189701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2622" y="1784885"/>
            <a:ext cx="208672" cy="20867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6496" y="2502927"/>
            <a:ext cx="217755" cy="21775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364492" y="4928205"/>
            <a:ext cx="14392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Extract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x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form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S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，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q</a:t>
            </a:r>
            <a:r>
              <a:rPr lang="en-US" altLang="zh-CN" sz="800" spc="0" baseline="-2500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1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，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q</a:t>
            </a:r>
            <a:r>
              <a:rPr lang="en-US" altLang="zh-CN" sz="800" spc="0" baseline="-2500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2</a:t>
            </a:r>
            <a:endParaRPr lang="zh-CN" altLang="en-US" sz="800" spc="0" baseline="-25000" dirty="0">
              <a:solidFill>
                <a:srgbClr val="4C7BC1"/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0577" y="5616700"/>
            <a:ext cx="142986" cy="142986"/>
          </a:xfrm>
          <a:prstGeom prst="rect">
            <a:avLst/>
          </a:prstGeom>
        </p:spPr>
      </p:pic>
      <p:grpSp>
        <p:nvGrpSpPr>
          <p:cNvPr id="579" name="图形 4"/>
          <p:cNvGrpSpPr/>
          <p:nvPr/>
        </p:nvGrpSpPr>
        <p:grpSpPr>
          <a:xfrm>
            <a:off x="6769646" y="3541248"/>
            <a:ext cx="2302530" cy="2552893"/>
            <a:chOff x="7381834" y="3709002"/>
            <a:chExt cx="2375874" cy="2648088"/>
          </a:xfrm>
        </p:grpSpPr>
        <p:sp>
          <p:nvSpPr>
            <p:cNvPr id="580" name="圆角矩形 579"/>
            <p:cNvSpPr/>
            <p:nvPr/>
          </p:nvSpPr>
          <p:spPr>
            <a:xfrm>
              <a:off x="7381834" y="3709002"/>
              <a:ext cx="2375874" cy="2648088"/>
            </a:xfrm>
            <a:prstGeom prst="roundRect">
              <a:avLst>
                <a:gd name="adj" fmla="val 3888"/>
              </a:avLst>
            </a:prstGeom>
            <a:solidFill>
              <a:srgbClr val="FFF8F1"/>
            </a:solidFill>
            <a:ln w="13194" cap="flat">
              <a:solidFill>
                <a:srgbClr val="EDC39A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2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81" name="圆角矩形 580"/>
            <p:cNvSpPr/>
            <p:nvPr/>
          </p:nvSpPr>
          <p:spPr>
            <a:xfrm>
              <a:off x="7487428" y="3768400"/>
              <a:ext cx="2166422" cy="250786"/>
            </a:xfrm>
            <a:prstGeom prst="roundRect">
              <a:avLst>
                <a:gd name="adj" fmla="val 26315"/>
              </a:avLst>
            </a:prstGeom>
            <a:solidFill>
              <a:srgbClr val="FCE6D0"/>
            </a:solidFill>
            <a:ln w="13194" cap="flat">
              <a:solidFill>
                <a:srgbClr val="EDC39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2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82" name="椭圆 581"/>
            <p:cNvSpPr/>
            <p:nvPr/>
          </p:nvSpPr>
          <p:spPr>
            <a:xfrm>
              <a:off x="7529713" y="3783965"/>
              <a:ext cx="224388" cy="224388"/>
            </a:xfrm>
            <a:prstGeom prst="ellipse">
              <a:avLst/>
            </a:prstGeom>
            <a:solidFill>
              <a:srgbClr val="D58336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20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83" name="文本框 582"/>
            <p:cNvSpPr txBox="1"/>
            <p:nvPr/>
          </p:nvSpPr>
          <p:spPr>
            <a:xfrm>
              <a:off x="7514792" y="3753598"/>
              <a:ext cx="269943" cy="28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3</a:t>
              </a:r>
              <a:endParaRPr lang="zh-CN" altLang="en-US" sz="1200" spc="0" baseline="0" dirty="0">
                <a:solidFill>
                  <a:srgbClr val="FFFFF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84" name="文本框 583"/>
            <p:cNvSpPr txBox="1"/>
            <p:nvPr/>
          </p:nvSpPr>
          <p:spPr>
            <a:xfrm>
              <a:off x="7487428" y="3751628"/>
              <a:ext cx="2166421" cy="28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rPr>
                <a:t>状态感知补全</a:t>
              </a:r>
              <a:endParaRPr lang="zh-CN" altLang="en-US" sz="12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5" name="圆角矩形 584"/>
            <p:cNvSpPr/>
            <p:nvPr/>
          </p:nvSpPr>
          <p:spPr>
            <a:xfrm>
              <a:off x="7527026" y="417097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2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grpSp>
          <p:nvGrpSpPr>
            <p:cNvPr id="586" name="图形 4"/>
            <p:cNvGrpSpPr/>
            <p:nvPr/>
          </p:nvGrpSpPr>
          <p:grpSpPr>
            <a:xfrm>
              <a:off x="7686738" y="4297692"/>
              <a:ext cx="147304" cy="147304"/>
              <a:chOff x="7686738" y="4297692"/>
              <a:chExt cx="147304" cy="147304"/>
            </a:xfrm>
            <a:solidFill>
              <a:srgbClr val="000000"/>
            </a:solidFill>
          </p:grpSpPr>
          <p:sp>
            <p:nvSpPr>
              <p:cNvPr id="624" name="椭圆 623"/>
              <p:cNvSpPr/>
              <p:nvPr/>
            </p:nvSpPr>
            <p:spPr>
              <a:xfrm>
                <a:off x="7686738" y="4297692"/>
                <a:ext cx="147304" cy="147304"/>
              </a:xfrm>
              <a:prstGeom prst="ellipse">
                <a:avLst/>
              </a:prstGeom>
              <a:noFill/>
              <a:ln w="12270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2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5" name="任意形状 624"/>
              <p:cNvSpPr/>
              <p:nvPr/>
            </p:nvSpPr>
            <p:spPr>
              <a:xfrm>
                <a:off x="7760390" y="4322243"/>
                <a:ext cx="6599" cy="49101"/>
              </a:xfrm>
              <a:custGeom>
                <a:avLst/>
                <a:gdLst>
                  <a:gd name="csX0" fmla="*/ 1087 w 6599"/>
                  <a:gd name="csY0" fmla="*/ 49738 h 49101"/>
                  <a:gd name="csX1" fmla="*/ 1087 w 6599"/>
                  <a:gd name="csY1" fmla="*/ 637 h 491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49101">
                    <a:moveTo>
                      <a:pt x="1087" y="49738"/>
                    </a:moveTo>
                    <a:lnTo>
                      <a:pt x="1087" y="637"/>
                    </a:lnTo>
                  </a:path>
                </a:pathLst>
              </a:custGeom>
              <a:ln w="12270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2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6" name="任意形状 625"/>
              <p:cNvSpPr/>
              <p:nvPr/>
            </p:nvSpPr>
            <p:spPr>
              <a:xfrm>
                <a:off x="7760390" y="4346794"/>
                <a:ext cx="36826" cy="24550"/>
              </a:xfrm>
              <a:custGeom>
                <a:avLst/>
                <a:gdLst>
                  <a:gd name="csX0" fmla="*/ 1086 w 36826"/>
                  <a:gd name="csY0" fmla="*/ 25186 h 24550"/>
                  <a:gd name="csX1" fmla="*/ 37912 w 36826"/>
                  <a:gd name="csY1" fmla="*/ 636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826" h="24550">
                    <a:moveTo>
                      <a:pt x="1086" y="25186"/>
                    </a:moveTo>
                    <a:lnTo>
                      <a:pt x="37912" y="636"/>
                    </a:lnTo>
                  </a:path>
                </a:pathLst>
              </a:custGeom>
              <a:ln w="12270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2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587" name="文本框 586"/>
            <p:cNvSpPr txBox="1"/>
            <p:nvPr/>
          </p:nvSpPr>
          <p:spPr>
            <a:xfrm>
              <a:off x="8054562" y="4215754"/>
              <a:ext cx="981191" cy="263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非确定状态 z</a:t>
              </a:r>
              <a:endParaRPr lang="zh-CN" altLang="en-US" sz="105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88" name="文本框 587"/>
            <p:cNvSpPr txBox="1"/>
            <p:nvPr/>
          </p:nvSpPr>
          <p:spPr>
            <a:xfrm>
              <a:off x="7543282" y="4503593"/>
              <a:ext cx="2077836" cy="223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timeout / unsupported / runtime / conversion</a:t>
              </a:r>
              <a:endParaRPr lang="zh-CN" altLang="en-US" sz="8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89" name="任意形状 588"/>
            <p:cNvSpPr/>
            <p:nvPr/>
          </p:nvSpPr>
          <p:spPr>
            <a:xfrm>
              <a:off x="8569771" y="4712150"/>
              <a:ext cx="6599" cy="184790"/>
            </a:xfrm>
            <a:custGeom>
              <a:avLst/>
              <a:gdLst>
                <a:gd name="csX0" fmla="*/ 0 w 6599"/>
                <a:gd name="csY0" fmla="*/ 0 h 184790"/>
                <a:gd name="csX1" fmla="*/ 0 w 6599"/>
                <a:gd name="csY1" fmla="*/ 184790 h 184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84790">
                  <a:moveTo>
                    <a:pt x="0" y="0"/>
                  </a:moveTo>
                  <a:lnTo>
                    <a:pt x="0" y="184790"/>
                  </a:lnTo>
                </a:path>
              </a:pathLst>
            </a:custGeom>
            <a:ln w="16493" cap="flat">
              <a:solidFill>
                <a:srgbClr val="D58336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2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90" name="圆角矩形 589"/>
            <p:cNvSpPr/>
            <p:nvPr/>
          </p:nvSpPr>
          <p:spPr>
            <a:xfrm>
              <a:off x="7527026" y="492333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2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grpSp>
          <p:nvGrpSpPr>
            <p:cNvPr id="591" name="图形 4"/>
            <p:cNvGrpSpPr/>
            <p:nvPr/>
          </p:nvGrpSpPr>
          <p:grpSpPr>
            <a:xfrm>
              <a:off x="7688057" y="5057972"/>
              <a:ext cx="221748" cy="190069"/>
              <a:chOff x="7688057" y="5057972"/>
              <a:chExt cx="221748" cy="190069"/>
            </a:xfrm>
            <a:solidFill>
              <a:srgbClr val="000000"/>
            </a:solidFill>
          </p:grpSpPr>
          <p:sp>
            <p:nvSpPr>
              <p:cNvPr id="620" name="圆角矩形 619"/>
              <p:cNvSpPr/>
              <p:nvPr/>
            </p:nvSpPr>
            <p:spPr>
              <a:xfrm>
                <a:off x="7688057" y="5057972"/>
                <a:ext cx="221748" cy="137272"/>
              </a:xfrm>
              <a:prstGeom prst="roundRect">
                <a:avLst>
                  <a:gd name="adj" fmla="val 23077"/>
                </a:avLst>
              </a:prstGeom>
              <a:noFill/>
              <a:ln w="12666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2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1" name="任意形状 620"/>
              <p:cNvSpPr/>
              <p:nvPr/>
            </p:nvSpPr>
            <p:spPr>
              <a:xfrm>
                <a:off x="7740855" y="5195245"/>
                <a:ext cx="52797" cy="52797"/>
              </a:xfrm>
              <a:custGeom>
                <a:avLst/>
                <a:gdLst>
                  <a:gd name="csX0" fmla="*/ 11653 w 52797"/>
                  <a:gd name="csY0" fmla="*/ 752 h 52797"/>
                  <a:gd name="csX1" fmla="*/ 1093 w 52797"/>
                  <a:gd name="csY1" fmla="*/ 53549 h 52797"/>
                  <a:gd name="csX2" fmla="*/ 53891 w 52797"/>
                  <a:gd name="csY2" fmla="*/ 752 h 52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797" h="52797">
                    <a:moveTo>
                      <a:pt x="11653" y="752"/>
                    </a:moveTo>
                    <a:lnTo>
                      <a:pt x="1093" y="53549"/>
                    </a:lnTo>
                    <a:lnTo>
                      <a:pt x="53891" y="752"/>
                    </a:lnTo>
                  </a:path>
                </a:pathLst>
              </a:custGeom>
              <a:noFill/>
              <a:ln w="12666" cap="flat">
                <a:solidFill>
                  <a:srgbClr val="D5833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2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2" name="任意形状 621"/>
              <p:cNvSpPr/>
              <p:nvPr/>
            </p:nvSpPr>
            <p:spPr>
              <a:xfrm>
                <a:off x="7730295" y="5100210"/>
                <a:ext cx="137272" cy="6599"/>
              </a:xfrm>
              <a:custGeom>
                <a:avLst/>
                <a:gdLst>
                  <a:gd name="csX0" fmla="*/ 1092 w 137272"/>
                  <a:gd name="csY0" fmla="*/ 757 h 6599"/>
                  <a:gd name="csX1" fmla="*/ 138365 w 137272"/>
                  <a:gd name="csY1" fmla="*/ 757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7272" h="6599">
                    <a:moveTo>
                      <a:pt x="1092" y="757"/>
                    </a:moveTo>
                    <a:lnTo>
                      <a:pt x="138365" y="757"/>
                    </a:lnTo>
                  </a:path>
                </a:pathLst>
              </a:custGeom>
              <a:ln w="10555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2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3" name="任意形状 622"/>
              <p:cNvSpPr/>
              <p:nvPr/>
            </p:nvSpPr>
            <p:spPr>
              <a:xfrm>
                <a:off x="7730295" y="5137168"/>
                <a:ext cx="105594" cy="6599"/>
              </a:xfrm>
              <a:custGeom>
                <a:avLst/>
                <a:gdLst>
                  <a:gd name="csX0" fmla="*/ 1093 w 105594"/>
                  <a:gd name="csY0" fmla="*/ 755 h 6599"/>
                  <a:gd name="csX1" fmla="*/ 106687 w 105594"/>
                  <a:gd name="csY1" fmla="*/ 755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5594" h="6599">
                    <a:moveTo>
                      <a:pt x="1093" y="755"/>
                    </a:moveTo>
                    <a:lnTo>
                      <a:pt x="106687" y="755"/>
                    </a:lnTo>
                  </a:path>
                </a:pathLst>
              </a:custGeom>
              <a:ln w="10555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2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592" name="文本框 591"/>
            <p:cNvSpPr txBox="1"/>
            <p:nvPr/>
          </p:nvSpPr>
          <p:spPr>
            <a:xfrm>
              <a:off x="7964257" y="4990025"/>
              <a:ext cx="1302080" cy="2633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5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rPr>
                <a:t>模型输入动态构造</a:t>
              </a:r>
              <a:endParaRPr lang="zh-CN" altLang="en-US" sz="105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3" name="文本框 592"/>
            <p:cNvSpPr txBox="1"/>
            <p:nvPr/>
          </p:nvSpPr>
          <p:spPr>
            <a:xfrm>
              <a:off x="7921251" y="5227925"/>
              <a:ext cx="1388091" cy="223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SQL pair + schema + state z</a:t>
              </a:r>
              <a:endParaRPr lang="zh-CN" altLang="en-US" sz="8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94" name="任意形状 593"/>
            <p:cNvSpPr/>
            <p:nvPr/>
          </p:nvSpPr>
          <p:spPr>
            <a:xfrm>
              <a:off x="8569771" y="5464510"/>
              <a:ext cx="6599" cy="171590"/>
            </a:xfrm>
            <a:custGeom>
              <a:avLst/>
              <a:gdLst>
                <a:gd name="csX0" fmla="*/ 0 w 6599"/>
                <a:gd name="csY0" fmla="*/ 0 h 171590"/>
                <a:gd name="csX1" fmla="*/ 0 w 6599"/>
                <a:gd name="csY1" fmla="*/ 171591 h 171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71590">
                  <a:moveTo>
                    <a:pt x="0" y="0"/>
                  </a:moveTo>
                  <a:lnTo>
                    <a:pt x="0" y="171591"/>
                  </a:lnTo>
                </a:path>
              </a:pathLst>
            </a:custGeom>
            <a:ln w="16493" cap="flat">
              <a:solidFill>
                <a:srgbClr val="D58336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2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95" name="圆角矩形 594"/>
            <p:cNvSpPr/>
            <p:nvPr/>
          </p:nvSpPr>
          <p:spPr>
            <a:xfrm>
              <a:off x="7527026" y="5662500"/>
              <a:ext cx="956949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2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97" name="文本框 596"/>
            <p:cNvSpPr txBox="1"/>
            <p:nvPr/>
          </p:nvSpPr>
          <p:spPr>
            <a:xfrm>
              <a:off x="7817039" y="5854345"/>
              <a:ext cx="728119" cy="223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微调模型 </a:t>
              </a:r>
              <a:r>
                <a:rPr lang="en-US" altLang="zh-CN" sz="800" i="1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M</a:t>
              </a:r>
              <a:endParaRPr lang="zh-CN" altLang="en-US" sz="800" i="1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98" name="圆角矩形 597"/>
            <p:cNvSpPr/>
            <p:nvPr/>
          </p:nvSpPr>
          <p:spPr>
            <a:xfrm>
              <a:off x="8615969" y="5662500"/>
              <a:ext cx="996547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2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600" name="文本框 599"/>
            <p:cNvSpPr txBox="1"/>
            <p:nvPr/>
          </p:nvSpPr>
          <p:spPr>
            <a:xfrm>
              <a:off x="8954888" y="5854345"/>
              <a:ext cx="613989" cy="223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rPr>
                <a:t>多数投票</a:t>
              </a:r>
              <a:endParaRPr lang="zh-CN" altLang="en-US" sz="8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pic>
        <p:nvPicPr>
          <p:cNvPr id="57" name="图形 5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9759" y="5269075"/>
            <a:ext cx="127341" cy="127341"/>
          </a:xfrm>
          <a:prstGeom prst="rect">
            <a:avLst/>
          </a:prstGeom>
        </p:spPr>
      </p:pic>
      <p:pic>
        <p:nvPicPr>
          <p:cNvPr id="85" name="图形 84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50401" y="4808988"/>
            <a:ext cx="183672" cy="183672"/>
          </a:xfrm>
          <a:prstGeom prst="rect">
            <a:avLst/>
          </a:prstGeom>
        </p:spPr>
      </p:pic>
      <p:pic>
        <p:nvPicPr>
          <p:cNvPr id="87" name="图形 86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1516" y="4071541"/>
            <a:ext cx="174261" cy="174261"/>
          </a:xfrm>
          <a:prstGeom prst="rect">
            <a:avLst/>
          </a:prstGeom>
        </p:spPr>
      </p:pic>
      <p:pic>
        <p:nvPicPr>
          <p:cNvPr id="88" name="图形 87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3650" y="4415958"/>
            <a:ext cx="174261" cy="174261"/>
          </a:xfrm>
          <a:prstGeom prst="rect">
            <a:avLst/>
          </a:prstGeom>
        </p:spPr>
      </p:pic>
      <p:cxnSp>
        <p:nvCxnSpPr>
          <p:cNvPr id="104" name="肘形连接符 103"/>
          <p:cNvCxnSpPr/>
          <p:nvPr/>
        </p:nvCxnSpPr>
        <p:spPr>
          <a:xfrm rot="16200000" flipH="1">
            <a:off x="7447824" y="3076363"/>
            <a:ext cx="756830" cy="141637"/>
          </a:xfrm>
          <a:prstGeom prst="bentConnector3">
            <a:avLst/>
          </a:prstGeom>
          <a:ln w="12700" cap="rnd">
            <a:solidFill>
              <a:srgbClr val="7A4D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文本框 577"/>
          <p:cNvSpPr txBox="1"/>
          <p:nvPr/>
        </p:nvSpPr>
        <p:spPr>
          <a:xfrm>
            <a:off x="9531684" y="2562984"/>
            <a:ext cx="8146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90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B</a:t>
            </a:r>
            <a:r>
              <a:rPr lang="zh-CN" altLang="en-US" sz="90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90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= </a:t>
            </a:r>
            <a:r>
              <a:rPr lang="zh-CN" altLang="en-US" sz="9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π</a:t>
            </a:r>
            <a:r>
              <a:rPr lang="en-US" altLang="zh-CN" sz="9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(x</a:t>
            </a:r>
            <a:r>
              <a:rPr lang="zh-CN" altLang="en-US" sz="9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，</a:t>
            </a:r>
            <a:r>
              <a:rPr lang="en-US" altLang="zh-CN" sz="9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P)</a:t>
            </a:r>
            <a:endParaRPr lang="zh-CN" altLang="en-US" sz="900" spc="0" baseline="0" dirty="0">
              <a:solidFill>
                <a:srgbClr val="4E8D2F"/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635" name="图形 634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91898" y="4917377"/>
            <a:ext cx="381317" cy="381317"/>
          </a:xfrm>
          <a:prstGeom prst="rect">
            <a:avLst/>
          </a:prstGeom>
        </p:spPr>
      </p:pic>
      <p:pic>
        <p:nvPicPr>
          <p:cNvPr id="637" name="图形 636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89300" y="5564955"/>
            <a:ext cx="284942" cy="284942"/>
          </a:xfrm>
          <a:prstGeom prst="rect">
            <a:avLst/>
          </a:prstGeom>
        </p:spPr>
      </p:pic>
      <p:pic>
        <p:nvPicPr>
          <p:cNvPr id="638" name="图形 63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14040" y="5462978"/>
            <a:ext cx="217755" cy="217755"/>
          </a:xfrm>
          <a:prstGeom prst="rect">
            <a:avLst/>
          </a:prstGeom>
        </p:spPr>
      </p:pic>
      <p:pic>
        <p:nvPicPr>
          <p:cNvPr id="639" name="图形 638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87623" y="5168432"/>
            <a:ext cx="284942" cy="284942"/>
          </a:xfrm>
          <a:prstGeom prst="rect">
            <a:avLst/>
          </a:prstGeom>
        </p:spPr>
      </p:pic>
      <p:cxnSp>
        <p:nvCxnSpPr>
          <p:cNvPr id="328" name="肘形连接符 327"/>
          <p:cNvCxnSpPr>
            <a:stCxn id="242" idx="2"/>
            <a:endCxn id="595" idx="1"/>
          </p:cNvCxnSpPr>
          <p:nvPr/>
        </p:nvCxnSpPr>
        <p:spPr>
          <a:xfrm rot="16200000" flipH="1">
            <a:off x="6548180" y="5355015"/>
            <a:ext cx="44090" cy="680262"/>
          </a:xfrm>
          <a:prstGeom prst="bentConnector2">
            <a:avLst/>
          </a:prstGeom>
          <a:ln w="12700" cap="flat" cmpd="sng" algn="ctr">
            <a:solidFill>
              <a:srgbClr val="A4CF78"/>
            </a:solidFill>
            <a:prstDash val="dash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7" name="图形 336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75655" y="4219837"/>
            <a:ext cx="284942" cy="284942"/>
          </a:xfrm>
          <a:prstGeom prst="rect">
            <a:avLst/>
          </a:prstGeom>
        </p:spPr>
      </p:pic>
      <p:pic>
        <p:nvPicPr>
          <p:cNvPr id="338" name="图形 337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608255" y="4325454"/>
            <a:ext cx="284942" cy="284942"/>
          </a:xfrm>
          <a:prstGeom prst="rect">
            <a:avLst/>
          </a:prstGeom>
        </p:spPr>
      </p:pic>
      <p:pic>
        <p:nvPicPr>
          <p:cNvPr id="340" name="图形 339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30251" y="1990459"/>
            <a:ext cx="330008" cy="301836"/>
          </a:xfrm>
          <a:prstGeom prst="rect">
            <a:avLst/>
          </a:prstGeom>
        </p:spPr>
      </p:pic>
      <p:pic>
        <p:nvPicPr>
          <p:cNvPr id="342" name="图形 341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585936" y="1978246"/>
            <a:ext cx="330008" cy="330008"/>
          </a:xfrm>
          <a:prstGeom prst="rect">
            <a:avLst/>
          </a:prstGeom>
        </p:spPr>
      </p:pic>
      <p:pic>
        <p:nvPicPr>
          <p:cNvPr id="343" name="图形 342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30124" y="5514139"/>
            <a:ext cx="330008" cy="330008"/>
          </a:xfrm>
          <a:prstGeom prst="rect">
            <a:avLst/>
          </a:prstGeom>
        </p:spPr>
      </p:pic>
      <p:pic>
        <p:nvPicPr>
          <p:cNvPr id="344" name="图形 34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8583" y="4831307"/>
            <a:ext cx="208671" cy="189701"/>
          </a:xfrm>
          <a:prstGeom prst="rect">
            <a:avLst/>
          </a:prstGeom>
        </p:spPr>
      </p:pic>
      <p:cxnSp>
        <p:nvCxnSpPr>
          <p:cNvPr id="2" name="肘形连接符 1"/>
          <p:cNvCxnSpPr>
            <a:stCxn id="148" idx="1"/>
            <a:endCxn id="155" idx="0"/>
          </p:cNvCxnSpPr>
          <p:nvPr/>
        </p:nvCxnSpPr>
        <p:spPr>
          <a:xfrm rot="10800000" flipV="1">
            <a:off x="2008578" y="3102189"/>
            <a:ext cx="454345" cy="423926"/>
          </a:xfrm>
          <a:prstGeom prst="bentConnector2">
            <a:avLst/>
          </a:prstGeom>
          <a:ln w="12700" cap="rnd">
            <a:solidFill>
              <a:srgbClr val="7A4D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25504" y="3183016"/>
            <a:ext cx="1074098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aseline="0" dirty="0">
                <a:solidFill>
                  <a:srgbClr val="1E8E3E"/>
                </a:solidFill>
                <a:uFillTx/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阶段 II. 在线</a:t>
            </a:r>
            <a:r>
              <a:rPr lang="en-US" altLang="zh-CN" baseline="0" dirty="0">
                <a:solidFill>
                  <a:srgbClr val="1E8E3E"/>
                </a:solidFill>
                <a:uFillTx/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SQL </a:t>
            </a:r>
            <a:r>
              <a:rPr lang="zh-CN" altLang="en-US" dirty="0">
                <a:solidFill>
                  <a:srgbClr val="1E8E3E"/>
                </a:solidFill>
                <a:uFillTx/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等价性判定</a:t>
            </a:r>
            <a:endParaRPr lang="zh-CN" altLang="en-US" baseline="0" dirty="0">
              <a:solidFill>
                <a:srgbClr val="1E8E3E"/>
              </a:solidFill>
              <a:uFillTx/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74512" y="5519730"/>
            <a:ext cx="381317" cy="3813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图形 4"/>
          <p:cNvGrpSpPr/>
          <p:nvPr/>
        </p:nvGrpSpPr>
        <p:grpSpPr>
          <a:xfrm>
            <a:off x="725504" y="900651"/>
            <a:ext cx="10740989" cy="2331232"/>
            <a:chOff x="725504" y="900651"/>
            <a:chExt cx="10740989" cy="2331232"/>
          </a:xfrm>
        </p:grpSpPr>
        <p:sp>
          <p:nvSpPr>
            <p:cNvPr id="11" name="圆角矩形 10"/>
            <p:cNvSpPr/>
            <p:nvPr/>
          </p:nvSpPr>
          <p:spPr>
            <a:xfrm>
              <a:off x="725504" y="900651"/>
              <a:ext cx="10740989" cy="2103049"/>
            </a:xfrm>
            <a:prstGeom prst="roundRect">
              <a:avLst>
                <a:gd name="adj" fmla="val 4463"/>
              </a:avLst>
            </a:prstGeom>
            <a:solidFill>
              <a:srgbClr val="FCFAFF"/>
            </a:solidFill>
            <a:ln w="10719" cap="flat">
              <a:solidFill>
                <a:srgbClr val="B89AE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725504" y="927560"/>
              <a:ext cx="10740988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阶段 I. 离线组件构建</a:t>
              </a:r>
              <a:endParaRPr lang="zh-CN" altLang="en-US" sz="1200" b="1" spc="0" baseline="0" dirty="0">
                <a:solidFill>
                  <a:srgbClr val="6F46C7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grpSp>
          <p:nvGrpSpPr>
            <p:cNvPr id="13" name="图形 4"/>
            <p:cNvGrpSpPr/>
            <p:nvPr/>
          </p:nvGrpSpPr>
          <p:grpSpPr>
            <a:xfrm>
              <a:off x="839485" y="1215439"/>
              <a:ext cx="7522715" cy="1634217"/>
              <a:chOff x="839485" y="1215439"/>
              <a:chExt cx="7522715" cy="1634217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839485" y="1215439"/>
                <a:ext cx="7522715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CFAFF"/>
              </a:solidFill>
              <a:ln w="937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>
              <a:xfrm>
                <a:off x="930276" y="1269020"/>
                <a:ext cx="7297830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FE6FF"/>
              </a:solidFill>
              <a:ln w="8039" cap="flat">
                <a:solidFill>
                  <a:srgbClr val="C3A9E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986644" y="1289030"/>
                <a:ext cx="187732" cy="187533"/>
              </a:xfrm>
              <a:prstGeom prst="ellipse">
                <a:avLst/>
              </a:prstGeom>
              <a:solidFill>
                <a:srgbClr val="7A4DC6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949987" y="1271398"/>
                <a:ext cx="27432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A</a:t>
                </a:r>
                <a:endParaRPr lang="zh-CN" altLang="en-US" sz="10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33465" y="1252904"/>
                <a:ext cx="7285355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SFT</a:t>
                </a:r>
                <a:r>
                  <a:rPr lang="zh-CN" altLang="en-US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数据构建与模型训练</a:t>
                </a:r>
                <a:endParaRPr lang="zh-CN" altLang="en-US" sz="100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" name="圆角矩形 18"/>
              <p:cNvSpPr/>
              <p:nvPr/>
            </p:nvSpPr>
            <p:spPr>
              <a:xfrm>
                <a:off x="933351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943625" y="1543099"/>
                <a:ext cx="98171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1.</a:t>
                </a:r>
                <a:r>
                  <a:rPr lang="zh-CN" altLang="en-US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对构造</a:t>
                </a:r>
                <a:endParaRPr lang="zh-CN" altLang="en-US" sz="100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" name="圆角矩形 21"/>
              <p:cNvSpPr/>
              <p:nvPr/>
            </p:nvSpPr>
            <p:spPr>
              <a:xfrm>
                <a:off x="1020513" y="1938781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BF8FF"/>
              </a:solidFill>
              <a:ln w="6699" cap="flat">
                <a:solidFill>
                  <a:srgbClr val="D7C5F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23" name="图形 4"/>
              <p:cNvGrpSpPr/>
              <p:nvPr/>
            </p:nvGrpSpPr>
            <p:grpSpPr>
              <a:xfrm>
                <a:off x="1079246" y="1991290"/>
                <a:ext cx="255716" cy="221512"/>
                <a:chOff x="1079246" y="1991290"/>
                <a:chExt cx="255716" cy="221512"/>
              </a:xfrm>
              <a:solidFill>
                <a:srgbClr val="000000"/>
              </a:solidFill>
            </p:grpSpPr>
            <p:sp>
              <p:nvSpPr>
                <p:cNvPr id="24" name="任意形状 23"/>
                <p:cNvSpPr/>
                <p:nvPr/>
              </p:nvSpPr>
              <p:spPr>
                <a:xfrm>
                  <a:off x="1079246" y="1991290"/>
                  <a:ext cx="148040" cy="186461"/>
                </a:xfrm>
                <a:custGeom>
                  <a:avLst/>
                  <a:gdLst>
                    <a:gd name="csX0" fmla="*/ 19373 w 148040"/>
                    <a:gd name="csY0" fmla="*/ 233 h 186461"/>
                    <a:gd name="csX1" fmla="*/ 109485 w 148040"/>
                    <a:gd name="csY1" fmla="*/ 233 h 186461"/>
                    <a:gd name="csX2" fmla="*/ 148104 w 148040"/>
                    <a:gd name="csY2" fmla="*/ 38811 h 186461"/>
                    <a:gd name="csX3" fmla="*/ 148104 w 148040"/>
                    <a:gd name="csY3" fmla="*/ 167405 h 186461"/>
                    <a:gd name="csX4" fmla="*/ 128795 w 148040"/>
                    <a:gd name="csY4" fmla="*/ 186694 h 186461"/>
                    <a:gd name="csX5" fmla="*/ 19373 w 148040"/>
                    <a:gd name="csY5" fmla="*/ 186694 h 186461"/>
                    <a:gd name="csX6" fmla="*/ 64 w 148040"/>
                    <a:gd name="csY6" fmla="*/ 167405 h 186461"/>
                    <a:gd name="csX7" fmla="*/ 64 w 148040"/>
                    <a:gd name="csY7" fmla="*/ 19522 h 186461"/>
                    <a:gd name="csX8" fmla="*/ 19373 w 148040"/>
                    <a:gd name="csY8" fmla="*/ 233 h 1864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48040" h="186461">
                      <a:moveTo>
                        <a:pt x="19373" y="233"/>
                      </a:moveTo>
                      <a:lnTo>
                        <a:pt x="109485" y="233"/>
                      </a:lnTo>
                      <a:lnTo>
                        <a:pt x="148104" y="38811"/>
                      </a:lnTo>
                      <a:lnTo>
                        <a:pt x="148104" y="167405"/>
                      </a:lnTo>
                      <a:cubicBezTo>
                        <a:pt x="148104" y="178058"/>
                        <a:pt x="139459" y="186694"/>
                        <a:pt x="128795" y="186694"/>
                      </a:cubicBezTo>
                      <a:lnTo>
                        <a:pt x="19373" y="186694"/>
                      </a:lnTo>
                      <a:cubicBezTo>
                        <a:pt x="8709" y="186694"/>
                        <a:pt x="64" y="178058"/>
                        <a:pt x="64" y="167405"/>
                      </a:cubicBezTo>
                      <a:lnTo>
                        <a:pt x="64" y="19522"/>
                      </a:lnTo>
                      <a:cubicBezTo>
                        <a:pt x="64" y="8869"/>
                        <a:pt x="8709" y="233"/>
                        <a:pt x="19373" y="233"/>
                      </a:cubicBezTo>
                      <a:close/>
                    </a:path>
                  </a:pathLst>
                </a:custGeom>
                <a:solidFill>
                  <a:srgbClr val="FBF7FF"/>
                </a:solidFill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5" name="任意形状 24"/>
                <p:cNvSpPr/>
                <p:nvPr/>
              </p:nvSpPr>
              <p:spPr>
                <a:xfrm>
                  <a:off x="1188668" y="1991290"/>
                  <a:ext cx="38619" cy="41793"/>
                </a:xfrm>
                <a:custGeom>
                  <a:avLst/>
                  <a:gdLst>
                    <a:gd name="csX0" fmla="*/ 55 w 38619"/>
                    <a:gd name="csY0" fmla="*/ 244 h 41793"/>
                    <a:gd name="csX1" fmla="*/ 55 w 38619"/>
                    <a:gd name="csY1" fmla="*/ 42038 h 41793"/>
                    <a:gd name="csX2" fmla="*/ 38674 w 38619"/>
                    <a:gd name="csY2" fmla="*/ 42038 h 417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8619" h="41793">
                      <a:moveTo>
                        <a:pt x="55" y="244"/>
                      </a:moveTo>
                      <a:lnTo>
                        <a:pt x="55" y="42038"/>
                      </a:lnTo>
                      <a:lnTo>
                        <a:pt x="38674" y="42038"/>
                      </a:lnTo>
                    </a:path>
                  </a:pathLst>
                </a:custGeom>
                <a:noFill/>
                <a:ln w="6753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6" name="任意形状 25"/>
                <p:cNvSpPr/>
                <p:nvPr/>
              </p:nvSpPr>
              <p:spPr>
                <a:xfrm>
                  <a:off x="1121084" y="2062017"/>
                  <a:ext cx="70802" cy="57867"/>
                </a:xfrm>
                <a:custGeom>
                  <a:avLst/>
                  <a:gdLst>
                    <a:gd name="csX0" fmla="*/ 63 w 70802"/>
                    <a:gd name="csY0" fmla="*/ 232 h 57867"/>
                    <a:gd name="csX1" fmla="*/ 57992 w 70802"/>
                    <a:gd name="csY1" fmla="*/ 232 h 57867"/>
                    <a:gd name="csX2" fmla="*/ 63 w 70802"/>
                    <a:gd name="csY2" fmla="*/ 29165 h 57867"/>
                    <a:gd name="csX3" fmla="*/ 70865 w 70802"/>
                    <a:gd name="csY3" fmla="*/ 29165 h 57867"/>
                    <a:gd name="csX4" fmla="*/ 63 w 70802"/>
                    <a:gd name="csY4" fmla="*/ 58099 h 57867"/>
                    <a:gd name="csX5" fmla="*/ 45119 w 70802"/>
                    <a:gd name="csY5" fmla="*/ 58099 h 578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70802" h="57867">
                      <a:moveTo>
                        <a:pt x="63" y="232"/>
                      </a:moveTo>
                      <a:lnTo>
                        <a:pt x="57992" y="232"/>
                      </a:lnTo>
                      <a:moveTo>
                        <a:pt x="63" y="29165"/>
                      </a:moveTo>
                      <a:lnTo>
                        <a:pt x="70865" y="29165"/>
                      </a:lnTo>
                      <a:moveTo>
                        <a:pt x="63" y="58099"/>
                      </a:moveTo>
                      <a:lnTo>
                        <a:pt x="45119" y="58099"/>
                      </a:lnTo>
                    </a:path>
                  </a:pathLst>
                </a:custGeom>
                <a:noFill/>
                <a:ln w="6110" cap="rnd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7" name="圆角矩形 26"/>
                <p:cNvSpPr/>
                <p:nvPr/>
              </p:nvSpPr>
              <p:spPr>
                <a:xfrm>
                  <a:off x="1166140" y="2116670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1080327" y="2075642"/>
                  <a:ext cx="254635" cy="1371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spc="0" baseline="0" dirty="0">
                      <a:solidFill>
                        <a:schemeClr val="bg1"/>
                      </a:solidFill>
                      <a:latin typeface="Times New Roman" panose="02020603050405020304" charset="0"/>
                      <a:ea typeface="方正书宋简体" panose="02010601030101010101" charset="-122"/>
                      <a:cs typeface="Times New Roman" panose="02020603050405020304" charset="0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spc="0" baseline="0" dirty="0">
                    <a:solidFill>
                      <a:schemeClr val="bg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1203733" y="1939063"/>
                <a:ext cx="60325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LeetCode </a:t>
                </a:r>
                <a:endParaRPr lang="zh-CN" altLang="en-US" sz="8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1218582" y="2073701"/>
                <a:ext cx="578485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多解</a:t>
                </a:r>
                <a:r>
                  <a:rPr lang="en-US" altLang="zh-CN" sz="8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endParaRPr lang="en-US" altLang="zh-CN" sz="8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1020513" y="2347335"/>
                <a:ext cx="7576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7FBFF"/>
              </a:solidFill>
              <a:ln w="6699" cap="flat">
                <a:solidFill>
                  <a:srgbClr val="C8DA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32" name="图形 4"/>
              <p:cNvGrpSpPr/>
              <p:nvPr/>
            </p:nvGrpSpPr>
            <p:grpSpPr>
              <a:xfrm>
                <a:off x="1076028" y="2412704"/>
                <a:ext cx="278109" cy="214991"/>
                <a:chOff x="1076028" y="2412704"/>
                <a:chExt cx="278109" cy="214991"/>
              </a:xfrm>
              <a:solidFill>
                <a:srgbClr val="000000"/>
              </a:solidFill>
            </p:grpSpPr>
            <p:sp>
              <p:nvSpPr>
                <p:cNvPr id="33" name="椭圆 32"/>
                <p:cNvSpPr/>
                <p:nvPr/>
              </p:nvSpPr>
              <p:spPr>
                <a:xfrm>
                  <a:off x="1076028" y="2412704"/>
                  <a:ext cx="128730" cy="51437"/>
                </a:xfrm>
                <a:prstGeom prst="ellipse">
                  <a:avLst/>
                </a:prstGeom>
                <a:solidFill>
                  <a:srgbClr val="F6FAFF"/>
                </a:solidFill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4" name="任意形状 33"/>
                <p:cNvSpPr/>
                <p:nvPr/>
              </p:nvSpPr>
              <p:spPr>
                <a:xfrm>
                  <a:off x="1076028" y="2438423"/>
                  <a:ext cx="128730" cy="131808"/>
                </a:xfrm>
                <a:custGeom>
                  <a:avLst/>
                  <a:gdLst>
                    <a:gd name="csX0" fmla="*/ 66 w 128730"/>
                    <a:gd name="csY0" fmla="*/ 292 h 131808"/>
                    <a:gd name="csX1" fmla="*/ 66 w 128730"/>
                    <a:gd name="csY1" fmla="*/ 103167 h 131808"/>
                    <a:gd name="csX2" fmla="*/ 64431 w 128730"/>
                    <a:gd name="csY2" fmla="*/ 132101 h 131808"/>
                    <a:gd name="csX3" fmla="*/ 128797 w 128730"/>
                    <a:gd name="csY3" fmla="*/ 103167 h 131808"/>
                    <a:gd name="csX4" fmla="*/ 128797 w 128730"/>
                    <a:gd name="csY4" fmla="*/ 292 h 1318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28730" h="131808">
                      <a:moveTo>
                        <a:pt x="66" y="292"/>
                      </a:moveTo>
                      <a:lnTo>
                        <a:pt x="66" y="103167"/>
                      </a:lnTo>
                      <a:cubicBezTo>
                        <a:pt x="66" y="119242"/>
                        <a:pt x="29030" y="132101"/>
                        <a:pt x="64431" y="132101"/>
                      </a:cubicBezTo>
                      <a:cubicBezTo>
                        <a:pt x="99832" y="132101"/>
                        <a:pt x="128797" y="119242"/>
                        <a:pt x="128797" y="103167"/>
                      </a:cubicBezTo>
                      <a:lnTo>
                        <a:pt x="128797" y="292"/>
                      </a:lnTo>
                    </a:path>
                  </a:pathLst>
                </a:cu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1076028" y="2464142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1076028" y="2515579"/>
                  <a:ext cx="128730" cy="51437"/>
                </a:xfrm>
                <a:prstGeom prst="ellipse">
                  <a:avLst/>
                </a:prstGeom>
                <a:noFill/>
                <a:ln w="7396" cap="flat">
                  <a:solidFill>
                    <a:srgbClr val="2F7BEA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7" name="圆角矩形 36"/>
                <p:cNvSpPr/>
                <p:nvPr/>
              </p:nvSpPr>
              <p:spPr>
                <a:xfrm>
                  <a:off x="1182231" y="2531654"/>
                  <a:ext cx="90111" cy="51437"/>
                </a:xfrm>
                <a:prstGeom prst="roundRect">
                  <a:avLst>
                    <a:gd name="adj" fmla="val 31283"/>
                  </a:avLst>
                </a:prstGeom>
                <a:solidFill>
                  <a:srgbClr val="5FA3FF"/>
                </a:solidFill>
                <a:ln w="3859" cap="flat">
                  <a:solidFill>
                    <a:srgbClr val="2E6BD8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1099502" y="2490535"/>
                  <a:ext cx="254635" cy="1371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300" spc="0" baseline="0" dirty="0">
                      <a:solidFill>
                        <a:srgbClr val="FFFFFF"/>
                      </a:solidFill>
                      <a:latin typeface="Times New Roman" panose="02020603050405020304" charset="0"/>
                      <a:ea typeface="方正书宋简体" panose="02010601030101010101" charset="-122"/>
                      <a:cs typeface="Times New Roman" panose="02020603050405020304" charset="0"/>
                      <a:sym typeface="Arial" panose="020B0704020202020204"/>
                      <a:rtl val="0"/>
                    </a:rPr>
                    <a:t>SQL</a:t>
                  </a:r>
                  <a:endParaRPr lang="zh-CN" altLang="en-US" sz="3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Arial" panose="020B0704020202020204"/>
                    <a:rtl val="0"/>
                  </a:endParaRPr>
                </a:p>
              </p:txBody>
            </p:sp>
          </p:grpSp>
          <p:sp>
            <p:nvSpPr>
              <p:cNvPr id="39" name="文本框 38"/>
              <p:cNvSpPr txBox="1"/>
              <p:nvPr/>
            </p:nvSpPr>
            <p:spPr>
              <a:xfrm>
                <a:off x="1236148" y="2359828"/>
                <a:ext cx="53340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SynSQL</a:t>
                </a:r>
                <a:endParaRPr lang="zh-CN" altLang="en-US" sz="8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227472" y="2493021"/>
                <a:ext cx="578485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候选</a:t>
                </a:r>
                <a:r>
                  <a:rPr lang="en-US" altLang="zh-CN" sz="8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endParaRPr lang="en-US" altLang="zh-CN" sz="8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41" name="任意形状 40"/>
              <p:cNvSpPr/>
              <p:nvPr/>
            </p:nvSpPr>
            <p:spPr>
              <a:xfrm>
                <a:off x="1865310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42" name="圆角矩形 41"/>
              <p:cNvSpPr/>
              <p:nvPr/>
            </p:nvSpPr>
            <p:spPr>
              <a:xfrm>
                <a:off x="1992700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992032" y="1551173"/>
                <a:ext cx="94488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2. 形式化标注</a:t>
                </a:r>
                <a:endParaRPr lang="zh-CN" altLang="en-US" sz="100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50" name="任意形状 49"/>
              <p:cNvSpPr/>
              <p:nvPr/>
            </p:nvSpPr>
            <p:spPr>
              <a:xfrm>
                <a:off x="2924658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3052048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3058810" y="1551638"/>
                <a:ext cx="927735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3. 已标注 </a:t>
                </a:r>
                <a:r>
                  <a:rPr lang="en-US" altLang="zh-CN" sz="100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Pair</a:t>
                </a:r>
                <a:endParaRPr lang="en-US" altLang="zh-CN" sz="1000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3122310" y="2373679"/>
                <a:ext cx="89027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GB" sz="1000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监督训练对</a:t>
                </a:r>
                <a:endParaRPr lang="zh-CN" altLang="en-GB" sz="1000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62" name="任意形状 61"/>
              <p:cNvSpPr/>
              <p:nvPr/>
            </p:nvSpPr>
            <p:spPr>
              <a:xfrm>
                <a:off x="3984007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3" name="圆角矩形 62"/>
              <p:cNvSpPr/>
              <p:nvPr/>
            </p:nvSpPr>
            <p:spPr>
              <a:xfrm>
                <a:off x="4111397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4175991" y="1551638"/>
                <a:ext cx="81788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4. 推理蒸馏</a:t>
                </a:r>
                <a:endParaRPr lang="zh-CN" altLang="en-US" sz="100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grpSp>
            <p:nvGrpSpPr>
              <p:cNvPr id="66" name="图形 4"/>
              <p:cNvGrpSpPr/>
              <p:nvPr/>
            </p:nvGrpSpPr>
            <p:grpSpPr>
              <a:xfrm>
                <a:off x="4372881" y="1965571"/>
                <a:ext cx="418804" cy="418359"/>
                <a:chOff x="4372881" y="1965571"/>
                <a:chExt cx="418804" cy="418359"/>
              </a:xfrm>
              <a:solidFill>
                <a:srgbClr val="000000"/>
              </a:solidFill>
            </p:grpSpPr>
            <p:sp>
              <p:nvSpPr>
                <p:cNvPr id="67" name="任意形状 66"/>
                <p:cNvSpPr/>
                <p:nvPr/>
              </p:nvSpPr>
              <p:spPr>
                <a:xfrm>
                  <a:off x="4372881" y="1965571"/>
                  <a:ext cx="418804" cy="418359"/>
                </a:xfrm>
                <a:custGeom>
                  <a:avLst/>
                  <a:gdLst>
                    <a:gd name="csX0" fmla="*/ 98 w 418804"/>
                    <a:gd name="csY0" fmla="*/ 208951 h 418359"/>
                    <a:gd name="csX1" fmla="*/ 209501 w 418804"/>
                    <a:gd name="csY1" fmla="*/ 418131 h 418359"/>
                    <a:gd name="csX2" fmla="*/ 418903 w 418804"/>
                    <a:gd name="csY2" fmla="*/ 208951 h 418359"/>
                    <a:gd name="csX3" fmla="*/ 209501 w 418804"/>
                    <a:gd name="csY3" fmla="*/ -229 h 418359"/>
                    <a:gd name="csX4" fmla="*/ 98 w 418804"/>
                    <a:gd name="csY4" fmla="*/ 208951 h 4183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418804" h="418359">
                      <a:moveTo>
                        <a:pt x="98" y="208951"/>
                      </a:moveTo>
                      <a:cubicBezTo>
                        <a:pt x="98" y="324478"/>
                        <a:pt x="93851" y="418131"/>
                        <a:pt x="209501" y="418131"/>
                      </a:cubicBezTo>
                      <a:cubicBezTo>
                        <a:pt x="325150" y="418131"/>
                        <a:pt x="418903" y="324478"/>
                        <a:pt x="418903" y="208951"/>
                      </a:cubicBezTo>
                      <a:cubicBezTo>
                        <a:pt x="418903" y="93424"/>
                        <a:pt x="325150" y="-229"/>
                        <a:pt x="209501" y="-229"/>
                      </a:cubicBezTo>
                      <a:cubicBezTo>
                        <a:pt x="93851" y="-229"/>
                        <a:pt x="98" y="93424"/>
                        <a:pt x="98" y="2089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68" name="任意形状 67"/>
                <p:cNvSpPr/>
                <p:nvPr/>
              </p:nvSpPr>
              <p:spPr>
                <a:xfrm>
                  <a:off x="4438691" y="2100346"/>
                  <a:ext cx="178081" cy="182624"/>
                </a:xfrm>
                <a:custGeom>
                  <a:avLst/>
                  <a:gdLst>
                    <a:gd name="csX0" fmla="*/ 61720 w 178081"/>
                    <a:gd name="csY0" fmla="*/ -268 h 182624"/>
                    <a:gd name="csX1" fmla="*/ 26540 w 178081"/>
                    <a:gd name="csY1" fmla="*/ -268 h 182624"/>
                    <a:gd name="csX2" fmla="*/ 20677 w 178081"/>
                    <a:gd name="csY2" fmla="*/ 3111 h 182624"/>
                    <a:gd name="csX3" fmla="*/ 1129 w 178081"/>
                    <a:gd name="csY3" fmla="*/ 36925 h 182624"/>
                    <a:gd name="csX4" fmla="*/ 1129 w 178081"/>
                    <a:gd name="csY4" fmla="*/ 43692 h 182624"/>
                    <a:gd name="csX5" fmla="*/ 81351 w 178081"/>
                    <a:gd name="csY5" fmla="*/ 182357 h 182624"/>
                    <a:gd name="csX6" fmla="*/ 120353 w 178081"/>
                    <a:gd name="csY6" fmla="*/ 182357 h 182624"/>
                    <a:gd name="csX7" fmla="*/ 178305 w 178081"/>
                    <a:gd name="csY7" fmla="*/ 133722 h 182624"/>
                    <a:gd name="csX8" fmla="*/ 61720 w 178081"/>
                    <a:gd name="csY8" fmla="*/ -268 h 1826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8081" h="182624">
                      <a:moveTo>
                        <a:pt x="61720" y="-268"/>
                      </a:moveTo>
                      <a:lnTo>
                        <a:pt x="26540" y="-268"/>
                      </a:lnTo>
                      <a:cubicBezTo>
                        <a:pt x="24122" y="-268"/>
                        <a:pt x="21888" y="1020"/>
                        <a:pt x="20677" y="3111"/>
                      </a:cubicBezTo>
                      <a:lnTo>
                        <a:pt x="1129" y="36925"/>
                      </a:lnTo>
                      <a:cubicBezTo>
                        <a:pt x="-79" y="39019"/>
                        <a:pt x="-79" y="41597"/>
                        <a:pt x="1129" y="43692"/>
                      </a:cubicBezTo>
                      <a:lnTo>
                        <a:pt x="81351" y="182357"/>
                      </a:lnTo>
                      <a:lnTo>
                        <a:pt x="120353" y="182357"/>
                      </a:lnTo>
                      <a:lnTo>
                        <a:pt x="178305" y="133722"/>
                      </a:lnTo>
                      <a:lnTo>
                        <a:pt x="61720" y="-268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69" name="任意形状 68"/>
                <p:cNvSpPr/>
                <p:nvPr/>
              </p:nvSpPr>
              <p:spPr>
                <a:xfrm>
                  <a:off x="4458236" y="2066522"/>
                  <a:ext cx="248115" cy="216459"/>
                </a:xfrm>
                <a:custGeom>
                  <a:avLst/>
                  <a:gdLst>
                    <a:gd name="csX0" fmla="*/ 18608 w 248115"/>
                    <a:gd name="csY0" fmla="*/ 141825 h 216459"/>
                    <a:gd name="csX1" fmla="*/ 1007 w 248115"/>
                    <a:gd name="csY1" fmla="*/ 172261 h 216459"/>
                    <a:gd name="csX2" fmla="*/ 1007 w 248115"/>
                    <a:gd name="csY2" fmla="*/ 179028 h 216459"/>
                    <a:gd name="csX3" fmla="*/ 20555 w 248115"/>
                    <a:gd name="csY3" fmla="*/ 212842 h 216459"/>
                    <a:gd name="csX4" fmla="*/ 26418 w 248115"/>
                    <a:gd name="csY4" fmla="*/ 216230 h 216459"/>
                    <a:gd name="csX5" fmla="*/ 100683 w 248115"/>
                    <a:gd name="csY5" fmla="*/ 216230 h 216459"/>
                    <a:gd name="csX6" fmla="*/ 18597 w 248115"/>
                    <a:gd name="csY6" fmla="*/ 141825 h 216459"/>
                    <a:gd name="csX7" fmla="*/ 229717 w 248115"/>
                    <a:gd name="csY7" fmla="*/ 74166 h 216459"/>
                    <a:gd name="csX8" fmla="*/ 247306 w 248115"/>
                    <a:gd name="csY8" fmla="*/ 43741 h 216459"/>
                    <a:gd name="csX9" fmla="*/ 247306 w 248115"/>
                    <a:gd name="csY9" fmla="*/ 36974 h 216459"/>
                    <a:gd name="csX10" fmla="*/ 227759 w 248115"/>
                    <a:gd name="csY10" fmla="*/ 3160 h 216459"/>
                    <a:gd name="csX11" fmla="*/ 221895 w 248115"/>
                    <a:gd name="csY11" fmla="*/ -229 h 216459"/>
                    <a:gd name="csX12" fmla="*/ 61567 w 248115"/>
                    <a:gd name="csY12" fmla="*/ -156 h 216459"/>
                    <a:gd name="csX13" fmla="*/ 42061 w 248115"/>
                    <a:gd name="csY13" fmla="*/ 33585 h 216459"/>
                    <a:gd name="csX14" fmla="*/ 55253 w 248115"/>
                    <a:gd name="csY14" fmla="*/ 108032 h 216459"/>
                    <a:gd name="csX15" fmla="*/ 229717 w 248115"/>
                    <a:gd name="csY15" fmla="*/ 74166 h 2164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48115" h="216459">
                      <a:moveTo>
                        <a:pt x="18608" y="141825"/>
                      </a:moveTo>
                      <a:lnTo>
                        <a:pt x="1007" y="172261"/>
                      </a:lnTo>
                      <a:cubicBezTo>
                        <a:pt x="-205" y="174354"/>
                        <a:pt x="-205" y="176935"/>
                        <a:pt x="1007" y="179028"/>
                      </a:cubicBezTo>
                      <a:lnTo>
                        <a:pt x="20555" y="212842"/>
                      </a:lnTo>
                      <a:cubicBezTo>
                        <a:pt x="21755" y="214944"/>
                        <a:pt x="23995" y="216239"/>
                        <a:pt x="26418" y="216230"/>
                      </a:cubicBezTo>
                      <a:lnTo>
                        <a:pt x="100683" y="216230"/>
                      </a:lnTo>
                      <a:lnTo>
                        <a:pt x="18597" y="141825"/>
                      </a:lnTo>
                      <a:close/>
                      <a:moveTo>
                        <a:pt x="229717" y="74166"/>
                      </a:moveTo>
                      <a:lnTo>
                        <a:pt x="247306" y="43741"/>
                      </a:lnTo>
                      <a:cubicBezTo>
                        <a:pt x="248517" y="41647"/>
                        <a:pt x="248517" y="39068"/>
                        <a:pt x="247306" y="36974"/>
                      </a:cubicBezTo>
                      <a:lnTo>
                        <a:pt x="227759" y="3160"/>
                      </a:lnTo>
                      <a:cubicBezTo>
                        <a:pt x="226549" y="1067"/>
                        <a:pt x="224315" y="-224"/>
                        <a:pt x="221895" y="-229"/>
                      </a:cubicBezTo>
                      <a:lnTo>
                        <a:pt x="61567" y="-156"/>
                      </a:lnTo>
                      <a:lnTo>
                        <a:pt x="42061" y="33585"/>
                      </a:lnTo>
                      <a:lnTo>
                        <a:pt x="55253" y="108032"/>
                      </a:lnTo>
                      <a:lnTo>
                        <a:pt x="229717" y="74166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0" name="任意形状 69"/>
                <p:cNvSpPr/>
                <p:nvPr/>
              </p:nvSpPr>
              <p:spPr>
                <a:xfrm>
                  <a:off x="4500188" y="2032708"/>
                  <a:ext cx="207140" cy="284097"/>
                </a:xfrm>
                <a:custGeom>
                  <a:avLst/>
                  <a:gdLst>
                    <a:gd name="csX0" fmla="*/ 105598 w 207140"/>
                    <a:gd name="csY0" fmla="*/ 33596 h 284097"/>
                    <a:gd name="csX1" fmla="*/ 88008 w 207140"/>
                    <a:gd name="csY1" fmla="*/ 3160 h 284097"/>
                    <a:gd name="csX2" fmla="*/ 82145 w 207140"/>
                    <a:gd name="csY2" fmla="*/ -229 h 284097"/>
                    <a:gd name="csX3" fmla="*/ 43050 w 207140"/>
                    <a:gd name="csY3" fmla="*/ -229 h 284097"/>
                    <a:gd name="csX4" fmla="*/ 37186 w 207140"/>
                    <a:gd name="csY4" fmla="*/ 3150 h 284097"/>
                    <a:gd name="csX5" fmla="*/ 19408 w 207140"/>
                    <a:gd name="csY5" fmla="*/ 33909 h 284097"/>
                    <a:gd name="csX6" fmla="*/ 49 w 207140"/>
                    <a:gd name="csY6" fmla="*/ 67399 h 284097"/>
                    <a:gd name="csX7" fmla="*/ 105598 w 207140"/>
                    <a:gd name="csY7" fmla="*/ 33596 h 284097"/>
                    <a:gd name="csX8" fmla="*/ 58692 w 207140"/>
                    <a:gd name="csY8" fmla="*/ 250055 h 284097"/>
                    <a:gd name="csX9" fmla="*/ 76271 w 207140"/>
                    <a:gd name="csY9" fmla="*/ 280491 h 284097"/>
                    <a:gd name="csX10" fmla="*/ 82135 w 207140"/>
                    <a:gd name="csY10" fmla="*/ 283869 h 284097"/>
                    <a:gd name="csX11" fmla="*/ 121230 w 207140"/>
                    <a:gd name="csY11" fmla="*/ 283869 h 284097"/>
                    <a:gd name="csX12" fmla="*/ 127093 w 207140"/>
                    <a:gd name="csY12" fmla="*/ 280491 h 284097"/>
                    <a:gd name="csX13" fmla="*/ 207190 w 207140"/>
                    <a:gd name="csY13" fmla="*/ 141752 h 284097"/>
                    <a:gd name="csX14" fmla="*/ 187694 w 207140"/>
                    <a:gd name="csY14" fmla="*/ 108001 h 284097"/>
                    <a:gd name="csX15" fmla="*/ 116560 w 207140"/>
                    <a:gd name="csY15" fmla="*/ 82199 h 284097"/>
                    <a:gd name="csX16" fmla="*/ 58682 w 207140"/>
                    <a:gd name="csY16" fmla="*/ 250055 h 2840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207140" h="284097">
                      <a:moveTo>
                        <a:pt x="105598" y="33596"/>
                      </a:moveTo>
                      <a:lnTo>
                        <a:pt x="88008" y="3160"/>
                      </a:lnTo>
                      <a:cubicBezTo>
                        <a:pt x="86802" y="1064"/>
                        <a:pt x="84566" y="-229"/>
                        <a:pt x="82145" y="-229"/>
                      </a:cubicBezTo>
                      <a:lnTo>
                        <a:pt x="43050" y="-229"/>
                      </a:lnTo>
                      <a:cubicBezTo>
                        <a:pt x="40629" y="-239"/>
                        <a:pt x="38389" y="1051"/>
                        <a:pt x="37186" y="3150"/>
                      </a:cubicBezTo>
                      <a:lnTo>
                        <a:pt x="19408" y="33909"/>
                      </a:lnTo>
                      <a:lnTo>
                        <a:pt x="49" y="67399"/>
                      </a:lnTo>
                      <a:lnTo>
                        <a:pt x="105598" y="33596"/>
                      </a:lnTo>
                      <a:close/>
                      <a:moveTo>
                        <a:pt x="58692" y="250055"/>
                      </a:moveTo>
                      <a:lnTo>
                        <a:pt x="76271" y="280491"/>
                      </a:lnTo>
                      <a:cubicBezTo>
                        <a:pt x="77482" y="282581"/>
                        <a:pt x="79717" y="283869"/>
                        <a:pt x="82135" y="283869"/>
                      </a:cubicBezTo>
                      <a:lnTo>
                        <a:pt x="121230" y="283869"/>
                      </a:lnTo>
                      <a:cubicBezTo>
                        <a:pt x="123647" y="283867"/>
                        <a:pt x="125881" y="282580"/>
                        <a:pt x="127093" y="280491"/>
                      </a:cubicBezTo>
                      <a:lnTo>
                        <a:pt x="207190" y="141752"/>
                      </a:lnTo>
                      <a:lnTo>
                        <a:pt x="187694" y="108001"/>
                      </a:lnTo>
                      <a:lnTo>
                        <a:pt x="116560" y="82199"/>
                      </a:lnTo>
                      <a:lnTo>
                        <a:pt x="58682" y="250055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1" name="任意形状 70"/>
                <p:cNvSpPr/>
                <p:nvPr/>
              </p:nvSpPr>
              <p:spPr>
                <a:xfrm>
                  <a:off x="4664370" y="2140937"/>
                  <a:ext cx="61516" cy="108219"/>
                </a:xfrm>
                <a:custGeom>
                  <a:avLst/>
                  <a:gdLst>
                    <a:gd name="csX0" fmla="*/ -161 w 61516"/>
                    <a:gd name="csY0" fmla="*/ 107944 h 108219"/>
                    <a:gd name="csX1" fmla="*/ 35029 w 61516"/>
                    <a:gd name="csY1" fmla="*/ 107944 h 108219"/>
                    <a:gd name="csX2" fmla="*/ 40892 w 61516"/>
                    <a:gd name="csY2" fmla="*/ 104555 h 108219"/>
                    <a:gd name="csX3" fmla="*/ 60440 w 61516"/>
                    <a:gd name="csY3" fmla="*/ 70741 h 108219"/>
                    <a:gd name="csX4" fmla="*/ 60440 w 61516"/>
                    <a:gd name="csY4" fmla="*/ 63974 h 108219"/>
                    <a:gd name="csX5" fmla="*/ 42662 w 61516"/>
                    <a:gd name="csY5" fmla="*/ 33214 h 108219"/>
                    <a:gd name="csX6" fmla="*/ 23313 w 61516"/>
                    <a:gd name="csY6" fmla="*/ -275 h 108219"/>
                    <a:gd name="csX7" fmla="*/ -150 w 61516"/>
                    <a:gd name="csY7" fmla="*/ 107944 h 1082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61516" h="108219">
                      <a:moveTo>
                        <a:pt x="-161" y="107944"/>
                      </a:moveTo>
                      <a:lnTo>
                        <a:pt x="35029" y="107944"/>
                      </a:lnTo>
                      <a:cubicBezTo>
                        <a:pt x="37448" y="107944"/>
                        <a:pt x="39688" y="106647"/>
                        <a:pt x="40892" y="104555"/>
                      </a:cubicBezTo>
                      <a:lnTo>
                        <a:pt x="60440" y="70741"/>
                      </a:lnTo>
                      <a:cubicBezTo>
                        <a:pt x="61661" y="68650"/>
                        <a:pt x="61661" y="66065"/>
                        <a:pt x="60440" y="63974"/>
                      </a:cubicBezTo>
                      <a:lnTo>
                        <a:pt x="42662" y="33214"/>
                      </a:lnTo>
                      <a:lnTo>
                        <a:pt x="23313" y="-275"/>
                      </a:lnTo>
                      <a:lnTo>
                        <a:pt x="-150" y="107944"/>
                      </a:lnTo>
                      <a:close/>
                    </a:path>
                  </a:pathLst>
                </a:custGeom>
                <a:solidFill>
                  <a:srgbClr val="615CED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2" name="任意形状 71"/>
                <p:cNvSpPr/>
                <p:nvPr/>
              </p:nvSpPr>
              <p:spPr>
                <a:xfrm>
                  <a:off x="4464914" y="2107573"/>
                  <a:ext cx="117652" cy="168818"/>
                </a:xfrm>
                <a:custGeom>
                  <a:avLst/>
                  <a:gdLst>
                    <a:gd name="csX0" fmla="*/ 98516 w 117652"/>
                    <a:gd name="csY0" fmla="*/ 168236 h 168818"/>
                    <a:gd name="csX1" fmla="*/ 20513 w 117652"/>
                    <a:gd name="csY1" fmla="*/ 168550 h 168818"/>
                    <a:gd name="csX2" fmla="*/ 39841 w 117652"/>
                    <a:gd name="csY2" fmla="*/ 134768 h 168818"/>
                    <a:gd name="csX3" fmla="*/ 78895 w 117652"/>
                    <a:gd name="csY3" fmla="*/ 134600 h 168818"/>
                    <a:gd name="csX4" fmla="*/ 233 w 117652"/>
                    <a:gd name="csY4" fmla="*/ -195 h 168818"/>
                    <a:gd name="csX5" fmla="*/ 39307 w 117652"/>
                    <a:gd name="csY5" fmla="*/ -268 h 168818"/>
                    <a:gd name="csX6" fmla="*/ 117885 w 117652"/>
                    <a:gd name="csY6" fmla="*/ 134370 h 168818"/>
                    <a:gd name="csX7" fmla="*/ 98516 w 117652"/>
                    <a:gd name="csY7" fmla="*/ 168236 h 1688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7652" h="168818">
                      <a:moveTo>
                        <a:pt x="98516" y="168236"/>
                      </a:moveTo>
                      <a:lnTo>
                        <a:pt x="20513" y="168550"/>
                      </a:lnTo>
                      <a:lnTo>
                        <a:pt x="39841" y="134768"/>
                      </a:lnTo>
                      <a:lnTo>
                        <a:pt x="78895" y="134600"/>
                      </a:lnTo>
                      <a:lnTo>
                        <a:pt x="233" y="-195"/>
                      </a:lnTo>
                      <a:lnTo>
                        <a:pt x="39307" y="-268"/>
                      </a:lnTo>
                      <a:lnTo>
                        <a:pt x="117885" y="134370"/>
                      </a:lnTo>
                      <a:lnTo>
                        <a:pt x="98516" y="1682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3" name="任意形状 72"/>
                <p:cNvSpPr/>
                <p:nvPr/>
              </p:nvSpPr>
              <p:spPr>
                <a:xfrm>
                  <a:off x="4503978" y="2039945"/>
                  <a:ext cx="195163" cy="101316"/>
                </a:xfrm>
                <a:custGeom>
                  <a:avLst/>
                  <a:gdLst>
                    <a:gd name="csX0" fmla="*/ 54 w 195163"/>
                    <a:gd name="csY0" fmla="*/ 67592 h 101316"/>
                    <a:gd name="csX1" fmla="*/ 38783 w 195163"/>
                    <a:gd name="csY1" fmla="*/ -35 h 101316"/>
                    <a:gd name="csX2" fmla="*/ 58404 w 195163"/>
                    <a:gd name="csY2" fmla="*/ 33580 h 101316"/>
                    <a:gd name="csX3" fmla="*/ 39034 w 195163"/>
                    <a:gd name="csY3" fmla="*/ 67436 h 101316"/>
                    <a:gd name="csX4" fmla="*/ 195217 w 195163"/>
                    <a:gd name="csY4" fmla="*/ 66798 h 101316"/>
                    <a:gd name="csX5" fmla="*/ 175743 w 195163"/>
                    <a:gd name="csY5" fmla="*/ 100632 h 101316"/>
                    <a:gd name="csX6" fmla="*/ 19738 w 195163"/>
                    <a:gd name="csY6" fmla="*/ 101281 h 101316"/>
                    <a:gd name="csX7" fmla="*/ 54 w 195163"/>
                    <a:gd name="csY7" fmla="*/ 67603 h 1013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95163" h="101316">
                      <a:moveTo>
                        <a:pt x="54" y="67592"/>
                      </a:moveTo>
                      <a:lnTo>
                        <a:pt x="38783" y="-35"/>
                      </a:lnTo>
                      <a:lnTo>
                        <a:pt x="58404" y="33580"/>
                      </a:lnTo>
                      <a:lnTo>
                        <a:pt x="39034" y="67436"/>
                      </a:lnTo>
                      <a:lnTo>
                        <a:pt x="195217" y="66798"/>
                      </a:lnTo>
                      <a:lnTo>
                        <a:pt x="175743" y="100632"/>
                      </a:lnTo>
                      <a:lnTo>
                        <a:pt x="19738" y="101281"/>
                      </a:lnTo>
                      <a:lnTo>
                        <a:pt x="54" y="6760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4" name="任意形状 73"/>
                <p:cNvSpPr/>
                <p:nvPr/>
              </p:nvSpPr>
              <p:spPr>
                <a:xfrm>
                  <a:off x="4563197" y="2140603"/>
                  <a:ext cx="155743" cy="169236"/>
                </a:xfrm>
                <a:custGeom>
                  <a:avLst/>
                  <a:gdLst>
                    <a:gd name="csX0" fmla="*/ 116443 w 155743"/>
                    <a:gd name="csY0" fmla="*/ -345 h 169236"/>
                    <a:gd name="csX1" fmla="*/ 155706 w 155743"/>
                    <a:gd name="csY1" fmla="*/ 66969 h 169236"/>
                    <a:gd name="csX2" fmla="*/ 116757 w 155743"/>
                    <a:gd name="csY2" fmla="*/ 67147 h 169236"/>
                    <a:gd name="csX3" fmla="*/ 97095 w 155743"/>
                    <a:gd name="csY3" fmla="*/ 33448 h 169236"/>
                    <a:gd name="csX4" fmla="*/ 19563 w 155743"/>
                    <a:gd name="csY4" fmla="*/ 168892 h 169236"/>
                    <a:gd name="csX5" fmla="*/ -37 w 155743"/>
                    <a:gd name="csY5" fmla="*/ 135131 h 169236"/>
                    <a:gd name="csX6" fmla="*/ 77400 w 155743"/>
                    <a:gd name="csY6" fmla="*/ -167 h 169236"/>
                    <a:gd name="csX7" fmla="*/ 116454 w 155743"/>
                    <a:gd name="csY7" fmla="*/ -345 h 1692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55743" h="169236">
                      <a:moveTo>
                        <a:pt x="116443" y="-345"/>
                      </a:moveTo>
                      <a:lnTo>
                        <a:pt x="155706" y="66969"/>
                      </a:lnTo>
                      <a:lnTo>
                        <a:pt x="116757" y="67147"/>
                      </a:lnTo>
                      <a:lnTo>
                        <a:pt x="97095" y="33448"/>
                      </a:lnTo>
                      <a:lnTo>
                        <a:pt x="19563" y="168892"/>
                      </a:lnTo>
                      <a:lnTo>
                        <a:pt x="-37" y="135131"/>
                      </a:lnTo>
                      <a:lnTo>
                        <a:pt x="77400" y="-167"/>
                      </a:lnTo>
                      <a:lnTo>
                        <a:pt x="116454" y="-34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 dirty="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5" name="任意形状 74"/>
                <p:cNvSpPr/>
                <p:nvPr/>
              </p:nvSpPr>
              <p:spPr>
                <a:xfrm>
                  <a:off x="4523662" y="2140780"/>
                  <a:ext cx="116982" cy="101441"/>
                </a:xfrm>
                <a:custGeom>
                  <a:avLst/>
                  <a:gdLst>
                    <a:gd name="csX0" fmla="*/ 59003 w 116982"/>
                    <a:gd name="csY0" fmla="*/ 101164 h 101441"/>
                    <a:gd name="csX1" fmla="*/ 117081 w 116982"/>
                    <a:gd name="csY1" fmla="*/ -267 h 101441"/>
                    <a:gd name="csX2" fmla="*/ 99 w 116982"/>
                    <a:gd name="csY2" fmla="*/ 214 h 101441"/>
                    <a:gd name="csX3" fmla="*/ 59003 w 116982"/>
                    <a:gd name="csY3" fmla="*/ 101174 h 10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6982" h="101441">
                      <a:moveTo>
                        <a:pt x="59003" y="101164"/>
                      </a:moveTo>
                      <a:lnTo>
                        <a:pt x="117081" y="-267"/>
                      </a:lnTo>
                      <a:lnTo>
                        <a:pt x="99" y="214"/>
                      </a:lnTo>
                      <a:lnTo>
                        <a:pt x="59003" y="101174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6" name="任意形状 75"/>
                <p:cNvSpPr/>
                <p:nvPr/>
              </p:nvSpPr>
              <p:spPr>
                <a:xfrm>
                  <a:off x="4503988" y="2100806"/>
                  <a:ext cx="82441" cy="141416"/>
                </a:xfrm>
                <a:custGeom>
                  <a:avLst/>
                  <a:gdLst>
                    <a:gd name="csX0" fmla="*/ 78762 w 82441"/>
                    <a:gd name="csY0" fmla="*/ 141184 h 141416"/>
                    <a:gd name="csX1" fmla="*/ 183 w 82441"/>
                    <a:gd name="csY1" fmla="*/ 6546 h 141416"/>
                    <a:gd name="csX2" fmla="*/ 4057 w 82441"/>
                    <a:gd name="csY2" fmla="*/ -221 h 141416"/>
                    <a:gd name="csX3" fmla="*/ 82625 w 82441"/>
                    <a:gd name="csY3" fmla="*/ 134428 h 141416"/>
                    <a:gd name="csX4" fmla="*/ 78762 w 82441"/>
                    <a:gd name="csY4" fmla="*/ 141195 h 1414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2441" h="141416">
                      <a:moveTo>
                        <a:pt x="78762" y="141184"/>
                      </a:moveTo>
                      <a:lnTo>
                        <a:pt x="183" y="6546"/>
                      </a:lnTo>
                      <a:lnTo>
                        <a:pt x="4057" y="-221"/>
                      </a:lnTo>
                      <a:lnTo>
                        <a:pt x="82625" y="134428"/>
                      </a:lnTo>
                      <a:lnTo>
                        <a:pt x="78762" y="141195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7" name="任意形状 76"/>
                <p:cNvSpPr/>
                <p:nvPr/>
              </p:nvSpPr>
              <p:spPr>
                <a:xfrm>
                  <a:off x="4523651" y="2140613"/>
                  <a:ext cx="159951" cy="7384"/>
                </a:xfrm>
                <a:custGeom>
                  <a:avLst/>
                  <a:gdLst>
                    <a:gd name="csX0" fmla="*/ 49 w 159951"/>
                    <a:gd name="csY0" fmla="*/ 490 h 7384"/>
                    <a:gd name="csX1" fmla="*/ 156075 w 159951"/>
                    <a:gd name="csY1" fmla="*/ -159 h 7384"/>
                    <a:gd name="csX2" fmla="*/ 160001 w 159951"/>
                    <a:gd name="csY2" fmla="*/ 6577 h 7384"/>
                    <a:gd name="csX3" fmla="*/ 3986 w 159951"/>
                    <a:gd name="csY3" fmla="*/ 7225 h 7384"/>
                    <a:gd name="csX4" fmla="*/ 49 w 159951"/>
                    <a:gd name="csY4" fmla="*/ 490 h 73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9951" h="7384">
                      <a:moveTo>
                        <a:pt x="49" y="490"/>
                      </a:moveTo>
                      <a:lnTo>
                        <a:pt x="156075" y="-159"/>
                      </a:lnTo>
                      <a:lnTo>
                        <a:pt x="160001" y="6577"/>
                      </a:lnTo>
                      <a:lnTo>
                        <a:pt x="3986" y="7225"/>
                      </a:lnTo>
                      <a:lnTo>
                        <a:pt x="49" y="490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8" name="任意形状 77"/>
                <p:cNvSpPr/>
                <p:nvPr/>
              </p:nvSpPr>
              <p:spPr>
                <a:xfrm>
                  <a:off x="4555407" y="2140760"/>
                  <a:ext cx="85237" cy="135328"/>
                </a:xfrm>
                <a:custGeom>
                  <a:avLst/>
                  <a:gdLst>
                    <a:gd name="csX0" fmla="*/ 85299 w 85237"/>
                    <a:gd name="csY0" fmla="*/ -306 h 135328"/>
                    <a:gd name="csX1" fmla="*/ 7862 w 85237"/>
                    <a:gd name="csY1" fmla="*/ 134991 h 135328"/>
                    <a:gd name="csX2" fmla="*/ 62 w 85237"/>
                    <a:gd name="csY2" fmla="*/ 135023 h 135328"/>
                    <a:gd name="csX3" fmla="*/ 77510 w 85237"/>
                    <a:gd name="csY3" fmla="*/ -264 h 135328"/>
                    <a:gd name="csX4" fmla="*/ 85299 w 85237"/>
                    <a:gd name="csY4" fmla="*/ -306 h 1353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85237" h="135328">
                      <a:moveTo>
                        <a:pt x="85299" y="-306"/>
                      </a:moveTo>
                      <a:lnTo>
                        <a:pt x="7862" y="134991"/>
                      </a:lnTo>
                      <a:lnTo>
                        <a:pt x="62" y="135023"/>
                      </a:lnTo>
                      <a:lnTo>
                        <a:pt x="77510" y="-264"/>
                      </a:lnTo>
                      <a:lnTo>
                        <a:pt x="85299" y="-306"/>
                      </a:lnTo>
                      <a:close/>
                    </a:path>
                  </a:pathLst>
                </a:custGeom>
                <a:solidFill>
                  <a:srgbClr val="605BEC"/>
                </a:solidFill>
                <a:ln w="40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79" name="文本框 78"/>
              <p:cNvSpPr txBox="1"/>
              <p:nvPr/>
            </p:nvSpPr>
            <p:spPr>
              <a:xfrm>
                <a:off x="4241845" y="2373687"/>
                <a:ext cx="786241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GB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教师模型</a:t>
                </a:r>
                <a:endParaRPr lang="zh-CN" altLang="en-GB" sz="100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81" name="任意形状 80"/>
              <p:cNvSpPr/>
              <p:nvPr/>
            </p:nvSpPr>
            <p:spPr>
              <a:xfrm>
                <a:off x="5043355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5170745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5181646" y="1536828"/>
                <a:ext cx="94107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5. SFT 数据集</a:t>
                </a:r>
                <a:endParaRPr lang="zh-CN" altLang="en-US" sz="100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5426426" y="2345589"/>
                <a:ext cx="45847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000" i="1" spc="0" baseline="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D_sft</a:t>
                </a:r>
                <a:endParaRPr lang="en-US" altLang="zh-CN" sz="1000" i="1" spc="0" baseline="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91" name="任意形状 90"/>
              <p:cNvSpPr/>
              <p:nvPr/>
            </p:nvSpPr>
            <p:spPr>
              <a:xfrm>
                <a:off x="6102704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6230094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6307051" y="1535392"/>
                <a:ext cx="81788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6. 监督微调</a:t>
                </a:r>
                <a:endParaRPr lang="zh-CN" altLang="en-US" sz="100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96" name="任意形状 95"/>
              <p:cNvSpPr/>
              <p:nvPr/>
            </p:nvSpPr>
            <p:spPr>
              <a:xfrm>
                <a:off x="6491579" y="1978967"/>
                <a:ext cx="411939" cy="411501"/>
              </a:xfrm>
              <a:custGeom>
                <a:avLst/>
                <a:gdLst>
                  <a:gd name="csX0" fmla="*/ 414 w 411939"/>
                  <a:gd name="csY0" fmla="*/ -227 h 411501"/>
                  <a:gd name="csX1" fmla="*/ 412353 w 411939"/>
                  <a:gd name="csY1" fmla="*/ -227 h 411501"/>
                  <a:gd name="csX2" fmla="*/ 412353 w 411939"/>
                  <a:gd name="csY2" fmla="*/ 411274 h 411501"/>
                  <a:gd name="csX3" fmla="*/ 414 w 411939"/>
                  <a:gd name="csY3" fmla="*/ 411274 h 4115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11939" h="411501">
                    <a:moveTo>
                      <a:pt x="414" y="-227"/>
                    </a:moveTo>
                    <a:lnTo>
                      <a:pt x="412353" y="-227"/>
                    </a:lnTo>
                    <a:lnTo>
                      <a:pt x="412353" y="411274"/>
                    </a:lnTo>
                    <a:lnTo>
                      <a:pt x="414" y="411274"/>
                    </a:lnTo>
                    <a:close/>
                  </a:path>
                </a:pathLst>
              </a:custGeom>
              <a:solidFill>
                <a:srgbClr val="FFFFFF">
                  <a:alpha val="1000"/>
                </a:srgbClr>
              </a:solidFill>
              <a:ln w="402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6230635" y="2371774"/>
                <a:ext cx="101219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GB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</a:rPr>
                  <a:t>本地模型微调</a:t>
                </a:r>
                <a:endParaRPr lang="zh-CN" altLang="en-GB" sz="100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01" name="任意形状 100"/>
              <p:cNvSpPr/>
              <p:nvPr/>
            </p:nvSpPr>
            <p:spPr>
              <a:xfrm>
                <a:off x="7162052" y="2159802"/>
                <a:ext cx="107275" cy="6697"/>
              </a:xfrm>
              <a:custGeom>
                <a:avLst/>
                <a:gdLst>
                  <a:gd name="csX0" fmla="*/ 0 w 107275"/>
                  <a:gd name="csY0" fmla="*/ 0 h 6697"/>
                  <a:gd name="csX1" fmla="*/ 107276 w 107275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275" h="6697">
                    <a:moveTo>
                      <a:pt x="0" y="0"/>
                    </a:moveTo>
                    <a:lnTo>
                      <a:pt x="107276" y="0"/>
                    </a:lnTo>
                  </a:path>
                </a:pathLst>
              </a:custGeom>
              <a:ln w="13399" cap="rnd">
                <a:solidFill>
                  <a:srgbClr val="7A4DC6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7289442" y="1550320"/>
                <a:ext cx="931958" cy="1218965"/>
              </a:xfrm>
              <a:prstGeom prst="roundRect">
                <a:avLst>
                  <a:gd name="adj" fmla="val 5755"/>
                </a:avLst>
              </a:prstGeom>
              <a:solidFill>
                <a:srgbClr val="FFFFFF"/>
              </a:solidFill>
              <a:ln w="7369" cap="flat">
                <a:solidFill>
                  <a:srgbClr val="CDB8F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308416" y="1540547"/>
                <a:ext cx="923925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7. 本地模型</a:t>
                </a:r>
                <a:r>
                  <a:rPr lang="zh-CN" altLang="en-US" sz="1000" i="1" dirty="0">
                    <a:solidFill>
                      <a:srgbClr val="6F46C7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M</a:t>
                </a:r>
                <a:endParaRPr lang="zh-CN" altLang="en-US" sz="1000" i="1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7287487" y="2367296"/>
                <a:ext cx="929673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</a:rPr>
                  <a:t>用于</a:t>
                </a:r>
                <a:r>
                  <a:rPr lang="zh-CN" altLang="en-GB" sz="1000" dirty="0">
                    <a:solidFill>
                      <a:srgbClr val="7A4DC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</a:rPr>
                  <a:t>非确定状态补全</a:t>
                </a:r>
                <a:endParaRPr lang="zh-CN" altLang="en-GB" sz="1000" dirty="0">
                  <a:solidFill>
                    <a:srgbClr val="7A4DC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grpSp>
          <p:nvGrpSpPr>
            <p:cNvPr id="115" name="图形 4"/>
            <p:cNvGrpSpPr/>
            <p:nvPr/>
          </p:nvGrpSpPr>
          <p:grpSpPr>
            <a:xfrm>
              <a:off x="8489590" y="1211043"/>
              <a:ext cx="2753553" cy="1634217"/>
              <a:chOff x="8489590" y="1211043"/>
              <a:chExt cx="2753553" cy="1634217"/>
            </a:xfrm>
          </p:grpSpPr>
          <p:sp>
            <p:nvSpPr>
              <p:cNvPr id="116" name="圆角矩形 115"/>
              <p:cNvSpPr/>
              <p:nvPr/>
            </p:nvSpPr>
            <p:spPr>
              <a:xfrm>
                <a:off x="8489590" y="1211043"/>
                <a:ext cx="2753553" cy="1634217"/>
              </a:xfrm>
              <a:prstGeom prst="roundRect">
                <a:avLst>
                  <a:gd name="adj" fmla="val 4923"/>
                </a:avLst>
              </a:prstGeom>
              <a:solidFill>
                <a:srgbClr val="F7FBF4"/>
              </a:solidFill>
              <a:ln w="937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17" name="圆角矩形 116"/>
              <p:cNvSpPr/>
              <p:nvPr/>
            </p:nvSpPr>
            <p:spPr>
              <a:xfrm>
                <a:off x="8603571" y="1269020"/>
                <a:ext cx="2528255" cy="221021"/>
              </a:xfrm>
              <a:prstGeom prst="roundRect">
                <a:avLst>
                  <a:gd name="adj" fmla="val 24268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8630926" y="1285764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>
              <a:xfrm>
                <a:off x="8603942" y="1270717"/>
                <a:ext cx="267335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B</a:t>
                </a:r>
                <a:endParaRPr lang="zh-CN" altLang="en-US" sz="10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0" name="文本框 119"/>
              <p:cNvSpPr txBox="1"/>
              <p:nvPr/>
            </p:nvSpPr>
            <p:spPr>
              <a:xfrm>
                <a:off x="8604525" y="1249143"/>
                <a:ext cx="252603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D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验证收益画像</a:t>
                </a:r>
                <a:endParaRPr lang="zh-CN" altLang="en-US" sz="1000" spc="0" baseline="0" dirty="0">
                  <a:solidFill>
                    <a:srgbClr val="4D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1" name="圆角矩形 120"/>
              <p:cNvSpPr/>
              <p:nvPr/>
            </p:nvSpPr>
            <p:spPr>
              <a:xfrm>
                <a:off x="8603570" y="1550320"/>
                <a:ext cx="1143439" cy="705786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8491045" y="1558662"/>
                <a:ext cx="1371909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1. </a:t>
                </a:r>
                <a:r>
                  <a:rPr lang="zh-CN" altLang="en-US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历史</a:t>
                </a:r>
                <a:r>
                  <a:rPr lang="en-US" altLang="zh-CN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</a:t>
                </a:r>
                <a:r>
                  <a:rPr lang="zh-CN" altLang="en-US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日志</a:t>
                </a:r>
                <a:endParaRPr lang="zh-CN" altLang="en-US" sz="10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8696607" y="1990445"/>
                <a:ext cx="99314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runtime / states </a:t>
                </a:r>
                <a:endParaRPr lang="zh-CN" altLang="en-US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27" name="任意形状 126"/>
              <p:cNvSpPr/>
              <p:nvPr/>
            </p:nvSpPr>
            <p:spPr>
              <a:xfrm>
                <a:off x="9759715" y="1891898"/>
                <a:ext cx="181027" cy="6697"/>
              </a:xfrm>
              <a:custGeom>
                <a:avLst/>
                <a:gdLst>
                  <a:gd name="csX0" fmla="*/ 0 w 181027"/>
                  <a:gd name="csY0" fmla="*/ 0 h 6697"/>
                  <a:gd name="csX1" fmla="*/ 181028 w 181027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1027" h="6697">
                    <a:moveTo>
                      <a:pt x="0" y="0"/>
                    </a:moveTo>
                    <a:lnTo>
                      <a:pt x="181028" y="0"/>
                    </a:lnTo>
                  </a:path>
                </a:pathLst>
              </a:custGeom>
              <a:ln w="1339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28" name="圆角矩形 127"/>
              <p:cNvSpPr/>
              <p:nvPr/>
            </p:nvSpPr>
            <p:spPr>
              <a:xfrm>
                <a:off x="9949661" y="1552008"/>
                <a:ext cx="1180654" cy="704097"/>
              </a:xfrm>
              <a:prstGeom prst="roundRect">
                <a:avLst>
                  <a:gd name="adj" fmla="val 7851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9973215" y="1552971"/>
                <a:ext cx="1144236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2. 收益画像</a:t>
                </a:r>
                <a:endParaRPr lang="zh-CN" altLang="en-US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7" name="文本框 136"/>
              <p:cNvSpPr txBox="1"/>
              <p:nvPr/>
            </p:nvSpPr>
            <p:spPr>
              <a:xfrm>
                <a:off x="10088056" y="2014395"/>
                <a:ext cx="1006475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Determined</a:t>
                </a:r>
                <a:r>
                  <a:rPr lang="zh-CN" altLang="en-US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10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rate</a:t>
                </a:r>
                <a:endParaRPr lang="en-US" altLang="zh-CN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39" name="任意形状 138"/>
              <p:cNvSpPr/>
              <p:nvPr/>
            </p:nvSpPr>
            <p:spPr>
              <a:xfrm>
                <a:off x="10552318" y="2277436"/>
                <a:ext cx="6704" cy="154045"/>
              </a:xfrm>
              <a:custGeom>
                <a:avLst/>
                <a:gdLst>
                  <a:gd name="csX0" fmla="*/ 0 w 6704"/>
                  <a:gd name="csY0" fmla="*/ 0 h 154045"/>
                  <a:gd name="csX1" fmla="*/ 0 w 6704"/>
                  <a:gd name="csY1" fmla="*/ 154045 h 1540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54045">
                    <a:moveTo>
                      <a:pt x="0" y="0"/>
                    </a:moveTo>
                    <a:lnTo>
                      <a:pt x="0" y="154045"/>
                    </a:lnTo>
                  </a:path>
                </a:pathLst>
              </a:custGeom>
              <a:ln w="1339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40" name="圆角矩形 139"/>
              <p:cNvSpPr/>
              <p:nvPr/>
            </p:nvSpPr>
            <p:spPr>
              <a:xfrm>
                <a:off x="8958922" y="2441102"/>
                <a:ext cx="1783460" cy="334880"/>
              </a:xfrm>
              <a:prstGeom prst="roundRect">
                <a:avLst>
                  <a:gd name="adj" fmla="val 16017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8971523" y="2427457"/>
                <a:ext cx="1758469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3. 动态预算策略 π</a:t>
                </a:r>
                <a:endParaRPr lang="zh-CN" altLang="en-US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148" name="文本框 147"/>
            <p:cNvSpPr txBox="1"/>
            <p:nvPr/>
          </p:nvSpPr>
          <p:spPr>
            <a:xfrm>
              <a:off x="2462922" y="2986773"/>
              <a:ext cx="1643380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i="1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离线画像 → 在线预算路由</a:t>
              </a:r>
              <a:endParaRPr lang="zh-CN" altLang="en-US" sz="1000" i="1" spc="0" baseline="0" dirty="0">
                <a:solidFill>
                  <a:srgbClr val="6F46C7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7863336" y="2980152"/>
              <a:ext cx="1770380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i="1" spc="0" baseline="0" dirty="0">
                  <a:solidFill>
                    <a:srgbClr val="6F46C7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离线模型 → 非确定状态补全</a:t>
              </a:r>
              <a:endParaRPr lang="zh-CN" altLang="en-US" sz="1000" i="1" spc="0" baseline="0" dirty="0">
                <a:solidFill>
                  <a:srgbClr val="6F46C7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</p:grpSp>
      <p:grpSp>
        <p:nvGrpSpPr>
          <p:cNvPr id="151" name="图形 4"/>
          <p:cNvGrpSpPr/>
          <p:nvPr/>
        </p:nvGrpSpPr>
        <p:grpSpPr>
          <a:xfrm>
            <a:off x="725504" y="3204630"/>
            <a:ext cx="10740989" cy="3040715"/>
            <a:chOff x="725504" y="3204630"/>
            <a:chExt cx="10740989" cy="3040715"/>
          </a:xfrm>
        </p:grpSpPr>
        <p:sp>
          <p:nvSpPr>
            <p:cNvPr id="153" name="文本框 152"/>
            <p:cNvSpPr txBox="1"/>
            <p:nvPr/>
          </p:nvSpPr>
          <p:spPr>
            <a:xfrm>
              <a:off x="4797682" y="3212952"/>
              <a:ext cx="2449830" cy="245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 dirty="0">
                  <a:solidFill>
                    <a:srgbClr val="4D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Stage II. Online SQL Equivalence Judgment</a:t>
              </a:r>
              <a:endParaRPr lang="zh-CN" altLang="en-US" sz="1000" spc="0" baseline="0" dirty="0">
                <a:solidFill>
                  <a:srgbClr val="4D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725504" y="3204630"/>
              <a:ext cx="10740989" cy="3040715"/>
            </a:xfrm>
            <a:prstGeom prst="roundRect">
              <a:avLst>
                <a:gd name="adj" fmla="val 3086"/>
              </a:avLst>
            </a:prstGeom>
            <a:solidFill>
              <a:srgbClr val="F8FCF7"/>
            </a:solidFill>
            <a:ln w="10719" cap="flat">
              <a:solidFill>
                <a:srgbClr val="8FCD9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grpSp>
          <p:nvGrpSpPr>
            <p:cNvPr id="154" name="图形 4"/>
            <p:cNvGrpSpPr/>
            <p:nvPr/>
          </p:nvGrpSpPr>
          <p:grpSpPr>
            <a:xfrm>
              <a:off x="978516" y="3526115"/>
              <a:ext cx="2060122" cy="2568026"/>
              <a:chOff x="978516" y="3526115"/>
              <a:chExt cx="2060122" cy="2568026"/>
            </a:xfrm>
          </p:grpSpPr>
          <p:sp>
            <p:nvSpPr>
              <p:cNvPr id="155" name="圆角矩形 154"/>
              <p:cNvSpPr/>
              <p:nvPr/>
            </p:nvSpPr>
            <p:spPr>
              <a:xfrm>
                <a:off x="978516" y="3526115"/>
                <a:ext cx="2060122" cy="2568026"/>
              </a:xfrm>
              <a:prstGeom prst="roundRect">
                <a:avLst>
                  <a:gd name="adj" fmla="val 3870"/>
                </a:avLst>
              </a:prstGeom>
              <a:solidFill>
                <a:srgbClr val="F7FBFF"/>
              </a:solidFill>
              <a:ln w="937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6" name="圆角矩形 155"/>
              <p:cNvSpPr/>
              <p:nvPr/>
            </p:nvSpPr>
            <p:spPr>
              <a:xfrm>
                <a:off x="1054036" y="3606486"/>
                <a:ext cx="1890735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4EFFF"/>
              </a:solidFill>
              <a:ln w="8039" cap="flat">
                <a:solidFill>
                  <a:srgbClr val="99BDE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1072955" y="3629928"/>
                <a:ext cx="187732" cy="187533"/>
              </a:xfrm>
              <a:prstGeom prst="ellipse">
                <a:avLst/>
              </a:prstGeom>
              <a:solidFill>
                <a:srgbClr val="4F79B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58" name="文本框 157"/>
              <p:cNvSpPr txBox="1"/>
              <p:nvPr/>
            </p:nvSpPr>
            <p:spPr>
              <a:xfrm>
                <a:off x="1044687" y="3598791"/>
                <a:ext cx="24638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1</a:t>
                </a:r>
                <a:endParaRPr lang="zh-CN" altLang="en-US" sz="10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238866" y="3615015"/>
                <a:ext cx="1662430" cy="238760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algn="ctr"/>
                <a:r>
                  <a:rPr lang="zh-CN" altLang="en-US" sz="1000" dirty="0">
                    <a:solidFill>
                      <a:srgbClr val="4C7BC0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动态预算分配</a:t>
                </a:r>
                <a:endParaRPr lang="zh-CN" altLang="en-US" sz="1000" dirty="0">
                  <a:solidFill>
                    <a:srgbClr val="4C7BC0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1" name="圆角矩形 160"/>
              <p:cNvSpPr/>
              <p:nvPr/>
            </p:nvSpPr>
            <p:spPr>
              <a:xfrm>
                <a:off x="1013808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62" name="图形 4"/>
              <p:cNvGrpSpPr/>
              <p:nvPr/>
            </p:nvGrpSpPr>
            <p:grpSpPr>
              <a:xfrm>
                <a:off x="1103383" y="4208869"/>
                <a:ext cx="112639" cy="126584"/>
                <a:chOff x="1103383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3" name="椭圆 162"/>
                <p:cNvSpPr/>
                <p:nvPr/>
              </p:nvSpPr>
              <p:spPr>
                <a:xfrm>
                  <a:off x="1103383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64" name="任意形状 163"/>
                <p:cNvSpPr/>
                <p:nvPr/>
              </p:nvSpPr>
              <p:spPr>
                <a:xfrm>
                  <a:off x="1103383" y="4228560"/>
                  <a:ext cx="112639" cy="106893"/>
                </a:xfrm>
                <a:custGeom>
                  <a:avLst/>
                  <a:gdLst>
                    <a:gd name="csX0" fmla="*/ 72 w 112639"/>
                    <a:gd name="csY0" fmla="*/ 565 h 106893"/>
                    <a:gd name="csX1" fmla="*/ 72 w 112639"/>
                    <a:gd name="csY1" fmla="*/ 82142 h 106893"/>
                    <a:gd name="csX2" fmla="*/ 56392 w 112639"/>
                    <a:gd name="csY2" fmla="*/ 107459 h 106893"/>
                    <a:gd name="csX3" fmla="*/ 112711 w 112639"/>
                    <a:gd name="csY3" fmla="*/ 82142 h 106893"/>
                    <a:gd name="csX4" fmla="*/ 112711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72" y="565"/>
                      </a:moveTo>
                      <a:lnTo>
                        <a:pt x="72" y="82142"/>
                      </a:lnTo>
                      <a:cubicBezTo>
                        <a:pt x="72" y="96207"/>
                        <a:pt x="25416" y="107459"/>
                        <a:pt x="56392" y="107459"/>
                      </a:cubicBezTo>
                      <a:cubicBezTo>
                        <a:pt x="87367" y="107459"/>
                        <a:pt x="112711" y="96207"/>
                        <a:pt x="112711" y="82142"/>
                      </a:cubicBezTo>
                      <a:lnTo>
                        <a:pt x="112711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65" name="椭圆 164"/>
                <p:cNvSpPr/>
                <p:nvPr/>
              </p:nvSpPr>
              <p:spPr>
                <a:xfrm>
                  <a:off x="1103383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66" name="文本框 165"/>
              <p:cNvSpPr txBox="1"/>
              <p:nvPr/>
            </p:nvSpPr>
            <p:spPr>
              <a:xfrm>
                <a:off x="1161799" y="4185967"/>
                <a:ext cx="474345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 A</a:t>
                </a:r>
                <a:endParaRPr lang="zh-CN" altLang="en-US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67" name="圆角矩形 166"/>
              <p:cNvSpPr/>
              <p:nvPr/>
            </p:nvSpPr>
            <p:spPr>
              <a:xfrm>
                <a:off x="1670872" y="4122202"/>
                <a:ext cx="563197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68" name="图形 4"/>
              <p:cNvGrpSpPr/>
              <p:nvPr/>
            </p:nvGrpSpPr>
            <p:grpSpPr>
              <a:xfrm>
                <a:off x="1760448" y="4208869"/>
                <a:ext cx="112639" cy="126584"/>
                <a:chOff x="1760448" y="4208869"/>
                <a:chExt cx="112639" cy="126584"/>
              </a:xfrm>
              <a:solidFill>
                <a:srgbClr val="000000"/>
              </a:solidFill>
            </p:grpSpPr>
            <p:sp>
              <p:nvSpPr>
                <p:cNvPr id="169" name="椭圆 168"/>
                <p:cNvSpPr/>
                <p:nvPr/>
              </p:nvSpPr>
              <p:spPr>
                <a:xfrm>
                  <a:off x="1760448" y="4208869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0" name="任意形状 169"/>
                <p:cNvSpPr/>
                <p:nvPr/>
              </p:nvSpPr>
              <p:spPr>
                <a:xfrm>
                  <a:off x="1760448" y="4228560"/>
                  <a:ext cx="112639" cy="106893"/>
                </a:xfrm>
                <a:custGeom>
                  <a:avLst/>
                  <a:gdLst>
                    <a:gd name="csX0" fmla="*/ 170 w 112639"/>
                    <a:gd name="csY0" fmla="*/ 565 h 106893"/>
                    <a:gd name="csX1" fmla="*/ 170 w 112639"/>
                    <a:gd name="csY1" fmla="*/ 82142 h 106893"/>
                    <a:gd name="csX2" fmla="*/ 56490 w 112639"/>
                    <a:gd name="csY2" fmla="*/ 107459 h 106893"/>
                    <a:gd name="csX3" fmla="*/ 112809 w 112639"/>
                    <a:gd name="csY3" fmla="*/ 82142 h 106893"/>
                    <a:gd name="csX4" fmla="*/ 112809 w 112639"/>
                    <a:gd name="csY4" fmla="*/ 565 h 1068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12639" h="106893">
                      <a:moveTo>
                        <a:pt x="170" y="565"/>
                      </a:moveTo>
                      <a:lnTo>
                        <a:pt x="170" y="82142"/>
                      </a:lnTo>
                      <a:cubicBezTo>
                        <a:pt x="170" y="96207"/>
                        <a:pt x="25514" y="107459"/>
                        <a:pt x="56490" y="107459"/>
                      </a:cubicBezTo>
                      <a:cubicBezTo>
                        <a:pt x="87465" y="107459"/>
                        <a:pt x="112809" y="96207"/>
                        <a:pt x="112809" y="82142"/>
                      </a:cubicBezTo>
                      <a:lnTo>
                        <a:pt x="112809" y="565"/>
                      </a:lnTo>
                    </a:path>
                  </a:pathLst>
                </a:cu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1" name="椭圆 170"/>
                <p:cNvSpPr/>
                <p:nvPr/>
              </p:nvSpPr>
              <p:spPr>
                <a:xfrm>
                  <a:off x="1760448" y="4251064"/>
                  <a:ext cx="112639" cy="39381"/>
                </a:xfrm>
                <a:prstGeom prst="ellipse">
                  <a:avLst/>
                </a:prstGeom>
                <a:noFill/>
                <a:ln w="6190" cap="flat">
                  <a:solidFill>
                    <a:srgbClr val="7B4CC2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72" name="文本框 171"/>
              <p:cNvSpPr txBox="1"/>
              <p:nvPr/>
            </p:nvSpPr>
            <p:spPr>
              <a:xfrm>
                <a:off x="1835666" y="4190728"/>
                <a:ext cx="46863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 B</a:t>
                </a:r>
                <a:endParaRPr lang="zh-CN" altLang="en-US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73" name="圆角矩形 172"/>
              <p:cNvSpPr/>
              <p:nvPr/>
            </p:nvSpPr>
            <p:spPr>
              <a:xfrm>
                <a:off x="2327937" y="4122202"/>
                <a:ext cx="616835" cy="321485"/>
              </a:xfrm>
              <a:prstGeom prst="roundRect">
                <a:avLst>
                  <a:gd name="adj" fmla="val 14598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grpSp>
            <p:nvGrpSpPr>
              <p:cNvPr id="174" name="图形 4"/>
              <p:cNvGrpSpPr/>
              <p:nvPr/>
            </p:nvGrpSpPr>
            <p:grpSpPr>
              <a:xfrm>
                <a:off x="2448622" y="4189178"/>
                <a:ext cx="167618" cy="170789"/>
                <a:chOff x="2448622" y="4189178"/>
                <a:chExt cx="167618" cy="170789"/>
              </a:xfrm>
              <a:solidFill>
                <a:srgbClr val="000000"/>
              </a:solidFill>
            </p:grpSpPr>
            <p:sp>
              <p:nvSpPr>
                <p:cNvPr id="175" name="矩形 174"/>
                <p:cNvSpPr/>
                <p:nvPr/>
              </p:nvSpPr>
              <p:spPr>
                <a:xfrm>
                  <a:off x="2502260" y="4189178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>
                  <a:off x="244862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>
                  <a:off x="2562602" y="4306387"/>
                  <a:ext cx="53637" cy="53580"/>
                </a:xfrm>
                <a:prstGeom prst="rect">
                  <a:avLst/>
                </a:prstGeom>
                <a:noFill/>
                <a:ln w="804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78" name="任意形状 177"/>
                <p:cNvSpPr/>
                <p:nvPr/>
              </p:nvSpPr>
              <p:spPr>
                <a:xfrm>
                  <a:off x="2475441" y="4242759"/>
                  <a:ext cx="113980" cy="63627"/>
                </a:xfrm>
                <a:custGeom>
                  <a:avLst/>
                  <a:gdLst>
                    <a:gd name="csX0" fmla="*/ 53909 w 113980"/>
                    <a:gd name="csY0" fmla="*/ 563 h 63627"/>
                    <a:gd name="csX1" fmla="*/ 53909 w 113980"/>
                    <a:gd name="csY1" fmla="*/ 40749 h 63627"/>
                    <a:gd name="csX2" fmla="*/ 272 w 113980"/>
                    <a:gd name="csY2" fmla="*/ 40749 h 63627"/>
                    <a:gd name="csX3" fmla="*/ 114252 w 113980"/>
                    <a:gd name="csY3" fmla="*/ 40749 h 63627"/>
                    <a:gd name="csX4" fmla="*/ 272 w 113980"/>
                    <a:gd name="csY4" fmla="*/ 40749 h 63627"/>
                    <a:gd name="csX5" fmla="*/ 272 w 113980"/>
                    <a:gd name="csY5" fmla="*/ 64191 h 63627"/>
                    <a:gd name="csX6" fmla="*/ 114252 w 113980"/>
                    <a:gd name="csY6" fmla="*/ 40749 h 63627"/>
                    <a:gd name="csX7" fmla="*/ 114252 w 113980"/>
                    <a:gd name="csY7" fmla="*/ 64191 h 636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</a:cxnLst>
                  <a:rect l="l" t="t" r="r" b="b"/>
                  <a:pathLst>
                    <a:path w="113980" h="63627">
                      <a:moveTo>
                        <a:pt x="53909" y="563"/>
                      </a:moveTo>
                      <a:lnTo>
                        <a:pt x="53909" y="40749"/>
                      </a:lnTo>
                      <a:moveTo>
                        <a:pt x="272" y="40749"/>
                      </a:moveTo>
                      <a:lnTo>
                        <a:pt x="114252" y="40749"/>
                      </a:lnTo>
                      <a:moveTo>
                        <a:pt x="272" y="40749"/>
                      </a:moveTo>
                      <a:lnTo>
                        <a:pt x="272" y="64191"/>
                      </a:lnTo>
                      <a:moveTo>
                        <a:pt x="114252" y="40749"/>
                      </a:moveTo>
                      <a:lnTo>
                        <a:pt x="114252" y="64191"/>
                      </a:lnTo>
                    </a:path>
                  </a:pathLst>
                </a:custGeom>
                <a:noFill/>
                <a:ln w="7370" cap="flat">
                  <a:solidFill>
                    <a:srgbClr val="2D356B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 sz="1000"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79" name="文本框 178"/>
              <p:cNvSpPr txBox="1"/>
              <p:nvPr/>
            </p:nvSpPr>
            <p:spPr>
              <a:xfrm>
                <a:off x="2510806" y="4188697"/>
                <a:ext cx="50419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Schema</a:t>
                </a:r>
                <a:endParaRPr lang="zh-CN" altLang="en-US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0" name="任意形状 179"/>
              <p:cNvSpPr/>
              <p:nvPr/>
            </p:nvSpPr>
            <p:spPr>
              <a:xfrm>
                <a:off x="1295407" y="4443688"/>
                <a:ext cx="1347652" cy="133952"/>
              </a:xfrm>
              <a:custGeom>
                <a:avLst/>
                <a:gdLst>
                  <a:gd name="csX0" fmla="*/ 0 w 1347652"/>
                  <a:gd name="csY0" fmla="*/ 0 h 133952"/>
                  <a:gd name="csX1" fmla="*/ 0 w 1347652"/>
                  <a:gd name="csY1" fmla="*/ 133952 h 133952"/>
                  <a:gd name="csX2" fmla="*/ 1347652 w 1347652"/>
                  <a:gd name="csY2" fmla="*/ 133952 h 133952"/>
                  <a:gd name="csX3" fmla="*/ 1347652 w 1347652"/>
                  <a:gd name="csY3" fmla="*/ 0 h 133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7652" h="133952">
                    <a:moveTo>
                      <a:pt x="0" y="0"/>
                    </a:moveTo>
                    <a:lnTo>
                      <a:pt x="0" y="133952"/>
                    </a:lnTo>
                    <a:lnTo>
                      <a:pt x="1347652" y="133952"/>
                    </a:lnTo>
                    <a:lnTo>
                      <a:pt x="1347652" y="0"/>
                    </a:lnTo>
                  </a:path>
                </a:pathLst>
              </a:custGeom>
              <a:noFill/>
              <a:ln w="13399" cap="rnd">
                <a:solidFill>
                  <a:srgbClr val="99BDE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1" name="任意形状 180"/>
              <p:cNvSpPr/>
              <p:nvPr/>
            </p:nvSpPr>
            <p:spPr>
              <a:xfrm>
                <a:off x="1952471" y="4443688"/>
                <a:ext cx="6704" cy="221021"/>
              </a:xfrm>
              <a:custGeom>
                <a:avLst/>
                <a:gdLst>
                  <a:gd name="csX0" fmla="*/ 0 w 6704"/>
                  <a:gd name="csY0" fmla="*/ 0 h 221021"/>
                  <a:gd name="csX1" fmla="*/ 0 w 6704"/>
                  <a:gd name="csY1" fmla="*/ 221021 h 2210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221021">
                    <a:moveTo>
                      <a:pt x="0" y="0"/>
                    </a:moveTo>
                    <a:lnTo>
                      <a:pt x="0" y="221021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2" name="圆角矩形 181"/>
              <p:cNvSpPr/>
              <p:nvPr/>
            </p:nvSpPr>
            <p:spPr>
              <a:xfrm>
                <a:off x="1214064" y="4679069"/>
                <a:ext cx="1475042" cy="464579"/>
              </a:xfrm>
              <a:prstGeom prst="roundRect">
                <a:avLst>
                  <a:gd name="adj" fmla="val 13347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3" name="文本框 182"/>
              <p:cNvSpPr txBox="1"/>
              <p:nvPr/>
            </p:nvSpPr>
            <p:spPr>
              <a:xfrm>
                <a:off x="1466897" y="4743291"/>
                <a:ext cx="1183109" cy="213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SQL</a:t>
                </a:r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结构特征抽取</a:t>
                </a:r>
                <a:endParaRPr lang="zh-CN" altLang="en-US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86" name="任意形状 185"/>
              <p:cNvSpPr/>
              <p:nvPr/>
            </p:nvSpPr>
            <p:spPr>
              <a:xfrm>
                <a:off x="1950078" y="5158578"/>
                <a:ext cx="6704" cy="174137"/>
              </a:xfrm>
              <a:custGeom>
                <a:avLst/>
                <a:gdLst>
                  <a:gd name="csX0" fmla="*/ 0 w 6704"/>
                  <a:gd name="csY0" fmla="*/ 0 h 174137"/>
                  <a:gd name="csX1" fmla="*/ 0 w 6704"/>
                  <a:gd name="csY1" fmla="*/ 174138 h 1741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174137">
                    <a:moveTo>
                      <a:pt x="0" y="0"/>
                    </a:moveTo>
                    <a:lnTo>
                      <a:pt x="0" y="174138"/>
                    </a:lnTo>
                  </a:path>
                </a:pathLst>
              </a:custGeom>
              <a:ln w="13399" cap="rnd">
                <a:solidFill>
                  <a:srgbClr val="99BDE9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7" name="圆角矩形 186"/>
              <p:cNvSpPr/>
              <p:nvPr/>
            </p:nvSpPr>
            <p:spPr>
              <a:xfrm>
                <a:off x="1214064" y="5341456"/>
                <a:ext cx="1475042" cy="475242"/>
              </a:xfrm>
              <a:prstGeom prst="roundRect">
                <a:avLst>
                  <a:gd name="adj" fmla="val 9766"/>
                </a:avLst>
              </a:prstGeom>
              <a:solidFill>
                <a:srgbClr val="FFFFFF"/>
              </a:solidFill>
              <a:ln w="7369" cap="flat">
                <a:solidFill>
                  <a:srgbClr val="AAC8E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88" name="文本框 187"/>
              <p:cNvSpPr txBox="1"/>
              <p:nvPr/>
            </p:nvSpPr>
            <p:spPr>
              <a:xfrm>
                <a:off x="1630026" y="5411430"/>
                <a:ext cx="690880" cy="213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预算路由器</a:t>
                </a:r>
                <a:endParaRPr lang="zh-CN" altLang="en-US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0" name="文本框 189"/>
              <p:cNvSpPr txBox="1"/>
              <p:nvPr/>
            </p:nvSpPr>
            <p:spPr>
              <a:xfrm>
                <a:off x="1594263" y="5562465"/>
                <a:ext cx="737235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80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B</a:t>
                </a:r>
                <a:r>
                  <a:rPr lang="zh-CN" altLang="en-US" sz="80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</a:t>
                </a:r>
                <a:r>
                  <a:rPr lang="en-US" altLang="zh-CN" sz="80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= </a:t>
                </a:r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π</a:t>
                </a:r>
                <a:r>
                  <a:rPr lang="en-US" altLang="zh-CN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(x</a:t>
                </a:r>
                <a:r>
                  <a:rPr lang="zh-CN" altLang="en-US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，</a:t>
                </a:r>
                <a:r>
                  <a:rPr lang="en-US" altLang="zh-CN" sz="800" spc="0" baseline="0" dirty="0">
                    <a:solidFill>
                      <a:srgbClr val="4C7BC1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P)</a:t>
                </a:r>
                <a:endParaRPr lang="en-US" altLang="zh-CN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191" name="图形 4"/>
            <p:cNvGrpSpPr/>
            <p:nvPr/>
          </p:nvGrpSpPr>
          <p:grpSpPr>
            <a:xfrm>
              <a:off x="3204586" y="3521862"/>
              <a:ext cx="3434497" cy="2581269"/>
              <a:chOff x="3204586" y="3521862"/>
              <a:chExt cx="3434497" cy="2581269"/>
            </a:xfrm>
          </p:grpSpPr>
          <p:sp>
            <p:nvSpPr>
              <p:cNvPr id="192" name="圆角矩形 191"/>
              <p:cNvSpPr/>
              <p:nvPr/>
            </p:nvSpPr>
            <p:spPr>
              <a:xfrm>
                <a:off x="3204586" y="3521862"/>
                <a:ext cx="3434497" cy="2581269"/>
              </a:xfrm>
              <a:prstGeom prst="roundRect">
                <a:avLst>
                  <a:gd name="adj" fmla="val 3696"/>
                </a:avLst>
              </a:prstGeom>
              <a:solidFill>
                <a:srgbClr val="F7FBF4"/>
              </a:solidFill>
              <a:ln w="9379" cap="flat">
                <a:solidFill>
                  <a:srgbClr val="A4CF78"/>
                </a:solidFill>
                <a:prstDash val="solid"/>
                <a:miter/>
                <a:tailEnd type="stealth"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93" name="圆角矩形 192"/>
              <p:cNvSpPr/>
              <p:nvPr/>
            </p:nvSpPr>
            <p:spPr>
              <a:xfrm>
                <a:off x="3481151" y="3606486"/>
                <a:ext cx="3057361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F3D8"/>
              </a:solidFill>
              <a:ln w="8039" cap="flat">
                <a:solidFill>
                  <a:srgbClr val="A5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94" name="椭圆 193"/>
              <p:cNvSpPr/>
              <p:nvPr/>
            </p:nvSpPr>
            <p:spPr>
              <a:xfrm>
                <a:off x="3494561" y="3629928"/>
                <a:ext cx="187732" cy="187533"/>
              </a:xfrm>
              <a:prstGeom prst="ellipse">
                <a:avLst/>
              </a:prstGeom>
              <a:solidFill>
                <a:srgbClr val="6E9835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3468320" y="3601257"/>
                <a:ext cx="24638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2</a:t>
                </a:r>
                <a:endParaRPr lang="zh-CN" altLang="en-US" sz="10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3719571" y="3612032"/>
                <a:ext cx="2811145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有界</a:t>
                </a:r>
                <a:r>
                  <a:rPr lang="en-US" altLang="zh-CN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</a:t>
                </a:r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验证</a:t>
                </a:r>
                <a:endParaRPr lang="zh-CN" altLang="en-US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197" name="圆角矩形 196"/>
              <p:cNvSpPr/>
              <p:nvPr/>
            </p:nvSpPr>
            <p:spPr>
              <a:xfrm>
                <a:off x="3494561" y="3946358"/>
                <a:ext cx="703997" cy="1980260"/>
              </a:xfrm>
              <a:prstGeom prst="roundRect">
                <a:avLst>
                  <a:gd name="adj" fmla="val 7619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01" name="文本框 200"/>
              <p:cNvSpPr txBox="1"/>
              <p:nvPr/>
            </p:nvSpPr>
            <p:spPr>
              <a:xfrm>
                <a:off x="3804026" y="4044467"/>
                <a:ext cx="381635" cy="213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Q₁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3796698" y="4388854"/>
                <a:ext cx="35814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Q₂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3686207" y="4805564"/>
                <a:ext cx="50419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Schema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3638646" y="5220990"/>
                <a:ext cx="62992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Bound = B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3642405" y="5498778"/>
                <a:ext cx="605155" cy="337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Integrity</a:t>
                </a:r>
                <a:endParaRPr lang="en-US" altLang="zh-CN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  <a:p>
                <a:pPr algn="ctr"/>
                <a:r>
                  <a:rPr lang="zh-CN" altLang="en-US" sz="8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Constraint</a:t>
                </a:r>
                <a:endParaRPr lang="zh-CN" altLang="en-US" sz="8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17" name="任意形状 216"/>
              <p:cNvSpPr/>
              <p:nvPr/>
            </p:nvSpPr>
            <p:spPr>
              <a:xfrm>
                <a:off x="4198558" y="4953897"/>
                <a:ext cx="174323" cy="6697"/>
              </a:xfrm>
              <a:custGeom>
                <a:avLst/>
                <a:gdLst>
                  <a:gd name="csX0" fmla="*/ 0 w 174323"/>
                  <a:gd name="csY0" fmla="*/ 0 h 6697"/>
                  <a:gd name="csX1" fmla="*/ 174323 w 174323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4323" h="6697">
                    <a:moveTo>
                      <a:pt x="0" y="0"/>
                    </a:moveTo>
                    <a:lnTo>
                      <a:pt x="174323" y="0"/>
                    </a:lnTo>
                  </a:path>
                </a:pathLst>
              </a:custGeom>
              <a:ln w="1339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18" name="圆角矩形 217"/>
              <p:cNvSpPr/>
              <p:nvPr/>
            </p:nvSpPr>
            <p:spPr>
              <a:xfrm>
                <a:off x="4366177" y="3951824"/>
                <a:ext cx="1407994" cy="1980870"/>
              </a:xfrm>
              <a:prstGeom prst="roundRect">
                <a:avLst>
                  <a:gd name="adj" fmla="val 3809"/>
                </a:avLst>
              </a:prstGeom>
              <a:solidFill>
                <a:srgbClr val="FFFFFF"/>
              </a:solidFill>
              <a:ln w="7369" cap="flat">
                <a:solidFill>
                  <a:srgbClr val="A4CF7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4758527" y="3947856"/>
                <a:ext cx="64008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</a:t>
                </a:r>
                <a:r>
                  <a:rPr lang="zh-CN" altLang="en-US" sz="10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 </a:t>
                </a:r>
                <a:endParaRPr lang="zh-CN" altLang="en-US" sz="10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0" name="文本框 219"/>
              <p:cNvSpPr txBox="1"/>
              <p:nvPr/>
            </p:nvSpPr>
            <p:spPr>
              <a:xfrm>
                <a:off x="4661330" y="4146524"/>
                <a:ext cx="79248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在线有界验证</a:t>
                </a:r>
                <a:endParaRPr lang="zh-CN" altLang="en-US" sz="8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2" name="圆角矩形 221"/>
              <p:cNvSpPr/>
              <p:nvPr/>
            </p:nvSpPr>
            <p:spPr>
              <a:xfrm>
                <a:off x="4500941" y="4541580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3" name="文本框 222"/>
              <p:cNvSpPr txBox="1"/>
              <p:nvPr/>
            </p:nvSpPr>
            <p:spPr>
              <a:xfrm>
                <a:off x="4519744" y="4523509"/>
                <a:ext cx="116967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Symbolic DB Generator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24" name="任意形状 223"/>
              <p:cNvSpPr/>
              <p:nvPr/>
            </p:nvSpPr>
            <p:spPr>
              <a:xfrm>
                <a:off x="5070174" y="4767300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5" name="圆角矩形 224"/>
              <p:cNvSpPr/>
              <p:nvPr/>
            </p:nvSpPr>
            <p:spPr>
              <a:xfrm>
                <a:off x="4500941" y="4856367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6" name="文本框 225"/>
              <p:cNvSpPr txBox="1"/>
              <p:nvPr/>
            </p:nvSpPr>
            <p:spPr>
              <a:xfrm>
                <a:off x="4691280" y="4858707"/>
                <a:ext cx="800735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8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Query Encoder</a:t>
                </a:r>
                <a:endParaRPr lang="zh-CN" altLang="en-US" sz="8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227" name="任意形状 226"/>
              <p:cNvSpPr/>
              <p:nvPr/>
            </p:nvSpPr>
            <p:spPr>
              <a:xfrm>
                <a:off x="5070174" y="5078179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8" name="圆角矩形 227"/>
              <p:cNvSpPr/>
              <p:nvPr/>
            </p:nvSpPr>
            <p:spPr>
              <a:xfrm>
                <a:off x="4500941" y="5171155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>
                <a:off x="4640004" y="5161353"/>
                <a:ext cx="89027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l">
                  <a:buClrTx/>
                  <a:buSzTx/>
                  <a:buFontTx/>
                </a:pPr>
                <a:r>
                  <a:rPr lang="zh-CN" altLang="en-US" sz="80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</a:rPr>
                  <a:t>Equality Checker</a:t>
                </a:r>
                <a:endParaRPr lang="zh-CN" altLang="en-US" sz="80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</a:endParaRPr>
              </a:p>
            </p:txBody>
          </p:sp>
          <p:sp>
            <p:nvSpPr>
              <p:cNvPr id="230" name="任意形状 229"/>
              <p:cNvSpPr/>
              <p:nvPr/>
            </p:nvSpPr>
            <p:spPr>
              <a:xfrm>
                <a:off x="5070174" y="5386188"/>
                <a:ext cx="6704" cy="93766"/>
              </a:xfrm>
              <a:custGeom>
                <a:avLst/>
                <a:gdLst>
                  <a:gd name="csX0" fmla="*/ 0 w 6704"/>
                  <a:gd name="csY0" fmla="*/ 0 h 93766"/>
                  <a:gd name="csX1" fmla="*/ 0 w 6704"/>
                  <a:gd name="csY1" fmla="*/ 93767 h 93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704" h="93766">
                    <a:moveTo>
                      <a:pt x="0" y="0"/>
                    </a:moveTo>
                    <a:lnTo>
                      <a:pt x="0" y="93767"/>
                    </a:lnTo>
                  </a:path>
                </a:pathLst>
              </a:custGeom>
              <a:ln w="10049" cap="rnd">
                <a:solidFill>
                  <a:srgbClr val="A4CF78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1" name="圆角矩形 230"/>
              <p:cNvSpPr/>
              <p:nvPr/>
            </p:nvSpPr>
            <p:spPr>
              <a:xfrm>
                <a:off x="4500941" y="5485943"/>
                <a:ext cx="1153214" cy="207625"/>
              </a:xfrm>
              <a:prstGeom prst="roundRect">
                <a:avLst>
                  <a:gd name="adj" fmla="val 19375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2" name="文本框 231"/>
              <p:cNvSpPr txBox="1"/>
              <p:nvPr/>
            </p:nvSpPr>
            <p:spPr>
              <a:xfrm>
                <a:off x="4634856" y="5481513"/>
                <a:ext cx="89535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Constraint Solver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33" name="任意形状 232"/>
              <p:cNvSpPr/>
              <p:nvPr/>
            </p:nvSpPr>
            <p:spPr>
              <a:xfrm>
                <a:off x="5774172" y="4445295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23954B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4" name="圆角矩形 233"/>
              <p:cNvSpPr/>
              <p:nvPr/>
            </p:nvSpPr>
            <p:spPr>
              <a:xfrm>
                <a:off x="5921676" y="4125113"/>
                <a:ext cx="616835" cy="606371"/>
              </a:xfrm>
              <a:prstGeom prst="roundRect">
                <a:avLst>
                  <a:gd name="adj" fmla="val 9312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38" name="文本框 237"/>
              <p:cNvSpPr txBox="1"/>
              <p:nvPr/>
            </p:nvSpPr>
            <p:spPr>
              <a:xfrm>
                <a:off x="5890477" y="4532556"/>
                <a:ext cx="69088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形式化确定</a:t>
                </a:r>
                <a:endParaRPr lang="zh-CN" altLang="en-US" sz="8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41" name="任意形状 240"/>
              <p:cNvSpPr/>
              <p:nvPr/>
            </p:nvSpPr>
            <p:spPr>
              <a:xfrm>
                <a:off x="5769919" y="5358850"/>
                <a:ext cx="147504" cy="6697"/>
              </a:xfrm>
              <a:custGeom>
                <a:avLst/>
                <a:gdLst>
                  <a:gd name="csX0" fmla="*/ 0 w 147504"/>
                  <a:gd name="csY0" fmla="*/ 0 h 6697"/>
                  <a:gd name="csX1" fmla="*/ 147504 w 147504"/>
                  <a:gd name="csY1" fmla="*/ 0 h 66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04" h="6697">
                    <a:moveTo>
                      <a:pt x="0" y="0"/>
                    </a:moveTo>
                    <a:lnTo>
                      <a:pt x="147504" y="0"/>
                    </a:lnTo>
                  </a:path>
                </a:pathLst>
              </a:custGeom>
              <a:ln w="13399" cap="rnd">
                <a:solidFill>
                  <a:srgbClr val="DF8127"/>
                </a:solidFill>
                <a:prstDash val="solid"/>
                <a:round/>
                <a:tailEnd type="stealth"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42" name="圆角矩形 241"/>
              <p:cNvSpPr/>
              <p:nvPr/>
            </p:nvSpPr>
            <p:spPr>
              <a:xfrm>
                <a:off x="5921676" y="5107881"/>
                <a:ext cx="616835" cy="565220"/>
              </a:xfrm>
              <a:prstGeom prst="roundRect">
                <a:avLst>
                  <a:gd name="adj" fmla="val 8695"/>
                </a:avLst>
              </a:prstGeom>
              <a:solidFill>
                <a:srgbClr val="FFFFFF"/>
              </a:solidFill>
              <a:ln w="7369" cap="flat">
                <a:solidFill>
                  <a:srgbClr val="E8AA6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46" name="文本框 245"/>
              <p:cNvSpPr txBox="1"/>
              <p:nvPr/>
            </p:nvSpPr>
            <p:spPr>
              <a:xfrm>
                <a:off x="6038274" y="5465289"/>
                <a:ext cx="487680" cy="213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dirty="0">
                    <a:solidFill>
                      <a:srgbClr val="DB7B24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非确定</a:t>
                </a:r>
                <a:endParaRPr lang="zh-CN" altLang="en-US" sz="800" dirty="0">
                  <a:solidFill>
                    <a:srgbClr val="DB7B24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grpSp>
          <p:nvGrpSpPr>
            <p:cNvPr id="283" name="图形 4"/>
            <p:cNvGrpSpPr/>
            <p:nvPr/>
          </p:nvGrpSpPr>
          <p:grpSpPr>
            <a:xfrm>
              <a:off x="9186883" y="3526115"/>
              <a:ext cx="2049868" cy="2573520"/>
              <a:chOff x="9186883" y="3526115"/>
              <a:chExt cx="2049868" cy="2573520"/>
            </a:xfrm>
          </p:grpSpPr>
          <p:sp>
            <p:nvSpPr>
              <p:cNvPr id="284" name="圆角矩形 283"/>
              <p:cNvSpPr/>
              <p:nvPr/>
            </p:nvSpPr>
            <p:spPr>
              <a:xfrm>
                <a:off x="9186883" y="3526115"/>
                <a:ext cx="2049868" cy="2573520"/>
              </a:xfrm>
              <a:prstGeom prst="roundRect">
                <a:avLst>
                  <a:gd name="adj" fmla="val 4210"/>
                </a:avLst>
              </a:prstGeom>
              <a:solidFill>
                <a:srgbClr val="F6F6F6"/>
              </a:solidFill>
              <a:ln w="937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85" name="圆角矩形 284"/>
              <p:cNvSpPr/>
              <p:nvPr/>
            </p:nvSpPr>
            <p:spPr>
              <a:xfrm>
                <a:off x="9254252" y="3606486"/>
                <a:ext cx="1877360" cy="234416"/>
              </a:xfrm>
              <a:prstGeom prst="roundRect">
                <a:avLst>
                  <a:gd name="adj" fmla="val 22881"/>
                </a:avLst>
              </a:prstGeom>
              <a:solidFill>
                <a:srgbClr val="E7E7E7"/>
              </a:solidFill>
              <a:ln w="8039" cap="flat">
                <a:solidFill>
                  <a:srgbClr val="BEBEB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86" name="椭圆 285"/>
              <p:cNvSpPr/>
              <p:nvPr/>
            </p:nvSpPr>
            <p:spPr>
              <a:xfrm>
                <a:off x="9281376" y="3627915"/>
                <a:ext cx="187732" cy="187533"/>
              </a:xfrm>
              <a:prstGeom prst="ellipse">
                <a:avLst/>
              </a:prstGeom>
              <a:solidFill>
                <a:srgbClr val="6D6D6D"/>
              </a:solidFill>
              <a:ln w="6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87" name="文本框 286"/>
              <p:cNvSpPr txBox="1"/>
              <p:nvPr/>
            </p:nvSpPr>
            <p:spPr>
              <a:xfrm>
                <a:off x="9255548" y="3602302"/>
                <a:ext cx="246380" cy="245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 dirty="0">
                    <a:solidFill>
                      <a:srgbClr val="FFFFF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4</a:t>
                </a:r>
                <a:endParaRPr lang="zh-CN" altLang="en-US" sz="10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8" name="文本框 287"/>
              <p:cNvSpPr txBox="1"/>
              <p:nvPr/>
            </p:nvSpPr>
            <p:spPr>
              <a:xfrm>
                <a:off x="9480253" y="3611205"/>
                <a:ext cx="164338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spc="0" baseline="0" dirty="0">
                    <a:solidFill>
                      <a:srgbClr val="66666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来源感知的结果输出</a:t>
                </a:r>
                <a:endParaRPr lang="zh-CN" altLang="en-US" sz="1000" spc="0" baseline="0" dirty="0">
                  <a:solidFill>
                    <a:srgbClr val="66666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89" name="圆角矩形 288"/>
              <p:cNvSpPr/>
              <p:nvPr/>
            </p:nvSpPr>
            <p:spPr>
              <a:xfrm>
                <a:off x="9516691" y="4209271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9FC96E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293" name="文本框 292"/>
              <p:cNvSpPr txBox="1"/>
              <p:nvPr/>
            </p:nvSpPr>
            <p:spPr>
              <a:xfrm>
                <a:off x="10005152" y="4285730"/>
                <a:ext cx="754380" cy="229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形式化判定</a:t>
                </a:r>
                <a:endParaRPr lang="zh-CN" altLang="en-US" sz="9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9983386" y="4462201"/>
                <a:ext cx="836930" cy="229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来自</a:t>
                </a:r>
                <a:r>
                  <a:rPr lang="en-US" altLang="zh-CN" sz="900" spc="0" baseline="0" dirty="0">
                    <a:solidFill>
                      <a:srgbClr val="4E8D2F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 charset="0"/>
                    <a:sym typeface="Times New Roman" panose="02020603050405020304"/>
                    <a:rtl val="0"/>
                  </a:rPr>
                  <a:t>VeriEQL</a:t>
                </a:r>
                <a:endParaRPr lang="en-US" altLang="zh-CN" sz="900" spc="0" baseline="0" dirty="0">
                  <a:solidFill>
                    <a:srgbClr val="4E8D2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296" name="圆角矩形 295"/>
              <p:cNvSpPr/>
              <p:nvPr/>
            </p:nvSpPr>
            <p:spPr>
              <a:xfrm>
                <a:off x="9516691" y="4832149"/>
                <a:ext cx="1448223" cy="488925"/>
              </a:xfrm>
              <a:prstGeom prst="roundRect">
                <a:avLst>
                  <a:gd name="adj" fmla="val 10970"/>
                </a:avLst>
              </a:prstGeom>
              <a:solidFill>
                <a:srgbClr val="FFFFFF"/>
              </a:solidFill>
              <a:ln w="7366" cap="flat" cmpd="sng">
                <a:solidFill>
                  <a:schemeClr val="accent2"/>
                </a:solidFill>
                <a:prstDash val="solid"/>
                <a:miter lim="800000"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309" name="任意形状 308"/>
              <p:cNvSpPr/>
              <p:nvPr/>
            </p:nvSpPr>
            <p:spPr>
              <a:xfrm>
                <a:off x="9875852" y="5136247"/>
                <a:ext cx="54013" cy="40721"/>
              </a:xfrm>
              <a:custGeom>
                <a:avLst/>
                <a:gdLst>
                  <a:gd name="csX0" fmla="*/ 1283 w 54013"/>
                  <a:gd name="csY0" fmla="*/ 22564 h 40721"/>
                  <a:gd name="csX1" fmla="*/ 19628 w 54013"/>
                  <a:gd name="csY1" fmla="*/ 41398 h 40721"/>
                  <a:gd name="csX2" fmla="*/ 55297 w 54013"/>
                  <a:gd name="csY2" fmla="*/ 677 h 407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4013" h="40721">
                    <a:moveTo>
                      <a:pt x="1283" y="22564"/>
                    </a:moveTo>
                    <a:lnTo>
                      <a:pt x="19628" y="41398"/>
                    </a:lnTo>
                    <a:lnTo>
                      <a:pt x="55297" y="677"/>
                    </a:lnTo>
                  </a:path>
                </a:pathLst>
              </a:custGeom>
              <a:noFill/>
              <a:ln w="14256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310" name="文本框 309"/>
              <p:cNvSpPr txBox="1"/>
              <p:nvPr/>
            </p:nvSpPr>
            <p:spPr>
              <a:xfrm>
                <a:off x="10052196" y="4924312"/>
                <a:ext cx="640080" cy="229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D5833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模型辅助</a:t>
                </a:r>
                <a:endParaRPr lang="zh-CN" altLang="en-US" sz="9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1" name="文本框 310"/>
              <p:cNvSpPr txBox="1"/>
              <p:nvPr/>
            </p:nvSpPr>
            <p:spPr>
              <a:xfrm>
                <a:off x="9959970" y="5107537"/>
                <a:ext cx="868680" cy="229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D5833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来自模型补全</a:t>
                </a:r>
                <a:endParaRPr lang="zh-CN" altLang="en-US" sz="9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3" name="圆角矩形 312"/>
              <p:cNvSpPr/>
              <p:nvPr/>
            </p:nvSpPr>
            <p:spPr>
              <a:xfrm>
                <a:off x="9516691" y="5468422"/>
                <a:ext cx="1448223" cy="462135"/>
              </a:xfrm>
              <a:prstGeom prst="roundRect">
                <a:avLst>
                  <a:gd name="adj" fmla="val 11606"/>
                </a:avLst>
              </a:prstGeom>
              <a:solidFill>
                <a:srgbClr val="FFFFFF"/>
              </a:solidFill>
              <a:ln w="7369" cap="flat">
                <a:solidFill>
                  <a:srgbClr val="C9C9C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 dirty="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317" name="文本框 316"/>
              <p:cNvSpPr txBox="1"/>
              <p:nvPr/>
            </p:nvSpPr>
            <p:spPr>
              <a:xfrm>
                <a:off x="10052196" y="5545714"/>
                <a:ext cx="640080" cy="2298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66666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未决样本</a:t>
                </a:r>
                <a:endParaRPr lang="zh-CN" altLang="en-US" sz="900" spc="0" baseline="0" dirty="0">
                  <a:solidFill>
                    <a:srgbClr val="66666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  <p:sp>
            <p:nvSpPr>
              <p:cNvPr id="318" name="文本框 317"/>
              <p:cNvSpPr txBox="1"/>
              <p:nvPr/>
            </p:nvSpPr>
            <p:spPr>
              <a:xfrm>
                <a:off x="9912688" y="5723850"/>
                <a:ext cx="1035050" cy="229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900" spc="0" baseline="0" dirty="0">
                    <a:solidFill>
                      <a:srgbClr val="666666"/>
                    </a:solidFill>
                    <a:latin typeface="Times New Roman" panose="02020603050405020304" charset="0"/>
                    <a:ea typeface="方正书宋简体" panose="02010601030101010101" charset="-122"/>
                    <a:cs typeface="Times New Roman" panose="02020603050405020304"/>
                    <a:sym typeface="Times New Roman" panose="02020603050405020304"/>
                    <a:rtl val="0"/>
                  </a:rPr>
                  <a:t>未形成一致结果</a:t>
                </a:r>
                <a:endParaRPr lang="zh-CN" altLang="en-US" sz="900" spc="0" baseline="0" dirty="0">
                  <a:solidFill>
                    <a:srgbClr val="66666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endParaRPr>
              </a:p>
            </p:txBody>
          </p:sp>
        </p:grpSp>
        <p:sp>
          <p:nvSpPr>
            <p:cNvPr id="319" name="任意形状 318"/>
            <p:cNvSpPr/>
            <p:nvPr/>
          </p:nvSpPr>
          <p:spPr>
            <a:xfrm flipV="1">
              <a:off x="2695134" y="5525343"/>
              <a:ext cx="492822" cy="45719"/>
            </a:xfrm>
            <a:custGeom>
              <a:avLst/>
              <a:gdLst>
                <a:gd name="csX0" fmla="*/ 0 w 750930"/>
                <a:gd name="csY0" fmla="*/ 0 h 6697"/>
                <a:gd name="csX1" fmla="*/ 750931 w 750930"/>
                <a:gd name="csY1" fmla="*/ 0 h 66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50930" h="6697">
                  <a:moveTo>
                    <a:pt x="0" y="0"/>
                  </a:moveTo>
                  <a:lnTo>
                    <a:pt x="750931" y="0"/>
                  </a:lnTo>
                </a:path>
              </a:pathLst>
            </a:custGeom>
            <a:ln w="13399" cap="rnd">
              <a:solidFill>
                <a:srgbClr val="99BDE9"/>
              </a:solidFill>
              <a:prstDash val="dash"/>
              <a:round/>
              <a:tailEnd type="stealth"/>
            </a:ln>
          </p:spPr>
          <p:txBody>
            <a:bodyPr/>
            <a:lstStyle/>
            <a:p>
              <a:endParaRPr lang="zh-CN" altLang="en-US" sz="10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2624599" y="5369514"/>
              <a:ext cx="454025" cy="213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800" spc="0" baseline="0" dirty="0">
                  <a:solidFill>
                    <a:srgbClr val="4C7BC1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预算B</a:t>
              </a:r>
              <a:endPara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</p:grpSp>
      <p:sp>
        <p:nvSpPr>
          <p:cNvPr id="330" name="圆角矩形 329"/>
          <p:cNvSpPr/>
          <p:nvPr/>
        </p:nvSpPr>
        <p:spPr>
          <a:xfrm>
            <a:off x="2084107" y="2298247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accent6">
              <a:lumMod val="20000"/>
              <a:lumOff val="80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2151532" y="2237524"/>
            <a:ext cx="605155" cy="213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800" spc="0" baseline="0" dirty="0">
                <a:solidFill>
                  <a:srgbClr val="6E9835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equivalent</a:t>
            </a:r>
            <a:endParaRPr lang="en-US" altLang="zh-CN" sz="800" spc="0" baseline="0" dirty="0">
              <a:solidFill>
                <a:srgbClr val="6E9835"/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2084105" y="2440731"/>
            <a:ext cx="757635" cy="105864"/>
          </a:xfrm>
          <a:prstGeom prst="roundRect">
            <a:avLst>
              <a:gd name="adj" fmla="val 14598"/>
            </a:avLst>
          </a:prstGeom>
          <a:solidFill>
            <a:srgbClr val="FCE6CB"/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</a:endParaRPr>
          </a:p>
        </p:txBody>
      </p:sp>
      <p:sp>
        <p:nvSpPr>
          <p:cNvPr id="334" name="圆角矩形 333"/>
          <p:cNvSpPr/>
          <p:nvPr/>
        </p:nvSpPr>
        <p:spPr>
          <a:xfrm>
            <a:off x="2084105" y="2584753"/>
            <a:ext cx="757635" cy="105864"/>
          </a:xfrm>
          <a:prstGeom prst="roundRect">
            <a:avLst>
              <a:gd name="adj" fmla="val 14598"/>
            </a:avLst>
          </a:prstGeom>
          <a:solidFill>
            <a:schemeClr val="bg1">
              <a:lumMod val="85000"/>
            </a:schemeClr>
          </a:solidFill>
          <a:ln w="6699" cap="flat">
            <a:noFill/>
            <a:prstDash val="solid"/>
            <a:miter/>
          </a:ln>
        </p:spPr>
        <p:txBody>
          <a:bodyPr/>
          <a:lstStyle/>
          <a:p>
            <a:endParaRPr lang="zh-CN" altLang="en-US" sz="1000"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2051685" y="2374265"/>
            <a:ext cx="8756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spc="0" baseline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counterexample</a:t>
            </a:r>
            <a:endParaRPr lang="en-US" altLang="zh-CN" sz="800" spc="0" baseline="0" dirty="0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2051050" y="2527300"/>
            <a:ext cx="9652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non-determined</a:t>
            </a:r>
            <a:endParaRPr lang="en-US" altLang="zh-CN" sz="800" spc="0" baseline="0" dirty="0">
              <a:solidFill>
                <a:schemeClr val="bg1">
                  <a:lumMod val="50000"/>
                </a:schemeClr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613" name="图形 6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4322" y="2018906"/>
            <a:ext cx="237200" cy="237200"/>
          </a:xfrm>
          <a:prstGeom prst="rect">
            <a:avLst/>
          </a:prstGeom>
        </p:spPr>
      </p:pic>
      <p:pic>
        <p:nvPicPr>
          <p:cNvPr id="615" name="图形 61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875" y="2026372"/>
            <a:ext cx="269555" cy="229734"/>
          </a:xfrm>
          <a:prstGeom prst="rect">
            <a:avLst/>
          </a:prstGeom>
        </p:spPr>
      </p:pic>
      <p:pic>
        <p:nvPicPr>
          <p:cNvPr id="617" name="图形 61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40873" y="2048606"/>
            <a:ext cx="217580" cy="243690"/>
          </a:xfrm>
          <a:prstGeom prst="rect">
            <a:avLst/>
          </a:prstGeom>
        </p:spPr>
      </p:pic>
      <p:pic>
        <p:nvPicPr>
          <p:cNvPr id="3" name="图形 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3433" y="1789308"/>
            <a:ext cx="208671" cy="189701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2622" y="1784885"/>
            <a:ext cx="208672" cy="208672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36496" y="2502927"/>
            <a:ext cx="217755" cy="21775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1364492" y="4928205"/>
            <a:ext cx="143922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Extract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x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form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S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，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q</a:t>
            </a:r>
            <a:r>
              <a:rPr lang="en-US" altLang="zh-CN" sz="800" spc="0" baseline="-2500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1</a:t>
            </a:r>
            <a:r>
              <a:rPr lang="zh-CN" altLang="en-US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，</a:t>
            </a:r>
            <a:r>
              <a:rPr lang="en-US" altLang="zh-CN" sz="800" spc="0" baseline="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q</a:t>
            </a:r>
            <a:r>
              <a:rPr lang="en-US" altLang="zh-CN" sz="800" spc="0" baseline="-25000" dirty="0">
                <a:solidFill>
                  <a:srgbClr val="4C7BC1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2</a:t>
            </a:r>
            <a:endParaRPr lang="en-US" altLang="zh-CN" sz="800" spc="0" baseline="-25000" dirty="0">
              <a:solidFill>
                <a:srgbClr val="4C7BC1"/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0577" y="5616700"/>
            <a:ext cx="142986" cy="142986"/>
          </a:xfrm>
          <a:prstGeom prst="rect">
            <a:avLst/>
          </a:prstGeom>
        </p:spPr>
      </p:pic>
      <p:grpSp>
        <p:nvGrpSpPr>
          <p:cNvPr id="579" name="图形 4"/>
          <p:cNvGrpSpPr/>
          <p:nvPr/>
        </p:nvGrpSpPr>
        <p:grpSpPr>
          <a:xfrm>
            <a:off x="6769646" y="3541248"/>
            <a:ext cx="2302530" cy="2552893"/>
            <a:chOff x="7381834" y="3709002"/>
            <a:chExt cx="2375874" cy="2648088"/>
          </a:xfrm>
        </p:grpSpPr>
        <p:sp>
          <p:nvSpPr>
            <p:cNvPr id="580" name="圆角矩形 579"/>
            <p:cNvSpPr/>
            <p:nvPr/>
          </p:nvSpPr>
          <p:spPr>
            <a:xfrm>
              <a:off x="7381834" y="3709002"/>
              <a:ext cx="2375874" cy="2648088"/>
            </a:xfrm>
            <a:prstGeom prst="roundRect">
              <a:avLst>
                <a:gd name="adj" fmla="val 3888"/>
              </a:avLst>
            </a:prstGeom>
            <a:solidFill>
              <a:srgbClr val="FFF8F1"/>
            </a:solidFill>
            <a:ln w="13194" cap="flat">
              <a:solidFill>
                <a:srgbClr val="EDC39A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81" name="圆角矩形 580"/>
            <p:cNvSpPr/>
            <p:nvPr/>
          </p:nvSpPr>
          <p:spPr>
            <a:xfrm>
              <a:off x="7487428" y="3768400"/>
              <a:ext cx="2166422" cy="250786"/>
            </a:xfrm>
            <a:prstGeom prst="roundRect">
              <a:avLst>
                <a:gd name="adj" fmla="val 26315"/>
              </a:avLst>
            </a:prstGeom>
            <a:solidFill>
              <a:srgbClr val="FCE6D0"/>
            </a:solidFill>
            <a:ln w="13194" cap="flat">
              <a:solidFill>
                <a:srgbClr val="EDC39A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82" name="椭圆 581"/>
            <p:cNvSpPr/>
            <p:nvPr/>
          </p:nvSpPr>
          <p:spPr>
            <a:xfrm>
              <a:off x="7529713" y="3783965"/>
              <a:ext cx="224388" cy="224388"/>
            </a:xfrm>
            <a:prstGeom prst="ellipse">
              <a:avLst/>
            </a:prstGeom>
            <a:solidFill>
              <a:srgbClr val="D58336"/>
            </a:solidFill>
            <a:ln w="659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sz="100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83" name="文本框 582"/>
            <p:cNvSpPr txBox="1"/>
            <p:nvPr/>
          </p:nvSpPr>
          <p:spPr>
            <a:xfrm>
              <a:off x="7520689" y="3777310"/>
              <a:ext cx="254228" cy="2542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 dirty="0">
                  <a:solidFill>
                    <a:srgbClr val="FFFFFF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3</a:t>
              </a:r>
              <a:endParaRPr lang="zh-CN" altLang="en-US" sz="1000" spc="0" baseline="0" dirty="0">
                <a:solidFill>
                  <a:srgbClr val="FFFFF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84" name="文本框 583"/>
            <p:cNvSpPr txBox="1"/>
            <p:nvPr/>
          </p:nvSpPr>
          <p:spPr>
            <a:xfrm>
              <a:off x="7736302" y="3767624"/>
              <a:ext cx="1905400" cy="22197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0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rPr>
                <a:t>状态感知补全</a:t>
              </a:r>
              <a:endParaRPr lang="zh-CN" altLang="en-US" sz="10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85" name="圆角矩形 584"/>
            <p:cNvSpPr/>
            <p:nvPr/>
          </p:nvSpPr>
          <p:spPr>
            <a:xfrm>
              <a:off x="7527026" y="417097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grpSp>
          <p:nvGrpSpPr>
            <p:cNvPr id="586" name="图形 4"/>
            <p:cNvGrpSpPr/>
            <p:nvPr/>
          </p:nvGrpSpPr>
          <p:grpSpPr>
            <a:xfrm>
              <a:off x="7686738" y="4297692"/>
              <a:ext cx="147304" cy="147304"/>
              <a:chOff x="7686738" y="4297692"/>
              <a:chExt cx="147304" cy="147304"/>
            </a:xfrm>
            <a:solidFill>
              <a:srgbClr val="000000"/>
            </a:solidFill>
          </p:grpSpPr>
          <p:sp>
            <p:nvSpPr>
              <p:cNvPr id="624" name="椭圆 623"/>
              <p:cNvSpPr/>
              <p:nvPr/>
            </p:nvSpPr>
            <p:spPr>
              <a:xfrm>
                <a:off x="7686738" y="4297692"/>
                <a:ext cx="147304" cy="147304"/>
              </a:xfrm>
              <a:prstGeom prst="ellipse">
                <a:avLst/>
              </a:prstGeom>
              <a:noFill/>
              <a:ln w="12270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5" name="任意形状 624"/>
              <p:cNvSpPr/>
              <p:nvPr/>
            </p:nvSpPr>
            <p:spPr>
              <a:xfrm>
                <a:off x="7760390" y="4322243"/>
                <a:ext cx="6599" cy="49101"/>
              </a:xfrm>
              <a:custGeom>
                <a:avLst/>
                <a:gdLst>
                  <a:gd name="csX0" fmla="*/ 1087 w 6599"/>
                  <a:gd name="csY0" fmla="*/ 49738 h 49101"/>
                  <a:gd name="csX1" fmla="*/ 1087 w 6599"/>
                  <a:gd name="csY1" fmla="*/ 637 h 491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599" h="49101">
                    <a:moveTo>
                      <a:pt x="1087" y="49738"/>
                    </a:moveTo>
                    <a:lnTo>
                      <a:pt x="1087" y="637"/>
                    </a:lnTo>
                  </a:path>
                </a:pathLst>
              </a:custGeom>
              <a:ln w="12270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6" name="任意形状 625"/>
              <p:cNvSpPr/>
              <p:nvPr/>
            </p:nvSpPr>
            <p:spPr>
              <a:xfrm>
                <a:off x="7760390" y="4346794"/>
                <a:ext cx="36826" cy="24550"/>
              </a:xfrm>
              <a:custGeom>
                <a:avLst/>
                <a:gdLst>
                  <a:gd name="csX0" fmla="*/ 1086 w 36826"/>
                  <a:gd name="csY0" fmla="*/ 25186 h 24550"/>
                  <a:gd name="csX1" fmla="*/ 37912 w 36826"/>
                  <a:gd name="csY1" fmla="*/ 636 h 245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826" h="24550">
                    <a:moveTo>
                      <a:pt x="1086" y="25186"/>
                    </a:moveTo>
                    <a:lnTo>
                      <a:pt x="37912" y="636"/>
                    </a:lnTo>
                  </a:path>
                </a:pathLst>
              </a:custGeom>
              <a:ln w="12270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587" name="文本框 586"/>
            <p:cNvSpPr txBox="1"/>
            <p:nvPr/>
          </p:nvSpPr>
          <p:spPr>
            <a:xfrm>
              <a:off x="8171848" y="4259227"/>
              <a:ext cx="860313" cy="238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非确定状态 z</a:t>
              </a:r>
              <a:endParaRPr lang="zh-CN" altLang="en-US" sz="9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88" name="文本框 587"/>
            <p:cNvSpPr txBox="1"/>
            <p:nvPr/>
          </p:nvSpPr>
          <p:spPr>
            <a:xfrm>
              <a:off x="7555459" y="4503593"/>
              <a:ext cx="2053482" cy="221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timeout / unsupported / runtime / conversion</a:t>
              </a:r>
              <a:endParaRPr lang="zh-CN" altLang="en-US" sz="8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89" name="任意形状 588"/>
            <p:cNvSpPr/>
            <p:nvPr/>
          </p:nvSpPr>
          <p:spPr>
            <a:xfrm>
              <a:off x="8569771" y="4712150"/>
              <a:ext cx="6599" cy="184790"/>
            </a:xfrm>
            <a:custGeom>
              <a:avLst/>
              <a:gdLst>
                <a:gd name="csX0" fmla="*/ 0 w 6599"/>
                <a:gd name="csY0" fmla="*/ 0 h 184790"/>
                <a:gd name="csX1" fmla="*/ 0 w 6599"/>
                <a:gd name="csY1" fmla="*/ 184790 h 184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84790">
                  <a:moveTo>
                    <a:pt x="0" y="0"/>
                  </a:moveTo>
                  <a:lnTo>
                    <a:pt x="0" y="184790"/>
                  </a:lnTo>
                </a:path>
              </a:pathLst>
            </a:custGeom>
            <a:ln w="16493" cap="flat">
              <a:solidFill>
                <a:srgbClr val="D58336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90" name="圆角矩形 589"/>
            <p:cNvSpPr/>
            <p:nvPr/>
          </p:nvSpPr>
          <p:spPr>
            <a:xfrm>
              <a:off x="7527026" y="4923339"/>
              <a:ext cx="2085490" cy="541171"/>
            </a:xfrm>
            <a:prstGeom prst="roundRect">
              <a:avLst>
                <a:gd name="adj" fmla="val 14634"/>
              </a:avLst>
            </a:prstGeom>
            <a:solidFill>
              <a:srgbClr val="FFFFFF"/>
            </a:solidFill>
            <a:ln w="13194" cap="flat">
              <a:solidFill>
                <a:srgbClr val="F5D7B7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grpSp>
          <p:nvGrpSpPr>
            <p:cNvPr id="591" name="图形 4"/>
            <p:cNvGrpSpPr/>
            <p:nvPr/>
          </p:nvGrpSpPr>
          <p:grpSpPr>
            <a:xfrm>
              <a:off x="7688057" y="5057972"/>
              <a:ext cx="221748" cy="190069"/>
              <a:chOff x="7688057" y="5057972"/>
              <a:chExt cx="221748" cy="190069"/>
            </a:xfrm>
            <a:solidFill>
              <a:srgbClr val="000000"/>
            </a:solidFill>
          </p:grpSpPr>
          <p:sp>
            <p:nvSpPr>
              <p:cNvPr id="620" name="圆角矩形 619"/>
              <p:cNvSpPr/>
              <p:nvPr/>
            </p:nvSpPr>
            <p:spPr>
              <a:xfrm>
                <a:off x="7688057" y="5057972"/>
                <a:ext cx="221748" cy="137272"/>
              </a:xfrm>
              <a:prstGeom prst="roundRect">
                <a:avLst>
                  <a:gd name="adj" fmla="val 23077"/>
                </a:avLst>
              </a:prstGeom>
              <a:noFill/>
              <a:ln w="12666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1" name="任意形状 620"/>
              <p:cNvSpPr/>
              <p:nvPr/>
            </p:nvSpPr>
            <p:spPr>
              <a:xfrm>
                <a:off x="7740855" y="5195245"/>
                <a:ext cx="52797" cy="52797"/>
              </a:xfrm>
              <a:custGeom>
                <a:avLst/>
                <a:gdLst>
                  <a:gd name="csX0" fmla="*/ 11653 w 52797"/>
                  <a:gd name="csY0" fmla="*/ 752 h 52797"/>
                  <a:gd name="csX1" fmla="*/ 1093 w 52797"/>
                  <a:gd name="csY1" fmla="*/ 53549 h 52797"/>
                  <a:gd name="csX2" fmla="*/ 53891 w 52797"/>
                  <a:gd name="csY2" fmla="*/ 752 h 527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2797" h="52797">
                    <a:moveTo>
                      <a:pt x="11653" y="752"/>
                    </a:moveTo>
                    <a:lnTo>
                      <a:pt x="1093" y="53549"/>
                    </a:lnTo>
                    <a:lnTo>
                      <a:pt x="53891" y="752"/>
                    </a:lnTo>
                  </a:path>
                </a:pathLst>
              </a:custGeom>
              <a:noFill/>
              <a:ln w="12666" cap="flat">
                <a:solidFill>
                  <a:srgbClr val="D5833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2" name="任意形状 621"/>
              <p:cNvSpPr/>
              <p:nvPr/>
            </p:nvSpPr>
            <p:spPr>
              <a:xfrm>
                <a:off x="7730295" y="5100210"/>
                <a:ext cx="137272" cy="6599"/>
              </a:xfrm>
              <a:custGeom>
                <a:avLst/>
                <a:gdLst>
                  <a:gd name="csX0" fmla="*/ 1092 w 137272"/>
                  <a:gd name="csY0" fmla="*/ 757 h 6599"/>
                  <a:gd name="csX1" fmla="*/ 138365 w 137272"/>
                  <a:gd name="csY1" fmla="*/ 757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7272" h="6599">
                    <a:moveTo>
                      <a:pt x="1092" y="757"/>
                    </a:moveTo>
                    <a:lnTo>
                      <a:pt x="138365" y="757"/>
                    </a:lnTo>
                  </a:path>
                </a:pathLst>
              </a:custGeom>
              <a:ln w="10555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623" name="任意形状 622"/>
              <p:cNvSpPr/>
              <p:nvPr/>
            </p:nvSpPr>
            <p:spPr>
              <a:xfrm>
                <a:off x="7730295" y="5137168"/>
                <a:ext cx="105594" cy="6599"/>
              </a:xfrm>
              <a:custGeom>
                <a:avLst/>
                <a:gdLst>
                  <a:gd name="csX0" fmla="*/ 1093 w 105594"/>
                  <a:gd name="csY0" fmla="*/ 755 h 6599"/>
                  <a:gd name="csX1" fmla="*/ 106687 w 105594"/>
                  <a:gd name="csY1" fmla="*/ 755 h 6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5594" h="6599">
                    <a:moveTo>
                      <a:pt x="1093" y="755"/>
                    </a:moveTo>
                    <a:lnTo>
                      <a:pt x="106687" y="755"/>
                    </a:lnTo>
                  </a:path>
                </a:pathLst>
              </a:custGeom>
              <a:ln w="10555" cap="flat">
                <a:solidFill>
                  <a:srgbClr val="D5833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CN" altLang="en-US" sz="1000"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592" name="文本框 591"/>
            <p:cNvSpPr txBox="1"/>
            <p:nvPr/>
          </p:nvSpPr>
          <p:spPr>
            <a:xfrm>
              <a:off x="8056718" y="5020431"/>
              <a:ext cx="1132232" cy="238442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l"/>
              <a:r>
                <a:rPr lang="zh-CN" altLang="en-US" sz="9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rPr>
                <a:t>模型输入动态构造</a:t>
              </a:r>
              <a:endParaRPr lang="zh-CN" altLang="en-US" sz="9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  <p:sp>
          <p:nvSpPr>
            <p:cNvPr id="593" name="文本框 592"/>
            <p:cNvSpPr txBox="1"/>
            <p:nvPr/>
          </p:nvSpPr>
          <p:spPr>
            <a:xfrm>
              <a:off x="7926981" y="5227925"/>
              <a:ext cx="1376632" cy="221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SQL pair + schema + state z</a:t>
              </a:r>
              <a:endParaRPr lang="zh-CN" altLang="en-US" sz="8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94" name="任意形状 593"/>
            <p:cNvSpPr/>
            <p:nvPr/>
          </p:nvSpPr>
          <p:spPr>
            <a:xfrm>
              <a:off x="8569771" y="5464510"/>
              <a:ext cx="6599" cy="171590"/>
            </a:xfrm>
            <a:custGeom>
              <a:avLst/>
              <a:gdLst>
                <a:gd name="csX0" fmla="*/ 0 w 6599"/>
                <a:gd name="csY0" fmla="*/ 0 h 171590"/>
                <a:gd name="csX1" fmla="*/ 0 w 6599"/>
                <a:gd name="csY1" fmla="*/ 171591 h 1715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599" h="171590">
                  <a:moveTo>
                    <a:pt x="0" y="0"/>
                  </a:moveTo>
                  <a:lnTo>
                    <a:pt x="0" y="171591"/>
                  </a:lnTo>
                </a:path>
              </a:pathLst>
            </a:custGeom>
            <a:ln w="16493" cap="flat">
              <a:solidFill>
                <a:srgbClr val="D58336"/>
              </a:solidFill>
              <a:prstDash val="solid"/>
              <a:miter/>
              <a:tailEnd type="stealth"/>
            </a:ln>
          </p:spPr>
          <p:txBody>
            <a:bodyPr/>
            <a:lstStyle/>
            <a:p>
              <a:endParaRPr lang="zh-CN" altLang="en-US" sz="100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95" name="圆角矩形 594"/>
            <p:cNvSpPr/>
            <p:nvPr/>
          </p:nvSpPr>
          <p:spPr>
            <a:xfrm>
              <a:off x="7527026" y="5662500"/>
              <a:ext cx="956949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597" name="文本框 596"/>
            <p:cNvSpPr txBox="1"/>
            <p:nvPr/>
          </p:nvSpPr>
          <p:spPr>
            <a:xfrm>
              <a:off x="7820394" y="5854345"/>
              <a:ext cx="721405" cy="221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微调模型 </a:t>
              </a:r>
              <a:r>
                <a:rPr lang="en-US" altLang="zh-CN" sz="800" i="1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 charset="0"/>
                  <a:sym typeface="Times New Roman" panose="02020603050405020304"/>
                  <a:rtl val="0"/>
                </a:rPr>
                <a:t>M</a:t>
              </a:r>
              <a:endParaRPr lang="en-US" altLang="zh-CN" sz="800" i="1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endParaRPr>
            </a:p>
          </p:txBody>
        </p:sp>
        <p:sp>
          <p:nvSpPr>
            <p:cNvPr id="598" name="圆角矩形 597"/>
            <p:cNvSpPr/>
            <p:nvPr/>
          </p:nvSpPr>
          <p:spPr>
            <a:xfrm>
              <a:off x="8615969" y="5662500"/>
              <a:ext cx="996547" cy="607167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896" cap="flat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sz="1000" dirty="0"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</a:endParaRPr>
            </a:p>
          </p:txBody>
        </p:sp>
        <p:sp>
          <p:nvSpPr>
            <p:cNvPr id="600" name="文本框 599"/>
            <p:cNvSpPr txBox="1"/>
            <p:nvPr/>
          </p:nvSpPr>
          <p:spPr>
            <a:xfrm>
              <a:off x="8957857" y="5854345"/>
              <a:ext cx="608051" cy="2219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" spc="0" baseline="0" dirty="0">
                  <a:solidFill>
                    <a:srgbClr val="D58336"/>
                  </a:solidFill>
                  <a:latin typeface="Times New Roman" panose="02020603050405020304" charset="0"/>
                  <a:ea typeface="方正书宋简体" panose="02010601030101010101" charset="-122"/>
                  <a:cs typeface="Times New Roman" panose="02020603050405020304"/>
                  <a:sym typeface="Times New Roman" panose="02020603050405020304"/>
                  <a:rtl val="0"/>
                </a:rPr>
                <a:t>多数投票</a:t>
              </a:r>
              <a:endParaRPr lang="zh-CN" altLang="en-US" sz="800" spc="0" baseline="0" dirty="0">
                <a:solidFill>
                  <a:srgbClr val="D58336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/>
                <a:sym typeface="Times New Roman" panose="02020603050405020304"/>
                <a:rtl val="0"/>
              </a:endParaRPr>
            </a:p>
          </p:txBody>
        </p:sp>
      </p:grpSp>
      <p:pic>
        <p:nvPicPr>
          <p:cNvPr id="57" name="图形 5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9759" y="5269075"/>
            <a:ext cx="127341" cy="127341"/>
          </a:xfrm>
          <a:prstGeom prst="rect">
            <a:avLst/>
          </a:prstGeom>
        </p:spPr>
      </p:pic>
      <p:pic>
        <p:nvPicPr>
          <p:cNvPr id="85" name="图形 84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50401" y="4808988"/>
            <a:ext cx="183672" cy="183672"/>
          </a:xfrm>
          <a:prstGeom prst="rect">
            <a:avLst/>
          </a:prstGeom>
        </p:spPr>
      </p:pic>
      <p:pic>
        <p:nvPicPr>
          <p:cNvPr id="87" name="图形 86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1516" y="4071541"/>
            <a:ext cx="174261" cy="174261"/>
          </a:xfrm>
          <a:prstGeom prst="rect">
            <a:avLst/>
          </a:prstGeom>
        </p:spPr>
      </p:pic>
      <p:pic>
        <p:nvPicPr>
          <p:cNvPr id="88" name="图形 87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53650" y="4415958"/>
            <a:ext cx="174261" cy="174261"/>
          </a:xfrm>
          <a:prstGeom prst="rect">
            <a:avLst/>
          </a:prstGeom>
        </p:spPr>
      </p:pic>
      <p:cxnSp>
        <p:nvCxnSpPr>
          <p:cNvPr id="104" name="肘形连接符 103"/>
          <p:cNvCxnSpPr/>
          <p:nvPr/>
        </p:nvCxnSpPr>
        <p:spPr>
          <a:xfrm rot="16200000" flipH="1">
            <a:off x="7447824" y="3076363"/>
            <a:ext cx="756830" cy="141637"/>
          </a:xfrm>
          <a:prstGeom prst="bentConnector3">
            <a:avLst/>
          </a:prstGeom>
          <a:ln w="12700" cap="rnd">
            <a:solidFill>
              <a:srgbClr val="7A4D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文本框 577"/>
          <p:cNvSpPr txBox="1"/>
          <p:nvPr/>
        </p:nvSpPr>
        <p:spPr>
          <a:xfrm>
            <a:off x="9485964" y="2562984"/>
            <a:ext cx="876300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00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B</a:t>
            </a:r>
            <a:r>
              <a:rPr lang="zh-CN" altLang="en-US" sz="100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</a:t>
            </a:r>
            <a:r>
              <a:rPr lang="en-US" altLang="zh-CN" sz="100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= </a:t>
            </a:r>
            <a:r>
              <a:rPr lang="zh-CN" altLang="en-US" sz="10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π</a:t>
            </a:r>
            <a:r>
              <a:rPr lang="en-US" altLang="zh-CN" sz="10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(x</a:t>
            </a:r>
            <a:r>
              <a:rPr lang="zh-CN" altLang="en-US" sz="10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，</a:t>
            </a:r>
            <a:r>
              <a:rPr lang="en-US" altLang="zh-CN" sz="1000" spc="0" baseline="0" dirty="0">
                <a:solidFill>
                  <a:srgbClr val="4E8D2F"/>
                </a:solidFill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P)</a:t>
            </a:r>
            <a:endParaRPr lang="en-US" altLang="zh-CN" sz="1000" spc="0" baseline="0" dirty="0">
              <a:solidFill>
                <a:srgbClr val="4E8D2F"/>
              </a:solidFill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635" name="图形 634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91898" y="4917377"/>
            <a:ext cx="381317" cy="381317"/>
          </a:xfrm>
          <a:prstGeom prst="rect">
            <a:avLst/>
          </a:prstGeom>
        </p:spPr>
      </p:pic>
      <p:pic>
        <p:nvPicPr>
          <p:cNvPr id="637" name="图形 636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589300" y="5564955"/>
            <a:ext cx="284942" cy="284942"/>
          </a:xfrm>
          <a:prstGeom prst="rect">
            <a:avLst/>
          </a:prstGeom>
        </p:spPr>
      </p:pic>
      <p:pic>
        <p:nvPicPr>
          <p:cNvPr id="638" name="图形 63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14040" y="5462978"/>
            <a:ext cx="217755" cy="217755"/>
          </a:xfrm>
          <a:prstGeom prst="rect">
            <a:avLst/>
          </a:prstGeom>
        </p:spPr>
      </p:pic>
      <p:pic>
        <p:nvPicPr>
          <p:cNvPr id="639" name="图形 638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87623" y="5168432"/>
            <a:ext cx="284942" cy="284942"/>
          </a:xfrm>
          <a:prstGeom prst="rect">
            <a:avLst/>
          </a:prstGeom>
        </p:spPr>
      </p:pic>
      <p:cxnSp>
        <p:nvCxnSpPr>
          <p:cNvPr id="328" name="肘形连接符 327"/>
          <p:cNvCxnSpPr>
            <a:stCxn id="242" idx="2"/>
            <a:endCxn id="595" idx="1"/>
          </p:cNvCxnSpPr>
          <p:nvPr/>
        </p:nvCxnSpPr>
        <p:spPr>
          <a:xfrm rot="5400000" flipV="1">
            <a:off x="6547803" y="5355273"/>
            <a:ext cx="44450" cy="680085"/>
          </a:xfrm>
          <a:prstGeom prst="bentConnector2">
            <a:avLst/>
          </a:prstGeom>
          <a:ln w="12700" cap="flat" cmpd="sng" algn="ctr">
            <a:solidFill>
              <a:srgbClr val="A4CF78"/>
            </a:solidFill>
            <a:prstDash val="dash"/>
            <a:round/>
            <a:headEnd type="none" w="med" len="med"/>
            <a:tailEnd type="stealth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7" name="图形 336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075655" y="4219837"/>
            <a:ext cx="284942" cy="284942"/>
          </a:xfrm>
          <a:prstGeom prst="rect">
            <a:avLst/>
          </a:prstGeom>
        </p:spPr>
      </p:pic>
      <p:pic>
        <p:nvPicPr>
          <p:cNvPr id="338" name="图形 337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608255" y="4325454"/>
            <a:ext cx="284942" cy="284942"/>
          </a:xfrm>
          <a:prstGeom prst="rect">
            <a:avLst/>
          </a:prstGeom>
        </p:spPr>
      </p:pic>
      <p:pic>
        <p:nvPicPr>
          <p:cNvPr id="340" name="图形 339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30251" y="1990459"/>
            <a:ext cx="330008" cy="301836"/>
          </a:xfrm>
          <a:prstGeom prst="rect">
            <a:avLst/>
          </a:prstGeom>
        </p:spPr>
      </p:pic>
      <p:pic>
        <p:nvPicPr>
          <p:cNvPr id="342" name="图形 341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585936" y="1978246"/>
            <a:ext cx="330008" cy="330008"/>
          </a:xfrm>
          <a:prstGeom prst="rect">
            <a:avLst/>
          </a:prstGeom>
        </p:spPr>
      </p:pic>
      <p:pic>
        <p:nvPicPr>
          <p:cNvPr id="343" name="图形 342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930124" y="5514139"/>
            <a:ext cx="330008" cy="330008"/>
          </a:xfrm>
          <a:prstGeom prst="rect">
            <a:avLst/>
          </a:prstGeom>
        </p:spPr>
      </p:pic>
      <p:pic>
        <p:nvPicPr>
          <p:cNvPr id="344" name="图形 34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8583" y="4831307"/>
            <a:ext cx="208671" cy="189701"/>
          </a:xfrm>
          <a:prstGeom prst="rect">
            <a:avLst/>
          </a:prstGeom>
        </p:spPr>
      </p:pic>
      <p:cxnSp>
        <p:nvCxnSpPr>
          <p:cNvPr id="2" name="肘形连接符 1"/>
          <p:cNvCxnSpPr>
            <a:stCxn id="148" idx="1"/>
            <a:endCxn id="155" idx="0"/>
          </p:cNvCxnSpPr>
          <p:nvPr/>
        </p:nvCxnSpPr>
        <p:spPr>
          <a:xfrm rot="10800000" flipV="1">
            <a:off x="2008505" y="3094355"/>
            <a:ext cx="454660" cy="431800"/>
          </a:xfrm>
          <a:prstGeom prst="bentConnector2">
            <a:avLst/>
          </a:prstGeom>
          <a:ln w="12700" cap="rnd">
            <a:solidFill>
              <a:srgbClr val="7A4D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25504" y="3227466"/>
            <a:ext cx="10740988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baseline="0" dirty="0">
                <a:solidFill>
                  <a:srgbClr val="1E8E3E"/>
                </a:solidFill>
                <a:uFillTx/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阶段 II. 在线</a:t>
            </a:r>
            <a:r>
              <a:rPr lang="en-US" altLang="zh-CN" sz="1200" b="1" baseline="0" dirty="0">
                <a:solidFill>
                  <a:srgbClr val="1E8E3E"/>
                </a:solidFill>
                <a:uFillTx/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 SQL </a:t>
            </a:r>
            <a:r>
              <a:rPr lang="zh-CN" altLang="en-US" sz="1200" b="1" dirty="0">
                <a:solidFill>
                  <a:srgbClr val="1E8E3E"/>
                </a:solidFill>
                <a:uFillTx/>
                <a:latin typeface="Times New Roman" panose="02020603050405020304" charset="0"/>
                <a:ea typeface="方正书宋简体" panose="02010601030101010101" charset="-122"/>
                <a:cs typeface="Times New Roman" panose="02020603050405020304" charset="0"/>
                <a:sym typeface="Times New Roman" panose="02020603050405020304"/>
                <a:rtl val="0"/>
              </a:rPr>
              <a:t>等价性判定</a:t>
            </a:r>
            <a:endParaRPr lang="zh-CN" altLang="en-US" sz="1200" b="1" baseline="0" dirty="0">
              <a:solidFill>
                <a:srgbClr val="1E8E3E"/>
              </a:solidFill>
              <a:uFillTx/>
              <a:latin typeface="Times New Roman" panose="02020603050405020304" charset="0"/>
              <a:ea typeface="方正书宋简体" panose="02010601030101010101" charset="-122"/>
              <a:cs typeface="Times New Roman" panose="02020603050405020304" charset="0"/>
              <a:sym typeface="Times New Roman" panose="02020603050405020304"/>
              <a:rtl val="0"/>
            </a:endParaRPr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74512" y="5519730"/>
            <a:ext cx="381317" cy="381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5397</Words>
  <Application>WPS 文字</Application>
  <PresentationFormat>宽屏</PresentationFormat>
  <Paragraphs>828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Arial</vt:lpstr>
      <vt:lpstr>Georgia</vt:lpstr>
      <vt:lpstr>Times New Roman</vt:lpstr>
      <vt:lpstr>方正书宋简体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Georgia</vt:lpstr>
      <vt:lpstr>宋体-简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19714518331@163.com</dc:creator>
  <cp:lastModifiedBy>邢仕浩</cp:lastModifiedBy>
  <cp:revision>13</cp:revision>
  <dcterms:created xsi:type="dcterms:W3CDTF">2026-06-14T14:00:52Z</dcterms:created>
  <dcterms:modified xsi:type="dcterms:W3CDTF">2026-06-14T14:00:52Z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AA10AB064494F2CF708E296AEE0228AA_43</vt:lpwstr>
  </property>
  <property fmtid="{D5CDD505-2E9C-101B-9397-08002B2CF9AE}" pid="3" name="KSOProductBuildVer">
    <vt:lpwstr>2052-12.1.25867.25867</vt:lpwstr>
  </property>
</Properties>
</file>